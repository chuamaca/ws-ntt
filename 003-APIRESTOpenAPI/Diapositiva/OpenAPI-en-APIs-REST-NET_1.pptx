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 esta sesión presentaremos OpenAPI como un estándar para describir APIs REST de manera clara y reutilizable. Veremos por qué funciona como contrato entre equipos y cómo aplicarlo en proyectos ASP.NET Core mediante ejemplos progresivos.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OpenAPI es una especificación para describir APIs de manera clara y estándar. Define qué endpoints existen, cómo se usan, qué datos reciben y devuelven, y cómo se protegen. Su valor principal es reducir ambigüedades entre equipos y mejorar documentación, consumo y pruebas.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Aquí conviene aclarar una confusión común: OpenAPI y Swagger no son lo mismo. OpenAPI define el contrato de la API, mientras Swagger es el ecosistema de herramientas que ayuda a documentarla, visualizarla y probarla.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Esta diapositiva resume las partes clave de una especificación OpenAPI. Primero, presenta la información general del servicio. Luego organiza rutas y métodos HTTP. Después describe entradas como parámetros y requestBody. Finalmente documenta respuestas, códigos HTTP y modelos reutilizables.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Explique que un path representa el recurso base de la API y que los métodos HTTP describen la operación disponible. Aclare que path, query y header cumplen funciones distintas y organizan claramente la entrada de cada solicitud.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Esta diapositiva resume cómo OpenAPI documenta entradas y salidas. Primero se define el request body. Luego se detallan respuestas por código HTTP. Finalmente, components/schemas permite reutilizar DTOs para reducir duplicación y mantener consistencia documental.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Esta lámina muestra que OpenAPI en ASP.NET Core parte de la API ya implementada. Primero se habilita la publicación del documento, luego se agregan metadatos y finalmente se describen endpoints, parámetros, modelos y respuestas desde el propio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Esta diapositiva muestra el valor práctico de Swagger UI: no solo documenta, también permite explorar la API, revisar parámetros y probar endpoints con Try it out. Así conecta contrato, implementación y validación en una experiencia simple y directa.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Esta slide </a:t>
            </a:r>
            <a:r>
              <a:rPr dirty="0" err="1"/>
              <a:t>explica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OpenAPI</a:t>
            </a:r>
            <a:r>
              <a:rPr dirty="0"/>
              <a:t> no solo describe endpoints, también define </a:t>
            </a:r>
            <a:r>
              <a:rPr dirty="0" err="1"/>
              <a:t>seguridad</a:t>
            </a:r>
            <a:r>
              <a:rPr dirty="0"/>
              <a:t>. Con Bearer Token y JWT,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consumidores</a:t>
            </a:r>
            <a:r>
              <a:rPr dirty="0"/>
              <a:t> </a:t>
            </a:r>
            <a:r>
              <a:rPr dirty="0" err="1"/>
              <a:t>entienden</a:t>
            </a:r>
            <a:r>
              <a:rPr dirty="0"/>
              <a:t> </a:t>
            </a:r>
            <a:r>
              <a:rPr dirty="0" err="1"/>
              <a:t>cómo</a:t>
            </a:r>
            <a:r>
              <a:rPr dirty="0"/>
              <a:t> </a:t>
            </a:r>
            <a:r>
              <a:rPr dirty="0" err="1"/>
              <a:t>autenticarse</a:t>
            </a:r>
            <a:r>
              <a:rPr dirty="0"/>
              <a:t>. </a:t>
            </a:r>
            <a:r>
              <a:rPr dirty="0" err="1"/>
              <a:t>Además</a:t>
            </a:r>
            <a:r>
              <a:rPr dirty="0"/>
              <a:t>, Swagger UI </a:t>
            </a:r>
            <a:r>
              <a:rPr dirty="0" err="1"/>
              <a:t>facilita</a:t>
            </a:r>
            <a:r>
              <a:rPr dirty="0"/>
              <a:t> </a:t>
            </a:r>
            <a:r>
              <a:rPr dirty="0" err="1"/>
              <a:t>pruebas</a:t>
            </a:r>
            <a:r>
              <a:rPr dirty="0"/>
              <a:t> con Authorize, </a:t>
            </a:r>
            <a:r>
              <a:rPr dirty="0" err="1"/>
              <a:t>pero</a:t>
            </a:r>
            <a:r>
              <a:rPr dirty="0"/>
              <a:t> la </a:t>
            </a:r>
            <a:r>
              <a:rPr dirty="0" err="1"/>
              <a:t>validación</a:t>
            </a:r>
            <a:r>
              <a:rPr dirty="0"/>
              <a:t> </a:t>
            </a:r>
            <a:r>
              <a:rPr dirty="0" err="1"/>
              <a:t>debe</a:t>
            </a:r>
            <a:r>
              <a:rPr dirty="0"/>
              <a:t> </a:t>
            </a:r>
            <a:r>
              <a:rPr dirty="0" err="1"/>
              <a:t>incluir</a:t>
            </a:r>
            <a:r>
              <a:rPr dirty="0"/>
              <a:t> </a:t>
            </a:r>
            <a:r>
              <a:rPr dirty="0" err="1"/>
              <a:t>permisos</a:t>
            </a:r>
            <a:r>
              <a:rPr dirty="0"/>
              <a:t>, </a:t>
            </a:r>
            <a:r>
              <a:rPr dirty="0" err="1"/>
              <a:t>expiración</a:t>
            </a:r>
            <a:r>
              <a:rPr dirty="0"/>
              <a:t> y </a:t>
            </a:r>
            <a:r>
              <a:rPr dirty="0" err="1"/>
              <a:t>uso</a:t>
            </a:r>
            <a:r>
              <a:rPr dirty="0"/>
              <a:t> </a:t>
            </a:r>
            <a:r>
              <a:rPr dirty="0" err="1"/>
              <a:t>seguro</a:t>
            </a:r>
            <a:r>
              <a:rPr dirty="0"/>
              <a:t> del token.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Esta </a:t>
            </a:r>
            <a:r>
              <a:rPr dirty="0" err="1"/>
              <a:t>lámina</a:t>
            </a:r>
            <a:r>
              <a:rPr dirty="0"/>
              <a:t> </a:t>
            </a:r>
            <a:r>
              <a:rPr dirty="0" err="1"/>
              <a:t>compara</a:t>
            </a:r>
            <a:r>
              <a:rPr dirty="0"/>
              <a:t> dos formas </a:t>
            </a:r>
            <a:r>
              <a:rPr dirty="0" err="1"/>
              <a:t>válidas</a:t>
            </a:r>
            <a:r>
              <a:rPr dirty="0"/>
              <a:t> de </a:t>
            </a:r>
            <a:r>
              <a:rPr dirty="0" err="1"/>
              <a:t>diseñar</a:t>
            </a:r>
            <a:r>
              <a:rPr dirty="0"/>
              <a:t> APIs. Code First </a:t>
            </a:r>
            <a:r>
              <a:rPr dirty="0" err="1"/>
              <a:t>parte</a:t>
            </a:r>
            <a:r>
              <a:rPr dirty="0"/>
              <a:t> del </a:t>
            </a:r>
            <a:r>
              <a:rPr dirty="0" err="1"/>
              <a:t>código</a:t>
            </a:r>
            <a:r>
              <a:rPr dirty="0"/>
              <a:t> y </a:t>
            </a:r>
            <a:r>
              <a:rPr dirty="0" err="1"/>
              <a:t>suele</a:t>
            </a:r>
            <a:r>
              <a:rPr dirty="0"/>
              <a:t> </a:t>
            </a:r>
            <a:r>
              <a:rPr dirty="0" err="1"/>
              <a:t>dar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velocidad</a:t>
            </a:r>
            <a:r>
              <a:rPr dirty="0"/>
              <a:t> </a:t>
            </a:r>
            <a:r>
              <a:rPr dirty="0" err="1"/>
              <a:t>inicial</a:t>
            </a:r>
            <a:r>
              <a:rPr dirty="0"/>
              <a:t>. Contract First </a:t>
            </a:r>
            <a:r>
              <a:rPr dirty="0" err="1"/>
              <a:t>comienza</a:t>
            </a:r>
            <a:r>
              <a:rPr dirty="0"/>
              <a:t> con la </a:t>
            </a:r>
            <a:r>
              <a:rPr dirty="0" err="1"/>
              <a:t>especificación</a:t>
            </a:r>
            <a:r>
              <a:rPr dirty="0"/>
              <a:t>, </a:t>
            </a:r>
            <a:r>
              <a:rPr dirty="0" err="1"/>
              <a:t>normalmente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OpenAPI</a:t>
            </a:r>
            <a:r>
              <a:rPr dirty="0"/>
              <a:t>, y </a:t>
            </a:r>
            <a:r>
              <a:rPr dirty="0" err="1"/>
              <a:t>mejora</a:t>
            </a:r>
            <a:r>
              <a:rPr dirty="0"/>
              <a:t> la </a:t>
            </a:r>
            <a:r>
              <a:rPr dirty="0" err="1"/>
              <a:t>alineación</a:t>
            </a:r>
            <a:r>
              <a:rPr dirty="0"/>
              <a:t> entre </a:t>
            </a:r>
            <a:r>
              <a:rPr dirty="0" err="1"/>
              <a:t>equipos</a:t>
            </a:r>
            <a:r>
              <a:rPr dirty="0"/>
              <a:t>. El punto clave es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OpenAPI</a:t>
            </a:r>
            <a:r>
              <a:rPr dirty="0"/>
              <a:t> </a:t>
            </a:r>
            <a:r>
              <a:rPr dirty="0" err="1"/>
              <a:t>funciona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contrato</a:t>
            </a:r>
            <a:r>
              <a:rPr dirty="0"/>
              <a:t> formal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integraciones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Esta lámina explica que OpenAPI no solo documenta APIs: también sirve como base para generar clientes automáticamente. La ventaja principal es reducir código manual, acelerar integraciones y mantener modelos consistentes entre equipos y entornos.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 esta lámina mostramos un ejercicio guiado de API CRUD. La idea es conectar diseño, documentación y prueba. Partimos de un recurso simple, definimos operaciones, documentamos respuestas y cerramos validando todo en Swagger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Para cerrar, destaquemos tres hábitos simples: documentar bien cada endpoint y sus códigos HTTP, mantener DTOs y nombres consistentes, y evitar exponer datos sensibles. Lo más importante es que el contrato OpenAPI refleje siempre la implementación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0100" y="2695575"/>
            <a:ext cx="7067550" cy="508248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none" lIns="0" tIns="0" rIns="0" bIns="0">
            <a:spAutoFit/>
          </a:bodyPr>
          <a:lstStyle/>
          <a:p>
            <a:pPr>
              <a:lnSpc>
                <a:spcPct val="73600"/>
              </a:lnSpc>
              <a:defRPr sz="4350" b="0" i="0">
                <a:solidFill>
                  <a:srgbClr val="E8E8E8"/>
                </a:solidFill>
                <a:latin typeface="Arial"/>
              </a:defRPr>
            </a:pPr>
            <a:r>
              <a:rPr sz="4350" b="0" i="0" dirty="0" err="1">
                <a:solidFill>
                  <a:srgbClr val="E8E8E8"/>
                </a:solidFill>
                <a:latin typeface="Arial"/>
              </a:rPr>
              <a:t>OpenAPI</a:t>
            </a:r>
            <a:r>
              <a:rPr sz="435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4350" b="0" i="0" dirty="0" err="1">
                <a:solidFill>
                  <a:srgbClr val="E8E8E8"/>
                </a:solidFill>
                <a:latin typeface="Arial"/>
              </a:rPr>
              <a:t>en</a:t>
            </a:r>
            <a:r>
              <a:rPr sz="4350" b="0" i="0" dirty="0">
                <a:solidFill>
                  <a:srgbClr val="E8E8E8"/>
                </a:solidFill>
                <a:latin typeface="Arial"/>
              </a:rPr>
              <a:t> APIs REST .NET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100" y="3375273"/>
            <a:ext cx="7067550" cy="497085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none" lIns="0" tIns="0" rIns="0" bIns="0">
            <a:spAutoFit/>
          </a:bodyPr>
          <a:lstStyle/>
          <a:p>
            <a:pPr>
              <a:lnSpc>
                <a:spcPct val="72000"/>
              </a:lnSpc>
              <a:defRPr sz="4350" b="0" i="0">
                <a:solidFill>
                  <a:srgbClr val="19A3FC"/>
                </a:solidFill>
                <a:latin typeface="Arial"/>
              </a:defRPr>
            </a:pPr>
            <a:r>
              <a:rPr sz="4350" b="0" i="0" dirty="0" err="1">
                <a:solidFill>
                  <a:srgbClr val="19A3FC"/>
                </a:solidFill>
                <a:latin typeface="Arial"/>
              </a:rPr>
              <a:t>estándar</a:t>
            </a:r>
            <a:r>
              <a:rPr sz="4350" b="0" i="0" dirty="0">
                <a:solidFill>
                  <a:srgbClr val="19A3FC"/>
                </a:solidFill>
                <a:latin typeface="Arial"/>
              </a:rPr>
              <a:t> y </a:t>
            </a:r>
            <a:r>
              <a:rPr sz="4350" b="0" i="0" dirty="0" err="1">
                <a:solidFill>
                  <a:srgbClr val="19A3FC"/>
                </a:solidFill>
                <a:latin typeface="Arial"/>
              </a:rPr>
              <a:t>práctica</a:t>
            </a:r>
            <a:endParaRPr sz="4350" b="0" i="0" dirty="0">
              <a:solidFill>
                <a:srgbClr val="19A3FC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00100" y="4424808"/>
            <a:ext cx="6591300" cy="462855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350" b="0" i="0">
                <a:solidFill>
                  <a:srgbClr val="E8E8E8"/>
                </a:solidFill>
                <a:latin typeface="Arial"/>
              </a:defRPr>
            </a:pPr>
            <a:r>
              <a:rPr sz="1350" b="0" i="0" dirty="0" err="1">
                <a:solidFill>
                  <a:srgbClr val="E8E8E8"/>
                </a:solidFill>
                <a:latin typeface="Arial"/>
              </a:rPr>
              <a:t>Qué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es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OpenAPI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,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su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valor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como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contrato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entre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equipos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y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cómo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aplicarlo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en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proyectos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ASP.NET Core.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2343150"/>
            <a:ext cx="7067550" cy="142875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1125" b="1" i="0" spc="450">
                <a:solidFill>
                  <a:srgbClr val="19A3FC"/>
                </a:solidFill>
                <a:latin typeface="Arial"/>
              </a:defRPr>
            </a:pPr>
            <a:r>
              <a:rPr sz="1125" b="1" i="0" dirty="0" err="1">
                <a:solidFill>
                  <a:srgbClr val="19A3FC"/>
                </a:solidFill>
                <a:latin typeface="Arial"/>
              </a:rPr>
              <a:t>Capacitación</a:t>
            </a:r>
            <a:r>
              <a:rPr sz="1125" b="1" i="0" dirty="0">
                <a:solidFill>
                  <a:srgbClr val="19A3FC"/>
                </a:solidFill>
                <a:latin typeface="Arial"/>
              </a:rPr>
              <a:t> - APIs REST .NET</a:t>
            </a:r>
          </a:p>
        </p:txBody>
      </p:sp>
      <p:pic>
        <p:nvPicPr>
          <p:cNvPr id="9" name="Picture 8" descr="f99253e8-c34d-4d7b-a1f1-a9bc519ab9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2892" y="2596134"/>
            <a:ext cx="1619250" cy="4449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3425" y="2208014"/>
            <a:ext cx="5238750" cy="1280684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66700" tIns="247650" rIns="266700" bIns="24765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267450" y="2208014"/>
            <a:ext cx="5238750" cy="1280684"/>
          </a:xfrm>
          <a:prstGeom prst="rect">
            <a:avLst/>
          </a:prstGeom>
          <a:solidFill>
            <a:srgbClr val="19A3FC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66700" tIns="247650" rIns="266700" bIns="24765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2000" y="1291733"/>
            <a:ext cx="10306050" cy="539353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94400"/>
              </a:lnSpc>
              <a:defRPr sz="1800" b="0" i="0">
                <a:solidFill>
                  <a:srgbClr val="E8E8E8"/>
                </a:solidFill>
                <a:latin typeface="Arial"/>
              </a:defRPr>
            </a:pPr>
            <a:r>
              <a:rPr sz="1800" b="0" i="0" dirty="0" err="1">
                <a:solidFill>
                  <a:srgbClr val="E8E8E8"/>
                </a:solidFill>
                <a:latin typeface="Arial"/>
              </a:rPr>
              <a:t>OpenAPI</a:t>
            </a:r>
            <a:r>
              <a:rPr sz="1800" b="0" i="0" dirty="0">
                <a:solidFill>
                  <a:srgbClr val="E8E8E8"/>
                </a:solidFill>
                <a:latin typeface="Arial"/>
              </a:rPr>
              <a:t> define, de forma legible para personas y </a:t>
            </a:r>
            <a:r>
              <a:rPr sz="1800" b="0" i="0" dirty="0" err="1">
                <a:solidFill>
                  <a:srgbClr val="E8E8E8"/>
                </a:solidFill>
                <a:latin typeface="Arial"/>
              </a:rPr>
              <a:t>herramientas</a:t>
            </a:r>
            <a:r>
              <a:rPr sz="1800" b="0" i="0" dirty="0">
                <a:solidFill>
                  <a:srgbClr val="E8E8E8"/>
                </a:solidFill>
                <a:latin typeface="Arial"/>
              </a:rPr>
              <a:t>, </a:t>
            </a:r>
            <a:r>
              <a:rPr sz="1800" b="0" i="0" dirty="0" err="1">
                <a:solidFill>
                  <a:srgbClr val="E8E8E8"/>
                </a:solidFill>
                <a:latin typeface="Arial"/>
              </a:rPr>
              <a:t>cómo</a:t>
            </a:r>
            <a:r>
              <a:rPr sz="180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E8E8E8"/>
                </a:solidFill>
                <a:latin typeface="Arial"/>
              </a:rPr>
              <a:t>funciona</a:t>
            </a:r>
            <a:r>
              <a:rPr sz="180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E8E8E8"/>
                </a:solidFill>
                <a:latin typeface="Arial"/>
              </a:rPr>
              <a:t>una</a:t>
            </a:r>
            <a:r>
              <a:rPr sz="1800" b="0" i="0" dirty="0">
                <a:solidFill>
                  <a:srgbClr val="E8E8E8"/>
                </a:solidFill>
                <a:latin typeface="Arial"/>
              </a:rPr>
              <a:t> API y reduce </a:t>
            </a:r>
            <a:r>
              <a:rPr sz="1800" b="0" i="0" dirty="0" err="1">
                <a:solidFill>
                  <a:srgbClr val="E8E8E8"/>
                </a:solidFill>
                <a:latin typeface="Arial"/>
              </a:rPr>
              <a:t>ambigüedades</a:t>
            </a:r>
            <a:r>
              <a:rPr sz="1800" b="0" i="0" dirty="0">
                <a:solidFill>
                  <a:srgbClr val="E8E8E8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" y="2897089"/>
            <a:ext cx="4545955" cy="341858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100800"/>
              </a:lnSpc>
              <a:defRPr sz="1125" b="0" i="0">
                <a:solidFill>
                  <a:srgbClr val="2E404D"/>
                </a:solidFill>
                <a:latin typeface="Arial"/>
              </a:defRPr>
            </a:pPr>
            <a:r>
              <a:rPr sz="1125" b="0" i="0" dirty="0">
                <a:solidFill>
                  <a:srgbClr val="2E404D"/>
                </a:solidFill>
                <a:latin typeface="Arial"/>
              </a:rPr>
              <a:t>Documenta endpoints, </a:t>
            </a:r>
            <a:r>
              <a:rPr sz="1125" b="0" i="0" dirty="0" err="1">
                <a:solidFill>
                  <a:srgbClr val="2E404D"/>
                </a:solidFill>
                <a:latin typeface="Arial"/>
              </a:rPr>
              <a:t>operaciones</a:t>
            </a:r>
            <a:r>
              <a:rPr sz="1125" b="0" i="0" dirty="0">
                <a:solidFill>
                  <a:srgbClr val="2E404D"/>
                </a:solidFill>
                <a:latin typeface="Arial"/>
              </a:rPr>
              <a:t>, </a:t>
            </a:r>
            <a:r>
              <a:rPr sz="1125" b="0" i="0" dirty="0" err="1">
                <a:solidFill>
                  <a:srgbClr val="2E404D"/>
                </a:solidFill>
                <a:latin typeface="Arial"/>
              </a:rPr>
              <a:t>parámetros</a:t>
            </a:r>
            <a:r>
              <a:rPr sz="1125" b="0" i="0" dirty="0">
                <a:solidFill>
                  <a:srgbClr val="2E404D"/>
                </a:solidFill>
                <a:latin typeface="Arial"/>
              </a:rPr>
              <a:t>, </a:t>
            </a:r>
            <a:r>
              <a:rPr sz="1125" b="0" i="0" dirty="0" err="1">
                <a:solidFill>
                  <a:srgbClr val="2E404D"/>
                </a:solidFill>
                <a:latin typeface="Arial"/>
              </a:rPr>
              <a:t>cuerpos</a:t>
            </a:r>
            <a:r>
              <a:rPr sz="1125" b="0" i="0" dirty="0">
                <a:solidFill>
                  <a:srgbClr val="2E404D"/>
                </a:solidFill>
                <a:latin typeface="Arial"/>
              </a:rPr>
              <a:t>, </a:t>
            </a:r>
            <a:r>
              <a:rPr sz="1125" b="0" i="0" dirty="0" err="1">
                <a:solidFill>
                  <a:srgbClr val="2E404D"/>
                </a:solidFill>
                <a:latin typeface="Arial"/>
              </a:rPr>
              <a:t>respuestas</a:t>
            </a:r>
            <a:r>
              <a:rPr sz="1125" b="0" i="0" dirty="0">
                <a:solidFill>
                  <a:srgbClr val="2E404D"/>
                </a:solidFill>
                <a:latin typeface="Arial"/>
              </a:rPr>
              <a:t> y </a:t>
            </a:r>
            <a:r>
              <a:rPr sz="1125" b="0" i="0" dirty="0" err="1">
                <a:solidFill>
                  <a:srgbClr val="2E404D"/>
                </a:solidFill>
                <a:latin typeface="Arial"/>
              </a:rPr>
              <a:t>seguridad</a:t>
            </a:r>
            <a:r>
              <a:rPr sz="1125" b="0" i="0" dirty="0">
                <a:solidFill>
                  <a:srgbClr val="2E404D"/>
                </a:solidFill>
                <a:latin typeface="Arial"/>
              </a:rPr>
              <a:t> de forma </a:t>
            </a:r>
            <a:r>
              <a:rPr sz="1125" b="0" i="0" dirty="0" err="1">
                <a:solidFill>
                  <a:srgbClr val="2E404D"/>
                </a:solidFill>
                <a:latin typeface="Arial"/>
              </a:rPr>
              <a:t>consistente</a:t>
            </a:r>
            <a:r>
              <a:rPr sz="1125" b="0" i="0" dirty="0">
                <a:solidFill>
                  <a:srgbClr val="2E404D"/>
                </a:solidFill>
                <a:latin typeface="Arial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24625" y="2882421"/>
            <a:ext cx="4490591" cy="341858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100800"/>
              </a:lnSpc>
              <a:defRPr sz="1125" b="0" i="0">
                <a:solidFill>
                  <a:srgbClr val="FFFFFF"/>
                </a:solidFill>
                <a:latin typeface="Arial"/>
              </a:defRPr>
            </a:pPr>
            <a:r>
              <a:rPr sz="1125" b="0" i="0" dirty="0">
                <a:solidFill>
                  <a:srgbClr val="FFFFFF"/>
                </a:solidFill>
                <a:latin typeface="Arial"/>
              </a:rPr>
              <a:t>Alinea a </a:t>
            </a:r>
            <a:r>
              <a:rPr sz="1125" b="0" i="0" dirty="0" err="1">
                <a:solidFill>
                  <a:srgbClr val="FFFFFF"/>
                </a:solidFill>
                <a:latin typeface="Arial"/>
              </a:rPr>
              <a:t>quienes</a:t>
            </a:r>
            <a:r>
              <a:rPr sz="1125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25" b="0" i="0" dirty="0" err="1">
                <a:solidFill>
                  <a:srgbClr val="FFFFFF"/>
                </a:solidFill>
                <a:latin typeface="Arial"/>
              </a:rPr>
              <a:t>implementan</a:t>
            </a:r>
            <a:r>
              <a:rPr sz="1125" b="0" i="0" dirty="0">
                <a:solidFill>
                  <a:srgbClr val="FFFFFF"/>
                </a:solidFill>
                <a:latin typeface="Arial"/>
              </a:rPr>
              <a:t>, </a:t>
            </a:r>
            <a:r>
              <a:rPr sz="1125" b="0" i="0" dirty="0" err="1">
                <a:solidFill>
                  <a:srgbClr val="FFFFFF"/>
                </a:solidFill>
                <a:latin typeface="Arial"/>
              </a:rPr>
              <a:t>consumen</a:t>
            </a:r>
            <a:r>
              <a:rPr sz="1125" b="0" i="0" dirty="0">
                <a:solidFill>
                  <a:srgbClr val="FFFFFF"/>
                </a:solidFill>
                <a:latin typeface="Arial"/>
              </a:rPr>
              <a:t> y </a:t>
            </a:r>
            <a:r>
              <a:rPr sz="1125" b="0" i="0" dirty="0" err="1">
                <a:solidFill>
                  <a:srgbClr val="FFFFFF"/>
                </a:solidFill>
                <a:latin typeface="Arial"/>
              </a:rPr>
              <a:t>prueban</a:t>
            </a:r>
            <a:r>
              <a:rPr sz="1125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25" b="0" i="0" dirty="0" err="1">
                <a:solidFill>
                  <a:srgbClr val="FFFFFF"/>
                </a:solidFill>
                <a:latin typeface="Arial"/>
              </a:rPr>
              <a:t>servicios</a:t>
            </a:r>
            <a:r>
              <a:rPr sz="1125" b="0" i="0" dirty="0">
                <a:solidFill>
                  <a:srgbClr val="FFFFFF"/>
                </a:solidFill>
                <a:latin typeface="Arial"/>
              </a:rPr>
              <a:t> con </a:t>
            </a:r>
            <a:r>
              <a:rPr sz="1125" b="0" i="0" dirty="0" err="1">
                <a:solidFill>
                  <a:srgbClr val="FFFFFF"/>
                </a:solidFill>
                <a:latin typeface="Arial"/>
              </a:rPr>
              <a:t>una</a:t>
            </a:r>
            <a:r>
              <a:rPr sz="1125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25" b="0" i="0" dirty="0" err="1">
                <a:solidFill>
                  <a:srgbClr val="FFFFFF"/>
                </a:solidFill>
                <a:latin typeface="Arial"/>
              </a:rPr>
              <a:t>especificación</a:t>
            </a:r>
            <a:r>
              <a:rPr sz="1125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25" b="0" i="0" dirty="0" err="1">
                <a:solidFill>
                  <a:srgbClr val="FFFFFF"/>
                </a:solidFill>
                <a:latin typeface="Arial"/>
              </a:rPr>
              <a:t>común</a:t>
            </a:r>
            <a:r>
              <a:rPr sz="1125" b="0" i="0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61950"/>
            <a:ext cx="10687050" cy="13335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1050" b="1" i="0" spc="375">
                <a:solidFill>
                  <a:srgbClr val="19A3FC"/>
                </a:solidFill>
                <a:latin typeface="Arial"/>
              </a:defRPr>
            </a:pPr>
            <a:r>
              <a:rPr sz="1050" b="1" i="0">
                <a:solidFill>
                  <a:srgbClr val="19A3FC"/>
                </a:solidFill>
                <a:latin typeface="Arial"/>
              </a:rPr>
              <a:t>01 - Fundamentos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" y="2512814"/>
            <a:ext cx="4724400" cy="287982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6400"/>
              </a:lnSpc>
              <a:defRPr sz="2100" b="1" i="0">
                <a:solidFill>
                  <a:srgbClr val="070F26"/>
                </a:solidFill>
                <a:latin typeface="Georgia"/>
              </a:defRPr>
            </a:pPr>
            <a:r>
              <a:rPr sz="2100" b="1" i="0" dirty="0" err="1">
                <a:solidFill>
                  <a:srgbClr val="070F26"/>
                </a:solidFill>
                <a:latin typeface="Georgia"/>
              </a:rPr>
              <a:t>Contrato</a:t>
            </a:r>
            <a:r>
              <a:rPr sz="2100" b="1" i="0" dirty="0">
                <a:solidFill>
                  <a:srgbClr val="070F26"/>
                </a:solidFill>
                <a:latin typeface="Georgia"/>
              </a:rPr>
              <a:t> de la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2559369"/>
            <a:ext cx="4724400" cy="287982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6400"/>
              </a:lnSpc>
              <a:defRPr sz="2100" b="1" i="0">
                <a:solidFill>
                  <a:srgbClr val="FFFFFF"/>
                </a:solidFill>
                <a:latin typeface="Georgia"/>
              </a:defRPr>
            </a:pPr>
            <a:r>
              <a:rPr sz="2100" b="1" i="0" dirty="0">
                <a:solidFill>
                  <a:srgbClr val="FFFFFF"/>
                </a:solidFill>
                <a:latin typeface="Georgia"/>
              </a:rPr>
              <a:t>Menos </a:t>
            </a:r>
            <a:r>
              <a:rPr sz="2100" b="1" i="0" dirty="0" err="1">
                <a:solidFill>
                  <a:srgbClr val="FFFFFF"/>
                </a:solidFill>
                <a:latin typeface="Georgia"/>
              </a:rPr>
              <a:t>ambigüedad</a:t>
            </a:r>
            <a:endParaRPr sz="2100" b="1" i="0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2000" y="638175"/>
            <a:ext cx="1275903" cy="504825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none" lIns="0" tIns="0" rIns="0" bIns="0">
            <a:spAutoFit/>
          </a:bodyPr>
          <a:lstStyle/>
          <a:p>
            <a:pPr>
              <a:lnSpc>
                <a:spcPct val="81600"/>
              </a:lnSpc>
              <a:defRPr sz="3600" b="0" i="0">
                <a:solidFill>
                  <a:srgbClr val="E8E8E8"/>
                </a:solidFill>
                <a:latin typeface="Georgia"/>
              </a:defRPr>
            </a:pPr>
            <a:r>
              <a:rPr sz="3600" b="0" i="0">
                <a:solidFill>
                  <a:srgbClr val="E8E8E8"/>
                </a:solidFill>
                <a:latin typeface="Georgia"/>
              </a:rPr>
              <a:t>Qué 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" y="2341364"/>
            <a:ext cx="4724400" cy="1143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900" b="1" i="0" spc="225">
                <a:solidFill>
                  <a:srgbClr val="2E404D"/>
                </a:solidFill>
                <a:latin typeface="Arial"/>
              </a:defRPr>
            </a:pPr>
            <a:r>
              <a:rPr sz="900" b="1" i="0" dirty="0">
                <a:solidFill>
                  <a:srgbClr val="2E404D"/>
                </a:solidFill>
                <a:latin typeface="Arial"/>
              </a:rPr>
              <a:t>Describe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2396364"/>
            <a:ext cx="4724400" cy="1143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900" b="1" i="0" spc="225">
                <a:solidFill>
                  <a:srgbClr val="74CFFF"/>
                </a:solidFill>
                <a:latin typeface="Arial"/>
              </a:defRPr>
            </a:pPr>
            <a:r>
              <a:rPr sz="900" b="1" i="0" dirty="0" err="1">
                <a:solidFill>
                  <a:srgbClr val="74CFFF"/>
                </a:solidFill>
                <a:latin typeface="Arial"/>
              </a:rPr>
              <a:t>Resuelve</a:t>
            </a:r>
            <a:endParaRPr sz="900" b="1" i="0" dirty="0">
              <a:solidFill>
                <a:srgbClr val="74CFFF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33153" y="638175"/>
            <a:ext cx="222051" cy="504825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none" lIns="0" tIns="0" rIns="0" bIns="0">
            <a:spAutoFit/>
          </a:bodyPr>
          <a:lstStyle/>
          <a:p>
            <a:pPr>
              <a:lnSpc>
                <a:spcPct val="81600"/>
              </a:lnSpc>
              <a:defRPr sz="3600" b="0" i="0">
                <a:solidFill>
                  <a:srgbClr val="E8E8E8"/>
                </a:solidFill>
                <a:latin typeface="Georgia"/>
              </a:defRPr>
            </a:pPr>
            <a:r>
              <a:rPr sz="3600" b="0" i="0" dirty="0">
                <a:solidFill>
                  <a:srgbClr val="E8E8E8"/>
                </a:solidFill>
                <a:latin typeface="Georgia"/>
              </a:rPr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64150" y="6515100"/>
            <a:ext cx="82748" cy="1905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none" lIns="0" tIns="0" rIns="0" bIns="0">
            <a:spAutoFit/>
          </a:bodyPr>
          <a:lstStyle/>
          <a:p>
            <a:pPr>
              <a:lnSpc>
                <a:spcPct val="133333"/>
              </a:lnSpc>
              <a:defRPr sz="900" b="0" i="0">
                <a:solidFill>
                  <a:srgbClr val="E8E8E8"/>
                </a:solidFill>
                <a:latin typeface="Arial"/>
              </a:defRPr>
            </a:pPr>
            <a:r>
              <a:rPr sz="900" b="0" i="0">
                <a:solidFill>
                  <a:srgbClr val="E8E8E8"/>
                </a:solidFill>
                <a:latin typeface="Arial"/>
              </a:rPr>
              <a:t>2</a:t>
            </a: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30FCB03F-FF5E-1796-B64D-20A588E0D70A}"/>
              </a:ext>
            </a:extLst>
          </p:cNvPr>
          <p:cNvSpPr/>
          <p:nvPr/>
        </p:nvSpPr>
        <p:spPr>
          <a:xfrm>
            <a:off x="7931050" y="4401175"/>
            <a:ext cx="3517999" cy="1396444"/>
          </a:xfrm>
          <a:prstGeom prst="rect">
            <a:avLst/>
          </a:prstGeom>
          <a:solidFill>
            <a:srgbClr val="070F26"/>
          </a:solidFill>
          <a:ln w="9525">
            <a:solidFill>
              <a:srgbClr val="14213D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47650" tIns="266700" rIns="247650" bIns="247650" rtlCol="0" anchor="ctr"/>
          <a:lstStyle/>
          <a:p>
            <a:pPr algn="ctr"/>
            <a:endParaRPr/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01B1A127-DDAF-511E-D415-7F21B55934C9}"/>
              </a:ext>
            </a:extLst>
          </p:cNvPr>
          <p:cNvSpPr/>
          <p:nvPr/>
        </p:nvSpPr>
        <p:spPr>
          <a:xfrm>
            <a:off x="514350" y="4401175"/>
            <a:ext cx="3517850" cy="1396444"/>
          </a:xfrm>
          <a:prstGeom prst="rect">
            <a:avLst/>
          </a:prstGeom>
          <a:solidFill>
            <a:srgbClr val="070F26"/>
          </a:solidFill>
          <a:ln w="9525">
            <a:solidFill>
              <a:srgbClr val="2A3D63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47650" tIns="266700" rIns="247650" bIns="247650" rtlCol="0" anchor="ctr"/>
          <a:lstStyle/>
          <a:p>
            <a:pPr algn="ctr"/>
            <a:endParaRPr/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DF1EC575-B90F-583F-C26A-14F257DAF449}"/>
              </a:ext>
            </a:extLst>
          </p:cNvPr>
          <p:cNvSpPr/>
          <p:nvPr/>
        </p:nvSpPr>
        <p:spPr>
          <a:xfrm>
            <a:off x="4222700" y="4401175"/>
            <a:ext cx="3517850" cy="1396444"/>
          </a:xfrm>
          <a:prstGeom prst="rect">
            <a:avLst/>
          </a:prstGeom>
          <a:solidFill>
            <a:srgbClr val="070F26"/>
          </a:solidFill>
          <a:ln w="9525">
            <a:solidFill>
              <a:srgbClr val="2A3D63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47650" tIns="266700" rIns="247650" bIns="247650" rtlCol="0" anchor="ctr"/>
          <a:lstStyle/>
          <a:p>
            <a:pPr algn="ctr"/>
            <a:endParaRPr/>
          </a:p>
        </p:txBody>
      </p:sp>
      <p:sp>
        <p:nvSpPr>
          <p:cNvPr id="22" name="TextBox 5">
            <a:extLst>
              <a:ext uri="{FF2B5EF4-FFF2-40B4-BE49-F238E27FC236}">
                <a16:creationId xmlns:a16="http://schemas.microsoft.com/office/drawing/2014/main" id="{C955E9D8-64AF-8AFF-6542-6E8353F20A6E}"/>
              </a:ext>
            </a:extLst>
          </p:cNvPr>
          <p:cNvSpPr txBox="1"/>
          <p:nvPr/>
        </p:nvSpPr>
        <p:spPr>
          <a:xfrm>
            <a:off x="8078497" y="4971964"/>
            <a:ext cx="3022699" cy="543817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9600"/>
              </a:lnSpc>
              <a:defRPr sz="1275" b="1" i="0">
                <a:solidFill>
                  <a:srgbClr val="FFFFFF"/>
                </a:solidFill>
                <a:latin typeface="Arial"/>
              </a:defRPr>
            </a:pPr>
            <a:r>
              <a:rPr sz="1275" b="1" i="0" dirty="0" err="1">
                <a:solidFill>
                  <a:srgbClr val="FFFFFF"/>
                </a:solidFill>
                <a:latin typeface="Arial"/>
              </a:rPr>
              <a:t>habilita</a:t>
            </a:r>
            <a:r>
              <a:rPr sz="1275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75" b="1" i="0" dirty="0" err="1">
                <a:solidFill>
                  <a:srgbClr val="FFFFFF"/>
                </a:solidFill>
                <a:latin typeface="Arial"/>
              </a:rPr>
              <a:t>automatización</a:t>
            </a:r>
            <a:r>
              <a:rPr sz="1275" b="1" i="0" dirty="0">
                <a:solidFill>
                  <a:srgbClr val="FFFFFF"/>
                </a:solidFill>
                <a:latin typeface="Arial"/>
              </a:rPr>
              <a:t> y </a:t>
            </a:r>
            <a:r>
              <a:rPr sz="1275" b="1" i="0" dirty="0" err="1">
                <a:solidFill>
                  <a:srgbClr val="FFFFFF"/>
                </a:solidFill>
                <a:latin typeface="Arial"/>
              </a:rPr>
              <a:t>evita</a:t>
            </a:r>
            <a:r>
              <a:rPr sz="1275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75" b="1" i="0" dirty="0" err="1">
                <a:solidFill>
                  <a:srgbClr val="FFFFFF"/>
                </a:solidFill>
                <a:latin typeface="Arial"/>
              </a:rPr>
              <a:t>depender</a:t>
            </a:r>
            <a:r>
              <a:rPr sz="1275" b="1" i="0" dirty="0">
                <a:solidFill>
                  <a:srgbClr val="FFFFFF"/>
                </a:solidFill>
                <a:latin typeface="Arial"/>
              </a:rPr>
              <a:t> solo del </a:t>
            </a:r>
            <a:r>
              <a:rPr sz="1275" b="1" i="0" dirty="0" err="1">
                <a:solidFill>
                  <a:srgbClr val="FFFFFF"/>
                </a:solidFill>
                <a:latin typeface="Arial"/>
              </a:rPr>
              <a:t>código</a:t>
            </a:r>
            <a:r>
              <a:rPr sz="1275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75" b="1" i="0" dirty="0" err="1">
                <a:solidFill>
                  <a:srgbClr val="FFFFFF"/>
                </a:solidFill>
                <a:latin typeface="Arial"/>
              </a:rPr>
              <a:t>fuente</a:t>
            </a:r>
            <a:r>
              <a:rPr sz="1275" b="1" i="0" dirty="0">
                <a:solidFill>
                  <a:srgbClr val="FFFFFF"/>
                </a:solidFill>
                <a:latin typeface="Arial"/>
              </a:rPr>
              <a:t> para </a:t>
            </a:r>
            <a:r>
              <a:rPr sz="1275" b="1" i="0" dirty="0" err="1">
                <a:solidFill>
                  <a:srgbClr val="FFFFFF"/>
                </a:solidFill>
                <a:latin typeface="Arial"/>
              </a:rPr>
              <a:t>entender</a:t>
            </a:r>
            <a:r>
              <a:rPr sz="1275" b="1" i="0" dirty="0">
                <a:solidFill>
                  <a:srgbClr val="FFFFFF"/>
                </a:solidFill>
                <a:latin typeface="Arial"/>
              </a:rPr>
              <a:t> la API.</a:t>
            </a:r>
          </a:p>
        </p:txBody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id="{788B6F07-F0C5-55B9-AB1A-15EB3E807456}"/>
              </a:ext>
            </a:extLst>
          </p:cNvPr>
          <p:cNvSpPr txBox="1"/>
          <p:nvPr/>
        </p:nvSpPr>
        <p:spPr>
          <a:xfrm>
            <a:off x="752475" y="5024163"/>
            <a:ext cx="3022550" cy="543817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9600"/>
              </a:lnSpc>
              <a:defRPr sz="1275" b="1" i="0">
                <a:solidFill>
                  <a:srgbClr val="E8E8E8"/>
                </a:solidFill>
                <a:latin typeface="Arial"/>
              </a:defRPr>
            </a:pPr>
            <a:r>
              <a:rPr lang="en-US" sz="1275" b="1" i="0" dirty="0" err="1">
                <a:solidFill>
                  <a:srgbClr val="E8E8E8"/>
                </a:solidFill>
                <a:latin typeface="Arial"/>
              </a:rPr>
              <a:t>M</a:t>
            </a:r>
            <a:r>
              <a:rPr sz="1275" b="1" i="0" dirty="0" err="1">
                <a:solidFill>
                  <a:srgbClr val="E8E8E8"/>
                </a:solidFill>
                <a:latin typeface="Arial"/>
              </a:rPr>
              <a:t>ejora</a:t>
            </a:r>
            <a:r>
              <a:rPr sz="1275" b="1" i="0" dirty="0">
                <a:solidFill>
                  <a:srgbClr val="E8E8E8"/>
                </a:solidFill>
                <a:latin typeface="Arial"/>
              </a:rPr>
              <a:t> la </a:t>
            </a:r>
            <a:r>
              <a:rPr sz="1275" b="1" i="0" dirty="0" err="1">
                <a:solidFill>
                  <a:srgbClr val="E8E8E8"/>
                </a:solidFill>
                <a:latin typeface="Arial"/>
              </a:rPr>
              <a:t>alineación</a:t>
            </a:r>
            <a:r>
              <a:rPr sz="1275" b="1" i="0" dirty="0">
                <a:solidFill>
                  <a:srgbClr val="E8E8E8"/>
                </a:solidFill>
                <a:latin typeface="Arial"/>
              </a:rPr>
              <a:t> entre </a:t>
            </a:r>
            <a:r>
              <a:rPr sz="1275" b="1" i="0" dirty="0" err="1">
                <a:solidFill>
                  <a:srgbClr val="E8E8E8"/>
                </a:solidFill>
                <a:latin typeface="Arial"/>
              </a:rPr>
              <a:t>proveedores</a:t>
            </a:r>
            <a:r>
              <a:rPr sz="1275" b="1" i="0" dirty="0">
                <a:solidFill>
                  <a:srgbClr val="E8E8E8"/>
                </a:solidFill>
                <a:latin typeface="Arial"/>
              </a:rPr>
              <a:t> y </a:t>
            </a:r>
            <a:r>
              <a:rPr sz="1275" b="1" i="0" dirty="0" err="1">
                <a:solidFill>
                  <a:srgbClr val="E8E8E8"/>
                </a:solidFill>
                <a:latin typeface="Arial"/>
              </a:rPr>
              <a:t>consumidores</a:t>
            </a:r>
            <a:r>
              <a:rPr sz="1275" b="1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1275" b="1" i="0" dirty="0" err="1">
                <a:solidFill>
                  <a:srgbClr val="E8E8E8"/>
                </a:solidFill>
                <a:latin typeface="Arial"/>
              </a:rPr>
              <a:t>sobre</a:t>
            </a:r>
            <a:r>
              <a:rPr sz="1275" b="1" i="0" dirty="0">
                <a:solidFill>
                  <a:srgbClr val="E8E8E8"/>
                </a:solidFill>
                <a:latin typeface="Arial"/>
              </a:rPr>
              <a:t> el </a:t>
            </a:r>
            <a:r>
              <a:rPr sz="1275" b="1" i="0" dirty="0" err="1">
                <a:solidFill>
                  <a:srgbClr val="E8E8E8"/>
                </a:solidFill>
                <a:latin typeface="Arial"/>
              </a:rPr>
              <a:t>comportamiento</a:t>
            </a:r>
            <a:r>
              <a:rPr sz="1275" b="1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1275" b="1" i="0" dirty="0" err="1">
                <a:solidFill>
                  <a:srgbClr val="E8E8E8"/>
                </a:solidFill>
                <a:latin typeface="Arial"/>
              </a:rPr>
              <a:t>esperado</a:t>
            </a:r>
            <a:r>
              <a:rPr sz="1275" b="1" i="0" dirty="0">
                <a:solidFill>
                  <a:srgbClr val="E8E8E8"/>
                </a:solidFill>
                <a:latin typeface="Arial"/>
              </a:rPr>
              <a:t> de la API.</a:t>
            </a:r>
          </a:p>
        </p:txBody>
      </p:sp>
      <p:sp>
        <p:nvSpPr>
          <p:cNvPr id="26" name="TextBox 7">
            <a:extLst>
              <a:ext uri="{FF2B5EF4-FFF2-40B4-BE49-F238E27FC236}">
                <a16:creationId xmlns:a16="http://schemas.microsoft.com/office/drawing/2014/main" id="{6AA1BEC5-5BE7-9CF8-0CFE-0B267805822A}"/>
              </a:ext>
            </a:extLst>
          </p:cNvPr>
          <p:cNvSpPr txBox="1"/>
          <p:nvPr/>
        </p:nvSpPr>
        <p:spPr>
          <a:xfrm>
            <a:off x="4460825" y="5024164"/>
            <a:ext cx="3022550" cy="543817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9600"/>
              </a:lnSpc>
              <a:defRPr sz="1275" b="1" i="0">
                <a:solidFill>
                  <a:srgbClr val="E8E8E8"/>
                </a:solidFill>
                <a:latin typeface="Arial"/>
              </a:defRPr>
            </a:pPr>
            <a:r>
              <a:rPr sz="1275" b="1" i="0" dirty="0" err="1">
                <a:solidFill>
                  <a:srgbClr val="E8E8E8"/>
                </a:solidFill>
                <a:latin typeface="Arial"/>
              </a:rPr>
              <a:t>facilita</a:t>
            </a:r>
            <a:r>
              <a:rPr sz="1275" b="1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1275" b="1" i="0" dirty="0" err="1">
                <a:solidFill>
                  <a:srgbClr val="E8E8E8"/>
                </a:solidFill>
                <a:latin typeface="Arial"/>
              </a:rPr>
              <a:t>pruebas</a:t>
            </a:r>
            <a:r>
              <a:rPr sz="1275" b="1" i="0" dirty="0">
                <a:solidFill>
                  <a:srgbClr val="E8E8E8"/>
                </a:solidFill>
                <a:latin typeface="Arial"/>
              </a:rPr>
              <a:t>, </a:t>
            </a:r>
            <a:r>
              <a:rPr sz="1275" b="1" i="0" dirty="0" err="1">
                <a:solidFill>
                  <a:srgbClr val="E8E8E8"/>
                </a:solidFill>
                <a:latin typeface="Arial"/>
              </a:rPr>
              <a:t>acelera</a:t>
            </a:r>
            <a:r>
              <a:rPr sz="1275" b="1" i="0" dirty="0">
                <a:solidFill>
                  <a:srgbClr val="E8E8E8"/>
                </a:solidFill>
                <a:latin typeface="Arial"/>
              </a:rPr>
              <a:t> el onboarding </a:t>
            </a:r>
            <a:r>
              <a:rPr sz="1275" b="1" i="0" dirty="0" err="1">
                <a:solidFill>
                  <a:srgbClr val="E8E8E8"/>
                </a:solidFill>
                <a:latin typeface="Arial"/>
              </a:rPr>
              <a:t>técnico</a:t>
            </a:r>
            <a:r>
              <a:rPr sz="1275" b="1" i="0" dirty="0">
                <a:solidFill>
                  <a:srgbClr val="E8E8E8"/>
                </a:solidFill>
                <a:latin typeface="Arial"/>
              </a:rPr>
              <a:t> y reduce </a:t>
            </a:r>
            <a:r>
              <a:rPr sz="1275" b="1" i="0" dirty="0" err="1">
                <a:solidFill>
                  <a:srgbClr val="E8E8E8"/>
                </a:solidFill>
                <a:latin typeface="Arial"/>
              </a:rPr>
              <a:t>fricción</a:t>
            </a:r>
            <a:r>
              <a:rPr sz="1275" b="1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1275" b="1" i="0" dirty="0" err="1">
                <a:solidFill>
                  <a:srgbClr val="E8E8E8"/>
                </a:solidFill>
                <a:latin typeface="Arial"/>
              </a:rPr>
              <a:t>en</a:t>
            </a:r>
            <a:r>
              <a:rPr sz="1275" b="1" i="0" dirty="0">
                <a:solidFill>
                  <a:srgbClr val="E8E8E8"/>
                </a:solidFill>
                <a:latin typeface="Arial"/>
              </a:rPr>
              <a:t> la </a:t>
            </a:r>
            <a:r>
              <a:rPr sz="1275" b="1" i="0" dirty="0" err="1">
                <a:solidFill>
                  <a:srgbClr val="E8E8E8"/>
                </a:solidFill>
                <a:latin typeface="Arial"/>
              </a:rPr>
              <a:t>integración</a:t>
            </a:r>
            <a:r>
              <a:rPr sz="1275" b="1" i="0" dirty="0">
                <a:solidFill>
                  <a:srgbClr val="E8E8E8"/>
                </a:solidFill>
                <a:latin typeface="Arial"/>
              </a:rPr>
              <a:t>.</a:t>
            </a:r>
          </a:p>
        </p:txBody>
      </p:sp>
      <p:sp>
        <p:nvSpPr>
          <p:cNvPr id="28" name="TextBox 9">
            <a:extLst>
              <a:ext uri="{FF2B5EF4-FFF2-40B4-BE49-F238E27FC236}">
                <a16:creationId xmlns:a16="http://schemas.microsoft.com/office/drawing/2014/main" id="{9A22E593-7EB0-7681-DB39-3B8E3D22C138}"/>
              </a:ext>
            </a:extLst>
          </p:cNvPr>
          <p:cNvSpPr txBox="1"/>
          <p:nvPr/>
        </p:nvSpPr>
        <p:spPr>
          <a:xfrm>
            <a:off x="8188225" y="4677400"/>
            <a:ext cx="3022699" cy="1143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900" b="1" i="0" spc="225">
                <a:solidFill>
                  <a:srgbClr val="20A8FF"/>
                </a:solidFill>
                <a:latin typeface="Arial"/>
              </a:defRPr>
            </a:pPr>
            <a:r>
              <a:rPr sz="900" b="1" i="0">
                <a:solidFill>
                  <a:srgbClr val="20A8FF"/>
                </a:solidFill>
                <a:latin typeface="Arial"/>
              </a:rPr>
              <a:t>Mantenimiento escalable</a:t>
            </a: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A751E659-1B07-432C-7742-72D1187CFBE0}"/>
              </a:ext>
            </a:extLst>
          </p:cNvPr>
          <p:cNvSpPr txBox="1"/>
          <p:nvPr/>
        </p:nvSpPr>
        <p:spPr>
          <a:xfrm>
            <a:off x="771525" y="4677400"/>
            <a:ext cx="3022550" cy="1143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900" b="1" i="0" spc="225">
                <a:solidFill>
                  <a:srgbClr val="19A3FC"/>
                </a:solidFill>
                <a:latin typeface="Arial"/>
              </a:defRPr>
            </a:pPr>
            <a:r>
              <a:rPr sz="900" b="1" i="0" dirty="0" err="1">
                <a:solidFill>
                  <a:srgbClr val="19A3FC"/>
                </a:solidFill>
                <a:latin typeface="Arial"/>
              </a:rPr>
              <a:t>Comunicación</a:t>
            </a:r>
            <a:r>
              <a:rPr sz="900" b="1" i="0" dirty="0">
                <a:solidFill>
                  <a:srgbClr val="19A3FC"/>
                </a:solidFill>
                <a:latin typeface="Arial"/>
              </a:rPr>
              <a:t> </a:t>
            </a:r>
            <a:r>
              <a:rPr sz="900" b="1" i="0" dirty="0" err="1">
                <a:solidFill>
                  <a:srgbClr val="19A3FC"/>
                </a:solidFill>
                <a:latin typeface="Arial"/>
              </a:rPr>
              <a:t>clara</a:t>
            </a:r>
            <a:endParaRPr sz="900" b="1" i="0" dirty="0">
              <a:solidFill>
                <a:srgbClr val="19A3FC"/>
              </a:solidFill>
              <a:latin typeface="Arial"/>
            </a:endParaRPr>
          </a:p>
        </p:txBody>
      </p:sp>
      <p:sp>
        <p:nvSpPr>
          <p:cNvPr id="32" name="TextBox 11">
            <a:extLst>
              <a:ext uri="{FF2B5EF4-FFF2-40B4-BE49-F238E27FC236}">
                <a16:creationId xmlns:a16="http://schemas.microsoft.com/office/drawing/2014/main" id="{B86B4B40-1493-067A-E24C-4B704D35C52E}"/>
              </a:ext>
            </a:extLst>
          </p:cNvPr>
          <p:cNvSpPr txBox="1"/>
          <p:nvPr/>
        </p:nvSpPr>
        <p:spPr>
          <a:xfrm>
            <a:off x="4479875" y="4677400"/>
            <a:ext cx="3022550" cy="1143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900" b="1" i="0" spc="225">
                <a:solidFill>
                  <a:srgbClr val="19A3FC"/>
                </a:solidFill>
                <a:latin typeface="Arial"/>
              </a:defRPr>
            </a:pPr>
            <a:r>
              <a:rPr sz="900" b="1" i="0">
                <a:solidFill>
                  <a:srgbClr val="19A3FC"/>
                </a:solidFill>
                <a:latin typeface="Arial"/>
              </a:rPr>
              <a:t>Integración ágil</a:t>
            </a:r>
          </a:p>
        </p:txBody>
      </p:sp>
      <p:sp>
        <p:nvSpPr>
          <p:cNvPr id="34" name="TextBox 4">
            <a:extLst>
              <a:ext uri="{FF2B5EF4-FFF2-40B4-BE49-F238E27FC236}">
                <a16:creationId xmlns:a16="http://schemas.microsoft.com/office/drawing/2014/main" id="{7209688A-A96E-B62B-B424-C7EB897724C9}"/>
              </a:ext>
            </a:extLst>
          </p:cNvPr>
          <p:cNvSpPr txBox="1"/>
          <p:nvPr/>
        </p:nvSpPr>
        <p:spPr>
          <a:xfrm>
            <a:off x="762000" y="3871656"/>
            <a:ext cx="7169050" cy="276999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9600"/>
              </a:lnSpc>
              <a:defRPr sz="3300" b="1" i="0">
                <a:solidFill>
                  <a:srgbClr val="E8E8E8"/>
                </a:solidFill>
                <a:latin typeface="Georgia"/>
              </a:defRPr>
            </a:pPr>
            <a:r>
              <a:rPr sz="2000" b="1" i="0" dirty="0">
                <a:solidFill>
                  <a:srgbClr val="E8E8E8"/>
                </a:solidFill>
                <a:latin typeface="Georgia"/>
              </a:rPr>
              <a:t>Un </a:t>
            </a:r>
            <a:r>
              <a:rPr sz="2000" b="1" i="0" dirty="0" err="1">
                <a:solidFill>
                  <a:srgbClr val="E8E8E8"/>
                </a:solidFill>
                <a:latin typeface="Georgia"/>
              </a:rPr>
              <a:t>contrato</a:t>
            </a:r>
            <a:r>
              <a:rPr sz="2000" b="1" i="0" dirty="0">
                <a:solidFill>
                  <a:srgbClr val="E8E8E8"/>
                </a:solidFill>
                <a:latin typeface="Georgia"/>
              </a:rPr>
              <a:t> </a:t>
            </a:r>
            <a:r>
              <a:rPr sz="2000" b="1" i="0" dirty="0" err="1">
                <a:solidFill>
                  <a:srgbClr val="E8E8E8"/>
                </a:solidFill>
                <a:latin typeface="Georgia"/>
              </a:rPr>
              <a:t>estándar</a:t>
            </a:r>
            <a:r>
              <a:rPr sz="2000" b="1" i="0" dirty="0">
                <a:solidFill>
                  <a:srgbClr val="E8E8E8"/>
                </a:solidFill>
                <a:latin typeface="Georgia"/>
              </a:rPr>
              <a:t> </a:t>
            </a:r>
            <a:r>
              <a:rPr sz="2000" b="1" i="0" dirty="0" err="1">
                <a:solidFill>
                  <a:srgbClr val="E8E8E8"/>
                </a:solidFill>
                <a:latin typeface="Georgia"/>
              </a:rPr>
              <a:t>ya</a:t>
            </a:r>
            <a:r>
              <a:rPr sz="2000" b="1" i="0" dirty="0">
                <a:solidFill>
                  <a:srgbClr val="E8E8E8"/>
                </a:solidFill>
                <a:latin typeface="Georgia"/>
              </a:rPr>
              <a:t> es clave.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4900" y="2082403"/>
            <a:ext cx="5238750" cy="226695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66700" tIns="247650" rIns="266700" bIns="24765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64150" y="2082403"/>
            <a:ext cx="5238750" cy="2266950"/>
          </a:xfrm>
          <a:prstGeom prst="rect">
            <a:avLst/>
          </a:prstGeom>
          <a:solidFill>
            <a:srgbClr val="19A3FC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66700" tIns="247650" rIns="266700" bIns="24765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7648" y="1285875"/>
            <a:ext cx="10306050" cy="539353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94400"/>
              </a:lnSpc>
              <a:defRPr sz="1800" b="0" i="0">
                <a:solidFill>
                  <a:srgbClr val="E8E8E8"/>
                </a:solidFill>
                <a:latin typeface="Arial"/>
              </a:defRPr>
            </a:pPr>
            <a:r>
              <a:rPr sz="1800" b="1" i="0">
                <a:solidFill>
                  <a:srgbClr val="E8E8E8"/>
                </a:solidFill>
                <a:latin typeface="Arial"/>
              </a:rPr>
              <a:t>OpenAPI</a:t>
            </a:r>
            <a:r>
              <a:rPr sz="1800" b="0" i="0">
                <a:solidFill>
                  <a:srgbClr val="E8E8E8"/>
                </a:solidFill>
                <a:latin typeface="Arial"/>
              </a:rPr>
              <a:t> es la especificación; </a:t>
            </a:r>
            <a:r>
              <a:rPr sz="1800" b="1" i="0">
                <a:solidFill>
                  <a:srgbClr val="E8E8E8"/>
                </a:solidFill>
                <a:latin typeface="Arial"/>
              </a:rPr>
              <a:t>Swagger</a:t>
            </a:r>
            <a:r>
              <a:rPr sz="1800" b="0" i="0">
                <a:solidFill>
                  <a:srgbClr val="E8E8E8"/>
                </a:solidFill>
                <a:latin typeface="Arial"/>
              </a:rPr>
              <a:t> es el conjunto de herramientas para visualizar y probar APIs.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1600" y="3113336"/>
            <a:ext cx="4513957" cy="341858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100800"/>
              </a:lnSpc>
              <a:defRPr sz="1125" b="0" i="0">
                <a:solidFill>
                  <a:srgbClr val="2E404D"/>
                </a:solidFill>
                <a:latin typeface="Arial"/>
              </a:defRPr>
            </a:pPr>
            <a:r>
              <a:rPr sz="1125" b="0" i="0" dirty="0">
                <a:solidFill>
                  <a:srgbClr val="2E404D"/>
                </a:solidFill>
                <a:latin typeface="Arial"/>
              </a:rPr>
              <a:t>Define el </a:t>
            </a:r>
            <a:r>
              <a:rPr sz="1125" b="0" i="0" dirty="0" err="1">
                <a:solidFill>
                  <a:srgbClr val="2E404D"/>
                </a:solidFill>
                <a:latin typeface="Arial"/>
              </a:rPr>
              <a:t>contrato</a:t>
            </a:r>
            <a:r>
              <a:rPr sz="1125" b="0" i="0" dirty="0">
                <a:solidFill>
                  <a:srgbClr val="2E404D"/>
                </a:solidFill>
                <a:latin typeface="Arial"/>
              </a:rPr>
              <a:t> de la API: </a:t>
            </a:r>
            <a:r>
              <a:rPr sz="1125" b="0" i="0" dirty="0" err="1">
                <a:solidFill>
                  <a:srgbClr val="2E404D"/>
                </a:solidFill>
                <a:latin typeface="Arial"/>
              </a:rPr>
              <a:t>rutas</a:t>
            </a:r>
            <a:r>
              <a:rPr sz="1125" b="0" i="0" dirty="0">
                <a:solidFill>
                  <a:srgbClr val="2E404D"/>
                </a:solidFill>
                <a:latin typeface="Arial"/>
              </a:rPr>
              <a:t>, </a:t>
            </a:r>
            <a:r>
              <a:rPr sz="1125" b="0" i="0" dirty="0" err="1">
                <a:solidFill>
                  <a:srgbClr val="2E404D"/>
                </a:solidFill>
                <a:latin typeface="Arial"/>
              </a:rPr>
              <a:t>parámetros</a:t>
            </a:r>
            <a:r>
              <a:rPr sz="1125" b="0" i="0" dirty="0">
                <a:solidFill>
                  <a:srgbClr val="2E404D"/>
                </a:solidFill>
                <a:latin typeface="Arial"/>
              </a:rPr>
              <a:t>, </a:t>
            </a:r>
            <a:r>
              <a:rPr sz="1125" b="0" i="0" dirty="0" err="1">
                <a:solidFill>
                  <a:srgbClr val="2E404D"/>
                </a:solidFill>
                <a:latin typeface="Arial"/>
              </a:rPr>
              <a:t>respuestas</a:t>
            </a:r>
            <a:r>
              <a:rPr sz="1125" b="0" i="0" dirty="0">
                <a:solidFill>
                  <a:srgbClr val="2E404D"/>
                </a:solidFill>
                <a:latin typeface="Arial"/>
              </a:rPr>
              <a:t> y </a:t>
            </a:r>
            <a:r>
              <a:rPr sz="1125" b="0" i="0" dirty="0" err="1">
                <a:solidFill>
                  <a:srgbClr val="2E404D"/>
                </a:solidFill>
                <a:latin typeface="Arial"/>
              </a:rPr>
              <a:t>estructura</a:t>
            </a:r>
            <a:r>
              <a:rPr sz="1125" b="0" i="0" dirty="0">
                <a:solidFill>
                  <a:srgbClr val="2E404D"/>
                </a:solidFill>
                <a:latin typeface="Arial"/>
              </a:rPr>
              <a:t> </a:t>
            </a:r>
            <a:r>
              <a:rPr sz="1125" b="0" i="0" dirty="0" err="1">
                <a:solidFill>
                  <a:srgbClr val="2E404D"/>
                </a:solidFill>
                <a:latin typeface="Arial"/>
              </a:rPr>
              <a:t>esperada</a:t>
            </a:r>
            <a:r>
              <a:rPr sz="1125" b="0" i="0" dirty="0">
                <a:solidFill>
                  <a:srgbClr val="2E404D"/>
                </a:solidFill>
                <a:latin typeface="Arial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61950"/>
            <a:ext cx="10687050" cy="13335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1050" b="1" i="0" spc="375">
                <a:solidFill>
                  <a:srgbClr val="19A3FC"/>
                </a:solidFill>
                <a:latin typeface="Arial"/>
              </a:defRPr>
            </a:pPr>
            <a:r>
              <a:rPr sz="1050" b="1" i="0">
                <a:solidFill>
                  <a:srgbClr val="19A3FC"/>
                </a:solidFill>
                <a:latin typeface="Arial"/>
              </a:rPr>
              <a:t>01 - Fundamentos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0850" y="3113336"/>
            <a:ext cx="4138314" cy="341858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100800"/>
              </a:lnSpc>
              <a:defRPr sz="1125" b="0" i="0">
                <a:solidFill>
                  <a:srgbClr val="FFFFFF"/>
                </a:solidFill>
                <a:latin typeface="Arial"/>
              </a:defRPr>
            </a:pPr>
            <a:r>
              <a:rPr sz="1125" b="0" i="0" dirty="0">
                <a:solidFill>
                  <a:srgbClr val="FFFFFF"/>
                </a:solidFill>
                <a:latin typeface="Arial"/>
              </a:rPr>
              <a:t>Ayuda a </a:t>
            </a:r>
            <a:r>
              <a:rPr sz="1125" b="0" i="0" dirty="0" err="1">
                <a:solidFill>
                  <a:srgbClr val="FFFFFF"/>
                </a:solidFill>
                <a:latin typeface="Arial"/>
              </a:rPr>
              <a:t>exponer</a:t>
            </a:r>
            <a:r>
              <a:rPr sz="1125" b="0" i="0" dirty="0">
                <a:solidFill>
                  <a:srgbClr val="FFFFFF"/>
                </a:solidFill>
                <a:latin typeface="Arial"/>
              </a:rPr>
              <a:t> y </a:t>
            </a:r>
            <a:r>
              <a:rPr sz="1125" b="0" i="0" dirty="0" err="1">
                <a:solidFill>
                  <a:srgbClr val="FFFFFF"/>
                </a:solidFill>
                <a:latin typeface="Arial"/>
              </a:rPr>
              <a:t>consumir</a:t>
            </a:r>
            <a:r>
              <a:rPr sz="1125" b="0" i="0" dirty="0">
                <a:solidFill>
                  <a:srgbClr val="FFFFFF"/>
                </a:solidFill>
                <a:latin typeface="Arial"/>
              </a:rPr>
              <a:t> la API </a:t>
            </a:r>
            <a:r>
              <a:rPr sz="1125" b="0" i="0" dirty="0" err="1">
                <a:solidFill>
                  <a:srgbClr val="FFFFFF"/>
                </a:solidFill>
                <a:latin typeface="Arial"/>
              </a:rPr>
              <a:t>visualmente</a:t>
            </a:r>
            <a:r>
              <a:rPr sz="1125" b="0" i="0" dirty="0">
                <a:solidFill>
                  <a:srgbClr val="FFFFFF"/>
                </a:solidFill>
                <a:latin typeface="Arial"/>
              </a:rPr>
              <a:t>, </a:t>
            </a:r>
            <a:r>
              <a:rPr sz="1125" b="0" i="0" dirty="0" err="1">
                <a:solidFill>
                  <a:srgbClr val="FFFFFF"/>
                </a:solidFill>
                <a:latin typeface="Arial"/>
              </a:rPr>
              <a:t>por</a:t>
            </a:r>
            <a:r>
              <a:rPr sz="1125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25" b="0" i="0" dirty="0" err="1">
                <a:solidFill>
                  <a:srgbClr val="FFFFFF"/>
                </a:solidFill>
                <a:latin typeface="Arial"/>
              </a:rPr>
              <a:t>ejemplo</a:t>
            </a:r>
            <a:r>
              <a:rPr sz="1125" b="0" i="0" dirty="0">
                <a:solidFill>
                  <a:srgbClr val="FFFFFF"/>
                </a:solidFill>
                <a:latin typeface="Arial"/>
              </a:rPr>
              <a:t> con </a:t>
            </a:r>
            <a:r>
              <a:rPr sz="1125" b="1" i="0" dirty="0">
                <a:solidFill>
                  <a:srgbClr val="FFFFFF"/>
                </a:solidFill>
                <a:latin typeface="Arial"/>
              </a:rPr>
              <a:t>Swagger UI</a:t>
            </a:r>
            <a:r>
              <a:rPr sz="1125" b="0" i="0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600" y="2577703"/>
            <a:ext cx="4724400" cy="287982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6400"/>
              </a:lnSpc>
              <a:defRPr sz="2100" b="1" i="0">
                <a:solidFill>
                  <a:srgbClr val="070F26"/>
                </a:solidFill>
                <a:latin typeface="Georgia"/>
              </a:defRPr>
            </a:pPr>
            <a:r>
              <a:rPr sz="2100" b="1" i="0">
                <a:solidFill>
                  <a:srgbClr val="070F26"/>
                </a:solidFill>
                <a:latin typeface="Georgia"/>
              </a:rPr>
              <a:t>OpenAPI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0850" y="2577703"/>
            <a:ext cx="4724400" cy="287982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6400"/>
              </a:lnSpc>
              <a:defRPr sz="2100" b="1" i="0">
                <a:solidFill>
                  <a:srgbClr val="FFFFFF"/>
                </a:solidFill>
                <a:latin typeface="Georgia"/>
              </a:defRPr>
            </a:pPr>
            <a:r>
              <a:rPr sz="2100" b="1" i="0">
                <a:solidFill>
                  <a:srgbClr val="FFFFFF"/>
                </a:solidFill>
                <a:latin typeface="Georgia"/>
              </a:rPr>
              <a:t>Swagger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38175"/>
            <a:ext cx="1275903" cy="504825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none" lIns="0" tIns="0" rIns="0" bIns="0">
            <a:spAutoFit/>
          </a:bodyPr>
          <a:lstStyle/>
          <a:p>
            <a:pPr>
              <a:lnSpc>
                <a:spcPct val="81600"/>
              </a:lnSpc>
              <a:defRPr sz="3600" b="0" i="0">
                <a:solidFill>
                  <a:srgbClr val="E8E8E8"/>
                </a:solidFill>
                <a:latin typeface="Georgia"/>
              </a:defRPr>
            </a:pPr>
            <a:r>
              <a:rPr sz="3600" b="0" i="0">
                <a:solidFill>
                  <a:srgbClr val="E8E8E8"/>
                </a:solidFill>
                <a:latin typeface="Georgia"/>
              </a:rPr>
              <a:t>Qué 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1600" y="2330053"/>
            <a:ext cx="4724400" cy="1143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900" b="1" i="0" spc="225">
                <a:solidFill>
                  <a:srgbClr val="2E404D"/>
                </a:solidFill>
                <a:latin typeface="Arial"/>
              </a:defRPr>
            </a:pPr>
            <a:r>
              <a:rPr sz="900" b="1" i="0">
                <a:solidFill>
                  <a:srgbClr val="2E404D"/>
                </a:solidFill>
                <a:latin typeface="Arial"/>
              </a:rPr>
              <a:t>Especificación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0850" y="2330053"/>
            <a:ext cx="4724400" cy="1143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900" b="1" i="0" spc="225">
                <a:solidFill>
                  <a:srgbClr val="74CFFF"/>
                </a:solidFill>
                <a:latin typeface="Arial"/>
              </a:defRPr>
            </a:pPr>
            <a:r>
              <a:rPr sz="900" b="1" i="0">
                <a:solidFill>
                  <a:srgbClr val="74CFFF"/>
                </a:solidFill>
                <a:latin typeface="Arial"/>
              </a:rPr>
              <a:t>Herramientas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3153" y="638175"/>
            <a:ext cx="222051" cy="504825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none" lIns="0" tIns="0" rIns="0" bIns="0">
            <a:spAutoFit/>
          </a:bodyPr>
          <a:lstStyle/>
          <a:p>
            <a:pPr>
              <a:lnSpc>
                <a:spcPct val="81600"/>
              </a:lnSpc>
              <a:defRPr sz="3600" b="0" i="0">
                <a:solidFill>
                  <a:srgbClr val="E8E8E8"/>
                </a:solidFill>
                <a:latin typeface="Georgia"/>
              </a:defRPr>
            </a:pPr>
            <a:r>
              <a:rPr sz="3600" b="0" i="0">
                <a:solidFill>
                  <a:srgbClr val="E8E8E8"/>
                </a:solidFill>
                <a:latin typeface="Georgia"/>
              </a:rPr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64150" y="6515100"/>
            <a:ext cx="82748" cy="1905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none" lIns="0" tIns="0" rIns="0" bIns="0">
            <a:spAutoFit/>
          </a:bodyPr>
          <a:lstStyle/>
          <a:p>
            <a:pPr>
              <a:lnSpc>
                <a:spcPct val="133333"/>
              </a:lnSpc>
              <a:defRPr sz="900" b="0" i="0">
                <a:solidFill>
                  <a:srgbClr val="E8E8E8"/>
                </a:solidFill>
                <a:latin typeface="Arial"/>
              </a:defRPr>
            </a:pPr>
            <a:r>
              <a:rPr sz="900" b="0" i="0">
                <a:solidFill>
                  <a:srgbClr val="E8E8E8"/>
                </a:solidFill>
                <a:latin typeface="Arial"/>
              </a:rPr>
              <a:t>4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B4730378-36EC-40EF-840D-01A129814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653" y="4680815"/>
            <a:ext cx="3273893" cy="658243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4FFC163B-1E11-6D12-5B7F-957B5F7917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3652" y="5458498"/>
            <a:ext cx="3273893" cy="831925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EF4ACE6B-DFB7-62C6-6FA4-F4F8C0438575}"/>
              </a:ext>
            </a:extLst>
          </p:cNvPr>
          <p:cNvSpPr txBox="1"/>
          <p:nvPr/>
        </p:nvSpPr>
        <p:spPr>
          <a:xfrm>
            <a:off x="8683889" y="5572125"/>
            <a:ext cx="2912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dirty="0">
                <a:solidFill>
                  <a:schemeClr val="bg1"/>
                </a:solidFill>
              </a:rPr>
              <a:t>https://www.openapis.org/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B5392E96-95AB-FE38-263C-C9C503318513}"/>
              </a:ext>
            </a:extLst>
          </p:cNvPr>
          <p:cNvSpPr txBox="1"/>
          <p:nvPr/>
        </p:nvSpPr>
        <p:spPr>
          <a:xfrm>
            <a:off x="8683889" y="5904190"/>
            <a:ext cx="2965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dirty="0">
                <a:solidFill>
                  <a:schemeClr val="bg1"/>
                </a:solidFill>
              </a:rPr>
              <a:t>https://docs.stoplight.io/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00100" y="501519"/>
            <a:ext cx="10610850" cy="984244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1600"/>
              </a:lnSpc>
              <a:defRPr sz="3900" b="1" i="0">
                <a:solidFill>
                  <a:srgbClr val="E8E8E8"/>
                </a:solidFill>
                <a:latin typeface="Georgia"/>
              </a:defRPr>
            </a:pPr>
            <a:r>
              <a:rPr sz="3900" b="1" i="0" dirty="0" err="1">
                <a:solidFill>
                  <a:srgbClr val="E8E8E8"/>
                </a:solidFill>
                <a:latin typeface="Georgia"/>
              </a:rPr>
              <a:t>Estructura</a:t>
            </a:r>
            <a:r>
              <a:rPr sz="3900" b="1" i="0" dirty="0">
                <a:solidFill>
                  <a:srgbClr val="E8E8E8"/>
                </a:solidFill>
                <a:latin typeface="Georgia"/>
              </a:rPr>
              <a:t> de </a:t>
            </a:r>
            <a:r>
              <a:rPr sz="3900" b="1" i="0" dirty="0" err="1">
                <a:solidFill>
                  <a:srgbClr val="E8E8E8"/>
                </a:solidFill>
                <a:latin typeface="Georgia"/>
              </a:rPr>
              <a:t>una</a:t>
            </a:r>
            <a:r>
              <a:rPr sz="3900" b="1" i="0" dirty="0">
                <a:solidFill>
                  <a:srgbClr val="E8E8E8"/>
                </a:solidFill>
                <a:latin typeface="Georgia"/>
              </a:rPr>
              <a:t> </a:t>
            </a:r>
            <a:r>
              <a:rPr sz="3900" b="1" i="0" dirty="0" err="1">
                <a:solidFill>
                  <a:srgbClr val="E8E8E8"/>
                </a:solidFill>
                <a:latin typeface="Georgia"/>
              </a:rPr>
              <a:t>especificación</a:t>
            </a:r>
            <a:r>
              <a:rPr lang="en-US" sz="3900" b="1" i="0" dirty="0">
                <a:solidFill>
                  <a:srgbClr val="E8E8E8"/>
                </a:solidFill>
                <a:latin typeface="Georgia"/>
              </a:rPr>
              <a:t> </a:t>
            </a:r>
            <a:r>
              <a:rPr lang="es-PE" sz="3900" b="1" dirty="0" err="1">
                <a:solidFill>
                  <a:srgbClr val="E8E8E8"/>
                </a:solidFill>
                <a:latin typeface="Georgia"/>
              </a:rPr>
              <a:t>OpenAPI</a:t>
            </a:r>
            <a:endParaRPr sz="3900" b="1" i="0" dirty="0">
              <a:solidFill>
                <a:srgbClr val="E8E8E8"/>
              </a:solidFill>
              <a:latin typeface="Georgi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0100" y="1509575"/>
            <a:ext cx="10401300" cy="428625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defRPr sz="1350" b="0" i="0">
                <a:solidFill>
                  <a:srgbClr val="E8E8E8"/>
                </a:solidFill>
                <a:latin typeface="Arial"/>
              </a:defRPr>
            </a:pPr>
            <a:r>
              <a:rPr sz="1350" b="0" i="0" dirty="0">
                <a:solidFill>
                  <a:srgbClr val="E8E8E8"/>
                </a:solidFill>
                <a:latin typeface="Arial"/>
              </a:rPr>
              <a:t>Una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especificación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OpenAPI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reúne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metadatos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del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servicio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, endpoints,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operaciones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HTTP,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parámetros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,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cuerpos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de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petición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,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respuestas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,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códigos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y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modelos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reutilizables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en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1350" b="0" i="1" dirty="0">
                <a:solidFill>
                  <a:srgbClr val="E8E8E8"/>
                </a:solidFill>
                <a:latin typeface="Arial"/>
              </a:rPr>
              <a:t>components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y </a:t>
            </a:r>
            <a:r>
              <a:rPr sz="1350" b="0" i="1" dirty="0">
                <a:solidFill>
                  <a:srgbClr val="E8E8E8"/>
                </a:solidFill>
                <a:latin typeface="Arial"/>
              </a:rPr>
              <a:t>schemas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328054"/>
            <a:ext cx="10610850" cy="13335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1050" b="1" i="0" spc="450">
                <a:solidFill>
                  <a:srgbClr val="19A3FC"/>
                </a:solidFill>
                <a:latin typeface="Arial"/>
              </a:defRPr>
            </a:pPr>
            <a:r>
              <a:rPr sz="1050" b="1" i="0" dirty="0">
                <a:solidFill>
                  <a:srgbClr val="19A3FC"/>
                </a:solidFill>
                <a:latin typeface="Arial"/>
              </a:rPr>
              <a:t>01 - </a:t>
            </a:r>
            <a:r>
              <a:rPr sz="1050" b="1" i="0" dirty="0" err="1">
                <a:solidFill>
                  <a:srgbClr val="19A3FC"/>
                </a:solidFill>
                <a:latin typeface="Arial"/>
              </a:rPr>
              <a:t>Fundamentos</a:t>
            </a:r>
            <a:endParaRPr sz="1050" b="1" i="0" dirty="0">
              <a:solidFill>
                <a:srgbClr val="19A3FC"/>
              </a:solidFill>
              <a:latin typeface="Arial"/>
            </a:endParaRPr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7417269F-EE86-6CF8-BAC7-5A4E7DC9816C}"/>
              </a:ext>
            </a:extLst>
          </p:cNvPr>
          <p:cNvGrpSpPr/>
          <p:nvPr/>
        </p:nvGrpSpPr>
        <p:grpSpPr>
          <a:xfrm>
            <a:off x="6000747" y="2101643"/>
            <a:ext cx="5360820" cy="624157"/>
            <a:chOff x="492084" y="2838139"/>
            <a:chExt cx="2547937" cy="910099"/>
          </a:xfrm>
        </p:grpSpPr>
        <p:sp>
          <p:nvSpPr>
            <p:cNvPr id="2" name="Rectangle 1"/>
            <p:cNvSpPr/>
            <p:nvPr/>
          </p:nvSpPr>
          <p:spPr>
            <a:xfrm>
              <a:off x="492084" y="2838139"/>
              <a:ext cx="2547937" cy="910099"/>
            </a:xfrm>
            <a:prstGeom prst="rect">
              <a:avLst/>
            </a:prstGeom>
            <a:solidFill>
              <a:srgbClr val="070F26"/>
            </a:solidFill>
            <a:ln w="9525">
              <a:solidFill>
                <a:srgbClr val="2A3D63"/>
              </a:solidFill>
            </a:ln>
            <a:effectLst>
              <a:outerShdw>
                <a:srgbClr val="000000">
                  <a:alpha val="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47650" tIns="228600" rIns="247650" bIns="228600"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79368" y="3236326"/>
              <a:ext cx="2052637" cy="417909"/>
            </a:xfrm>
            <a:prstGeom prst="rect">
              <a:avLst/>
            </a:prstGeom>
            <a:noFill/>
            <a:ln>
              <a:noFill/>
            </a:ln>
            <a:effectLst>
              <a:outerShdw>
                <a:srgbClr val="000000">
                  <a:alpha val="0"/>
                </a:srgbClr>
              </a:outerShdw>
            </a:effec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97600"/>
                </a:lnSpc>
                <a:defRPr sz="900" b="0" i="0">
                  <a:solidFill>
                    <a:srgbClr val="E8E8E8"/>
                  </a:solidFill>
                  <a:latin typeface="Arial"/>
                </a:defRPr>
              </a:pP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La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sección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</a:t>
              </a:r>
              <a:r>
                <a:rPr sz="900" b="0" i="1" dirty="0">
                  <a:solidFill>
                    <a:srgbClr val="E8E8E8"/>
                  </a:solidFill>
                  <a:latin typeface="Arial"/>
                </a:rPr>
                <a:t>info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resume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nombre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,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versión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y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descripción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del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servicio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para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dar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contexto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a la API.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79369" y="2935955"/>
              <a:ext cx="2314272" cy="197362"/>
            </a:xfrm>
            <a:prstGeom prst="rect">
              <a:avLst/>
            </a:prstGeom>
            <a:noFill/>
            <a:ln>
              <a:noFill/>
            </a:ln>
            <a:effectLst>
              <a:outerShdw>
                <a:srgbClr val="000000">
                  <a:alpha val="0"/>
                </a:srgbClr>
              </a:outerShdw>
            </a:effec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89600"/>
                </a:lnSpc>
                <a:defRPr sz="1425" b="1" i="0">
                  <a:solidFill>
                    <a:srgbClr val="E8E8E8"/>
                  </a:solidFill>
                  <a:latin typeface="Georgia"/>
                </a:defRPr>
              </a:pPr>
              <a:r>
                <a:rPr lang="en-US" sz="1425" b="1" i="0" dirty="0">
                  <a:solidFill>
                    <a:srgbClr val="E8E8E8"/>
                  </a:solidFill>
                  <a:latin typeface="Georgia"/>
                </a:rPr>
                <a:t>1. </a:t>
              </a:r>
              <a:r>
                <a:rPr sz="1425" b="1" i="0" dirty="0" err="1">
                  <a:solidFill>
                    <a:srgbClr val="E8E8E8"/>
                  </a:solidFill>
                  <a:latin typeface="Georgia"/>
                </a:rPr>
                <a:t>Información</a:t>
              </a:r>
              <a:r>
                <a:rPr sz="1425" b="1" i="0" dirty="0">
                  <a:solidFill>
                    <a:srgbClr val="E8E8E8"/>
                  </a:solidFill>
                  <a:latin typeface="Georgia"/>
                </a:rPr>
                <a:t> general</a:t>
              </a:r>
            </a:p>
          </p:txBody>
        </p:sp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A6399BD3-FA1E-7733-2EC7-0AC534DF4676}"/>
              </a:ext>
            </a:extLst>
          </p:cNvPr>
          <p:cNvGrpSpPr/>
          <p:nvPr/>
        </p:nvGrpSpPr>
        <p:grpSpPr>
          <a:xfrm>
            <a:off x="6000749" y="3197274"/>
            <a:ext cx="5360820" cy="694734"/>
            <a:chOff x="3437721" y="2838139"/>
            <a:chExt cx="2547937" cy="866775"/>
          </a:xfrm>
        </p:grpSpPr>
        <p:sp>
          <p:nvSpPr>
            <p:cNvPr id="3" name="Rectangle 2"/>
            <p:cNvSpPr/>
            <p:nvPr/>
          </p:nvSpPr>
          <p:spPr>
            <a:xfrm>
              <a:off x="3437721" y="2838139"/>
              <a:ext cx="2547937" cy="866775"/>
            </a:xfrm>
            <a:prstGeom prst="rect">
              <a:avLst/>
            </a:prstGeom>
            <a:solidFill>
              <a:srgbClr val="070F26"/>
            </a:solidFill>
            <a:ln w="9525">
              <a:solidFill>
                <a:srgbClr val="2A3D63"/>
              </a:solidFill>
            </a:ln>
            <a:effectLst>
              <a:outerShdw>
                <a:srgbClr val="000000">
                  <a:alpha val="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47650" tIns="228600" rIns="247650" bIns="228600"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593153" y="3158714"/>
              <a:ext cx="2052637" cy="417909"/>
            </a:xfrm>
            <a:prstGeom prst="rect">
              <a:avLst/>
            </a:prstGeom>
            <a:noFill/>
            <a:ln>
              <a:noFill/>
            </a:ln>
            <a:effectLst>
              <a:outerShdw>
                <a:srgbClr val="000000">
                  <a:alpha val="0"/>
                </a:srgbClr>
              </a:outerShdw>
            </a:effec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97600"/>
                </a:lnSpc>
                <a:defRPr sz="900" b="0" i="0">
                  <a:solidFill>
                    <a:srgbClr val="E8E8E8"/>
                  </a:solidFill>
                  <a:latin typeface="Arial"/>
                </a:defRPr>
              </a:pPr>
              <a:r>
                <a:rPr sz="900" b="0" i="1" dirty="0">
                  <a:solidFill>
                    <a:srgbClr val="E8E8E8"/>
                  </a:solidFill>
                  <a:latin typeface="Arial"/>
                </a:rPr>
                <a:t>Paths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define las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rutas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disponibles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y las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operaciones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HTTP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asociadas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,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como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GET, POST, PUT o DELETE.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593153" y="2926230"/>
              <a:ext cx="2237071" cy="197362"/>
            </a:xfrm>
            <a:prstGeom prst="rect">
              <a:avLst/>
            </a:prstGeom>
            <a:noFill/>
            <a:ln>
              <a:noFill/>
            </a:ln>
            <a:effectLst>
              <a:outerShdw>
                <a:srgbClr val="000000">
                  <a:alpha val="0"/>
                </a:srgbClr>
              </a:outerShdw>
            </a:effec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89600"/>
                </a:lnSpc>
                <a:defRPr sz="1425" b="1" i="0">
                  <a:solidFill>
                    <a:srgbClr val="E8E8E8"/>
                  </a:solidFill>
                  <a:latin typeface="Georgia"/>
                </a:defRPr>
              </a:pPr>
              <a:r>
                <a:rPr lang="en-US" sz="1425" b="1" i="0" dirty="0">
                  <a:solidFill>
                    <a:srgbClr val="E8E8E8"/>
                  </a:solidFill>
                  <a:latin typeface="Georgia"/>
                </a:rPr>
                <a:t>2. </a:t>
              </a:r>
              <a:r>
                <a:rPr sz="1425" b="1" i="0" dirty="0">
                  <a:solidFill>
                    <a:srgbClr val="E8E8E8"/>
                  </a:solidFill>
                  <a:latin typeface="Georgia"/>
                </a:rPr>
                <a:t>Paths y </a:t>
              </a:r>
              <a:r>
                <a:rPr sz="1425" b="1" i="0" dirty="0" err="1">
                  <a:solidFill>
                    <a:srgbClr val="E8E8E8"/>
                  </a:solidFill>
                  <a:latin typeface="Georgia"/>
                </a:rPr>
                <a:t>operaciones</a:t>
              </a:r>
              <a:endParaRPr sz="1425" b="1" i="0" dirty="0">
                <a:solidFill>
                  <a:srgbClr val="E8E8E8"/>
                </a:solidFill>
                <a:latin typeface="Georgia"/>
              </a:endParaRPr>
            </a:p>
          </p:txBody>
        </p:sp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F9638744-5498-AD13-B689-D8EA7BE645A1}"/>
              </a:ext>
            </a:extLst>
          </p:cNvPr>
          <p:cNvGrpSpPr/>
          <p:nvPr/>
        </p:nvGrpSpPr>
        <p:grpSpPr>
          <a:xfrm>
            <a:off x="6000750" y="4430578"/>
            <a:ext cx="5384117" cy="730123"/>
            <a:chOff x="6249645" y="2838139"/>
            <a:chExt cx="2547937" cy="1339567"/>
          </a:xfrm>
        </p:grpSpPr>
        <p:sp>
          <p:nvSpPr>
            <p:cNvPr id="4" name="Rectangle 3"/>
            <p:cNvSpPr/>
            <p:nvPr/>
          </p:nvSpPr>
          <p:spPr>
            <a:xfrm>
              <a:off x="6249645" y="2838139"/>
              <a:ext cx="2547937" cy="1339567"/>
            </a:xfrm>
            <a:prstGeom prst="rect">
              <a:avLst/>
            </a:prstGeom>
            <a:solidFill>
              <a:srgbClr val="070F26"/>
            </a:solidFill>
            <a:ln w="9525">
              <a:solidFill>
                <a:srgbClr val="2A3D63"/>
              </a:solidFill>
            </a:ln>
            <a:effectLst>
              <a:outerShdw>
                <a:srgbClr val="000000">
                  <a:alpha val="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47650" tIns="228600" rIns="247650" bIns="228600"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506820" y="3447775"/>
              <a:ext cx="2052637" cy="557212"/>
            </a:xfrm>
            <a:prstGeom prst="rect">
              <a:avLst/>
            </a:prstGeom>
            <a:noFill/>
            <a:ln>
              <a:noFill/>
            </a:ln>
            <a:effectLst>
              <a:outerShdw>
                <a:srgbClr val="000000">
                  <a:alpha val="0"/>
                </a:srgbClr>
              </a:outerShdw>
            </a:effec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97600"/>
                </a:lnSpc>
                <a:defRPr sz="900" b="0" i="0">
                  <a:solidFill>
                    <a:srgbClr val="E8E8E8"/>
                  </a:solidFill>
                  <a:latin typeface="Arial"/>
                </a:defRPr>
              </a:pP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Se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detallan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parámetros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de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tipo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Path, Query y Header,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además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de </a:t>
              </a:r>
              <a:r>
                <a:rPr sz="900" b="0" i="1" dirty="0" err="1">
                  <a:solidFill>
                    <a:srgbClr val="E8E8E8"/>
                  </a:solidFill>
                  <a:latin typeface="Arial"/>
                </a:rPr>
                <a:t>requestBody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cuando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la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operación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recibe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datos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.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506820" y="2940420"/>
              <a:ext cx="2052637" cy="394723"/>
            </a:xfrm>
            <a:prstGeom prst="rect">
              <a:avLst/>
            </a:prstGeom>
            <a:noFill/>
            <a:ln>
              <a:noFill/>
            </a:ln>
            <a:effectLst>
              <a:outerShdw>
                <a:srgbClr val="000000">
                  <a:alpha val="0"/>
                </a:srgbClr>
              </a:outerShdw>
            </a:effec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89600"/>
                </a:lnSpc>
                <a:defRPr sz="1425" b="1" i="0">
                  <a:solidFill>
                    <a:srgbClr val="E8E8E8"/>
                  </a:solidFill>
                  <a:latin typeface="Georgia"/>
                </a:defRPr>
              </a:pPr>
              <a:r>
                <a:rPr lang="en-US" sz="1425" b="1" i="0" dirty="0">
                  <a:solidFill>
                    <a:srgbClr val="E8E8E8"/>
                  </a:solidFill>
                  <a:latin typeface="Georgia"/>
                </a:rPr>
                <a:t>3. </a:t>
              </a:r>
              <a:r>
                <a:rPr sz="1425" b="1" i="0" dirty="0">
                  <a:solidFill>
                    <a:srgbClr val="E8E8E8"/>
                  </a:solidFill>
                  <a:latin typeface="Georgia"/>
                </a:rPr>
                <a:t>Entradas de la </a:t>
              </a:r>
              <a:r>
                <a:rPr sz="1425" b="1" i="0" dirty="0" err="1">
                  <a:solidFill>
                    <a:srgbClr val="E8E8E8"/>
                  </a:solidFill>
                  <a:latin typeface="Georgia"/>
                </a:rPr>
                <a:t>petición</a:t>
              </a:r>
              <a:endParaRPr sz="1425" b="1" i="0" dirty="0">
                <a:solidFill>
                  <a:srgbClr val="E8E8E8"/>
                </a:solidFill>
                <a:latin typeface="Georgia"/>
              </a:endParaRP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6064150" y="6515100"/>
            <a:ext cx="82748" cy="1905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none" lIns="0" tIns="0" rIns="0" bIns="0">
            <a:spAutoFit/>
          </a:bodyPr>
          <a:lstStyle/>
          <a:p>
            <a:pPr>
              <a:lnSpc>
                <a:spcPct val="133333"/>
              </a:lnSpc>
              <a:defRPr sz="900" b="0" i="0">
                <a:solidFill>
                  <a:srgbClr val="E8E8E8"/>
                </a:solidFill>
                <a:latin typeface="Arial"/>
              </a:defRPr>
            </a:pPr>
            <a:r>
              <a:rPr sz="900" b="0" i="0">
                <a:solidFill>
                  <a:srgbClr val="E8E8E8"/>
                </a:solidFill>
                <a:latin typeface="Arial"/>
              </a:rPr>
              <a:t>5</a:t>
            </a: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A98843DB-22DC-D329-B841-2B30A2018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30" y="2072658"/>
            <a:ext cx="4915326" cy="4595258"/>
          </a:xfrm>
          <a:prstGeom prst="rect">
            <a:avLst/>
          </a:prstGeom>
        </p:spPr>
      </p:pic>
      <p:grpSp>
        <p:nvGrpSpPr>
          <p:cNvPr id="37" name="Grupo 36">
            <a:extLst>
              <a:ext uri="{FF2B5EF4-FFF2-40B4-BE49-F238E27FC236}">
                <a16:creationId xmlns:a16="http://schemas.microsoft.com/office/drawing/2014/main" id="{3C1B4469-0E9E-3961-5B55-573341A64237}"/>
              </a:ext>
            </a:extLst>
          </p:cNvPr>
          <p:cNvGrpSpPr/>
          <p:nvPr/>
        </p:nvGrpSpPr>
        <p:grpSpPr>
          <a:xfrm>
            <a:off x="6000749" y="5638707"/>
            <a:ext cx="5384117" cy="635019"/>
            <a:chOff x="5960542" y="4740428"/>
            <a:chExt cx="2368069" cy="1013885"/>
          </a:xfrm>
        </p:grpSpPr>
        <p:sp>
          <p:nvSpPr>
            <p:cNvPr id="34" name="Rectangle 3">
              <a:extLst>
                <a:ext uri="{FF2B5EF4-FFF2-40B4-BE49-F238E27FC236}">
                  <a16:creationId xmlns:a16="http://schemas.microsoft.com/office/drawing/2014/main" id="{8F5950FB-27D1-C5B0-DB42-A42E2D4A207A}"/>
                </a:ext>
              </a:extLst>
            </p:cNvPr>
            <p:cNvSpPr/>
            <p:nvPr/>
          </p:nvSpPr>
          <p:spPr>
            <a:xfrm>
              <a:off x="5960542" y="4740428"/>
              <a:ext cx="2368069" cy="1013885"/>
            </a:xfrm>
            <a:prstGeom prst="rect">
              <a:avLst/>
            </a:prstGeom>
            <a:solidFill>
              <a:srgbClr val="070F26"/>
            </a:solidFill>
            <a:ln w="9525">
              <a:solidFill>
                <a:srgbClr val="2A3D63"/>
              </a:solidFill>
            </a:ln>
            <a:effectLst>
              <a:outerShdw>
                <a:srgbClr val="000000">
                  <a:alpha val="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47650" tIns="228600" rIns="247650" bIns="228600"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146898" y="5190749"/>
              <a:ext cx="2052637" cy="417909"/>
            </a:xfrm>
            <a:prstGeom prst="rect">
              <a:avLst/>
            </a:prstGeom>
            <a:noFill/>
            <a:ln>
              <a:noFill/>
            </a:ln>
            <a:effectLst>
              <a:outerShdw>
                <a:srgbClr val="000000">
                  <a:alpha val="0"/>
                </a:srgbClr>
              </a:outerShdw>
            </a:effec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97600"/>
                </a:lnSpc>
                <a:defRPr sz="900" b="0" i="0">
                  <a:solidFill>
                    <a:srgbClr val="FFFFFF"/>
                  </a:solidFill>
                  <a:latin typeface="Arial"/>
                </a:defRPr>
              </a:pPr>
              <a:r>
                <a:rPr sz="900" b="0" i="0" dirty="0">
                  <a:solidFill>
                    <a:srgbClr val="FFFFFF"/>
                  </a:solidFill>
                  <a:latin typeface="Arial"/>
                </a:rPr>
                <a:t>Las </a:t>
              </a:r>
              <a:r>
                <a:rPr sz="900" b="0" i="1" dirty="0">
                  <a:solidFill>
                    <a:srgbClr val="FFFFFF"/>
                  </a:solidFill>
                  <a:latin typeface="Arial"/>
                </a:rPr>
                <a:t>responses</a:t>
              </a:r>
              <a:r>
                <a:rPr sz="900" b="0" i="0" dirty="0">
                  <a:solidFill>
                    <a:srgbClr val="FFFFFF"/>
                  </a:solidFill>
                  <a:latin typeface="Arial"/>
                </a:rPr>
                <a:t> indican </a:t>
              </a:r>
              <a:r>
                <a:rPr sz="900" b="0" i="0" dirty="0" err="1">
                  <a:solidFill>
                    <a:srgbClr val="FFFFFF"/>
                  </a:solidFill>
                  <a:latin typeface="Arial"/>
                </a:rPr>
                <a:t>códigos</a:t>
              </a:r>
              <a:r>
                <a:rPr sz="900" b="0" i="0" dirty="0">
                  <a:solidFill>
                    <a:srgbClr val="FFFFFF"/>
                  </a:solidFill>
                  <a:latin typeface="Arial"/>
                </a:rPr>
                <a:t> HTTP y </a:t>
              </a:r>
              <a:r>
                <a:rPr sz="900" b="0" i="0" dirty="0" err="1">
                  <a:solidFill>
                    <a:srgbClr val="FFFFFF"/>
                  </a:solidFill>
                  <a:latin typeface="Arial"/>
                </a:rPr>
                <a:t>estructuras</a:t>
              </a:r>
              <a:r>
                <a:rPr sz="900" b="0" i="0" dirty="0">
                  <a:solidFill>
                    <a:srgbClr val="FFFFFF"/>
                  </a:solidFill>
                  <a:latin typeface="Arial"/>
                </a:rPr>
                <a:t> de salida. </a:t>
              </a:r>
              <a:r>
                <a:rPr sz="900" b="0" i="1" dirty="0">
                  <a:solidFill>
                    <a:srgbClr val="FFFFFF"/>
                  </a:solidFill>
                  <a:latin typeface="Arial"/>
                </a:rPr>
                <a:t>Components</a:t>
              </a:r>
              <a:r>
                <a:rPr sz="900" b="0" i="0" dirty="0">
                  <a:solidFill>
                    <a:srgbClr val="FFFFFF"/>
                  </a:solidFill>
                  <a:latin typeface="Arial"/>
                </a:rPr>
                <a:t> y </a:t>
              </a:r>
              <a:r>
                <a:rPr sz="900" b="0" i="1" dirty="0">
                  <a:solidFill>
                    <a:srgbClr val="FFFFFF"/>
                  </a:solidFill>
                  <a:latin typeface="Arial"/>
                </a:rPr>
                <a:t>schemas</a:t>
              </a:r>
              <a:r>
                <a:rPr sz="900" b="0" i="0" dirty="0">
                  <a:solidFill>
                    <a:srgbClr val="FFFFFF"/>
                  </a:solidFill>
                  <a:latin typeface="Arial"/>
                </a:rPr>
                <a:t> </a:t>
              </a:r>
              <a:r>
                <a:rPr sz="900" b="0" i="0" dirty="0" err="1">
                  <a:solidFill>
                    <a:srgbClr val="FFFFFF"/>
                  </a:solidFill>
                  <a:latin typeface="Arial"/>
                </a:rPr>
                <a:t>permiten</a:t>
              </a:r>
              <a:r>
                <a:rPr sz="900" b="0" i="0" dirty="0">
                  <a:solidFill>
                    <a:srgbClr val="FFFFFF"/>
                  </a:solidFill>
                  <a:latin typeface="Arial"/>
                </a:rPr>
                <a:t> </a:t>
              </a:r>
              <a:r>
                <a:rPr sz="900" b="0" i="0" dirty="0" err="1">
                  <a:solidFill>
                    <a:srgbClr val="FFFFFF"/>
                  </a:solidFill>
                  <a:latin typeface="Arial"/>
                </a:rPr>
                <a:t>reutilizar</a:t>
              </a:r>
              <a:r>
                <a:rPr sz="900" b="0" i="0" dirty="0">
                  <a:solidFill>
                    <a:srgbClr val="FFFFFF"/>
                  </a:solidFill>
                  <a:latin typeface="Arial"/>
                </a:rPr>
                <a:t> </a:t>
              </a:r>
              <a:r>
                <a:rPr sz="900" b="0" i="0" dirty="0" err="1">
                  <a:solidFill>
                    <a:srgbClr val="FFFFFF"/>
                  </a:solidFill>
                  <a:latin typeface="Arial"/>
                </a:rPr>
                <a:t>modelos</a:t>
              </a:r>
              <a:r>
                <a:rPr sz="900" b="0" i="0" dirty="0">
                  <a:solidFill>
                    <a:srgbClr val="FFFFFF"/>
                  </a:solidFill>
                  <a:latin typeface="Arial"/>
                </a:rPr>
                <a:t>.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146898" y="4805173"/>
              <a:ext cx="2052637" cy="202555"/>
            </a:xfrm>
            <a:prstGeom prst="rect">
              <a:avLst/>
            </a:prstGeom>
            <a:noFill/>
            <a:ln>
              <a:noFill/>
            </a:ln>
            <a:effectLst>
              <a:outerShdw>
                <a:srgbClr val="000000">
                  <a:alpha val="0"/>
                </a:srgbClr>
              </a:outerShdw>
            </a:effec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89600"/>
                </a:lnSpc>
                <a:defRPr sz="1425" b="1" i="0">
                  <a:solidFill>
                    <a:srgbClr val="FFFFFF"/>
                  </a:solidFill>
                  <a:latin typeface="Georgia"/>
                </a:defRPr>
              </a:pPr>
              <a:r>
                <a:rPr lang="en-US" sz="1425" b="1" i="0" dirty="0">
                  <a:solidFill>
                    <a:srgbClr val="FFFFFF"/>
                  </a:solidFill>
                  <a:latin typeface="Georgia"/>
                </a:rPr>
                <a:t>4. </a:t>
              </a:r>
              <a:r>
                <a:rPr sz="1425" b="1" i="0" dirty="0" err="1">
                  <a:solidFill>
                    <a:srgbClr val="FFFFFF"/>
                  </a:solidFill>
                  <a:latin typeface="Georgia"/>
                </a:rPr>
                <a:t>Salidas</a:t>
              </a:r>
              <a:r>
                <a:rPr sz="1425" b="1" i="0" dirty="0">
                  <a:solidFill>
                    <a:srgbClr val="FFFFFF"/>
                  </a:solidFill>
                  <a:latin typeface="Georgia"/>
                </a:rPr>
                <a:t> y </a:t>
              </a:r>
              <a:r>
                <a:rPr sz="1425" b="1" i="0" dirty="0" err="1">
                  <a:solidFill>
                    <a:srgbClr val="FFFFFF"/>
                  </a:solidFill>
                  <a:latin typeface="Georgia"/>
                </a:rPr>
                <a:t>modelos</a:t>
              </a:r>
              <a:endParaRPr sz="1425" b="1" i="0" dirty="0">
                <a:solidFill>
                  <a:srgbClr val="FFFFFF"/>
                </a:solidFill>
                <a:latin typeface="Georgia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58725" y="669025"/>
            <a:ext cx="10610850" cy="505122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1600"/>
              </a:lnSpc>
              <a:defRPr sz="3900" b="1" i="0">
                <a:solidFill>
                  <a:srgbClr val="E8E8E8"/>
                </a:solidFill>
                <a:latin typeface="Georgia"/>
              </a:defRPr>
            </a:pPr>
            <a:r>
              <a:rPr sz="3900" b="1" i="0" dirty="0">
                <a:solidFill>
                  <a:srgbClr val="E8E8E8"/>
                </a:solidFill>
                <a:latin typeface="Georgia"/>
              </a:rPr>
              <a:t>Paths, </a:t>
            </a:r>
            <a:r>
              <a:rPr sz="3900" b="1" i="0" dirty="0" err="1">
                <a:solidFill>
                  <a:srgbClr val="E8E8E8"/>
                </a:solidFill>
                <a:latin typeface="Georgia"/>
              </a:rPr>
              <a:t>operaciones</a:t>
            </a:r>
            <a:r>
              <a:rPr sz="3900" b="1" i="0" dirty="0">
                <a:solidFill>
                  <a:srgbClr val="E8E8E8"/>
                </a:solidFill>
                <a:latin typeface="Georgia"/>
              </a:rPr>
              <a:t> y </a:t>
            </a:r>
            <a:r>
              <a:rPr sz="3900" b="1" i="0" dirty="0" err="1">
                <a:solidFill>
                  <a:srgbClr val="E8E8E8"/>
                </a:solidFill>
                <a:latin typeface="Georgia"/>
              </a:rPr>
              <a:t>parámetros</a:t>
            </a:r>
            <a:endParaRPr sz="3900" b="1" i="0" dirty="0">
              <a:solidFill>
                <a:srgbClr val="E8E8E8"/>
              </a:solidFill>
              <a:latin typeface="Georgi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0100" y="1169532"/>
            <a:ext cx="10401300" cy="415498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defRPr sz="1350" b="0" i="0">
                <a:solidFill>
                  <a:srgbClr val="E8E8E8"/>
                </a:solidFill>
                <a:latin typeface="Arial"/>
              </a:defRPr>
            </a:pPr>
            <a:r>
              <a:rPr sz="1350" b="0" i="0" dirty="0">
                <a:solidFill>
                  <a:srgbClr val="E8E8E8"/>
                </a:solidFill>
                <a:latin typeface="Arial"/>
              </a:rPr>
              <a:t>Cada </a:t>
            </a:r>
            <a:r>
              <a:rPr sz="1350" b="0" i="1" dirty="0">
                <a:solidFill>
                  <a:srgbClr val="E8E8E8"/>
                </a:solidFill>
                <a:latin typeface="Arial"/>
              </a:rPr>
              <a:t>path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representa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un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recurso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,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como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1350" b="0" i="1" dirty="0">
                <a:solidFill>
                  <a:srgbClr val="E8E8E8"/>
                </a:solidFill>
                <a:latin typeface="Arial"/>
              </a:rPr>
              <a:t>/</a:t>
            </a:r>
            <a:r>
              <a:rPr lang="es-PE" sz="1350" dirty="0" err="1">
                <a:solidFill>
                  <a:srgbClr val="E8E8E8"/>
                </a:solidFill>
                <a:latin typeface="Arial"/>
              </a:rPr>
              <a:t>categories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o </a:t>
            </a:r>
            <a:r>
              <a:rPr sz="1350" b="0" i="1" dirty="0">
                <a:solidFill>
                  <a:srgbClr val="E8E8E8"/>
                </a:solidFill>
                <a:latin typeface="Arial"/>
              </a:rPr>
              <a:t>/</a:t>
            </a:r>
            <a:r>
              <a:rPr lang="es-PE" sz="1350" dirty="0" err="1">
                <a:solidFill>
                  <a:srgbClr val="E8E8E8"/>
                </a:solidFill>
                <a:latin typeface="Arial"/>
              </a:rPr>
              <a:t>categories</a:t>
            </a:r>
            <a:r>
              <a:rPr sz="1350" b="0" i="1" dirty="0">
                <a:solidFill>
                  <a:srgbClr val="E8E8E8"/>
                </a:solidFill>
                <a:latin typeface="Arial"/>
              </a:rPr>
              <a:t>/{id}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.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Sobre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él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se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definen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métodos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1350" b="1" i="0" dirty="0">
                <a:solidFill>
                  <a:srgbClr val="E8E8E8"/>
                </a:solidFill>
                <a:latin typeface="Arial"/>
              </a:rPr>
              <a:t>GET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, </a:t>
            </a:r>
            <a:r>
              <a:rPr sz="1350" b="1" i="0" dirty="0">
                <a:solidFill>
                  <a:srgbClr val="E8E8E8"/>
                </a:solidFill>
                <a:latin typeface="Arial"/>
              </a:rPr>
              <a:t>POST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, </a:t>
            </a:r>
            <a:r>
              <a:rPr sz="1350" b="1" i="0" dirty="0">
                <a:solidFill>
                  <a:srgbClr val="E8E8E8"/>
                </a:solidFill>
                <a:latin typeface="Arial"/>
              </a:rPr>
              <a:t>PUT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y </a:t>
            </a:r>
            <a:r>
              <a:rPr sz="1350" b="1" i="0" dirty="0">
                <a:solidFill>
                  <a:srgbClr val="E8E8E8"/>
                </a:solidFill>
                <a:latin typeface="Arial"/>
              </a:rPr>
              <a:t>DELETE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. Los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parámetros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aportan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datos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de entrada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en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1350" b="0" i="1" dirty="0">
                <a:solidFill>
                  <a:srgbClr val="E8E8E8"/>
                </a:solidFill>
                <a:latin typeface="Arial"/>
              </a:rPr>
              <a:t>path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, </a:t>
            </a:r>
            <a:r>
              <a:rPr sz="1350" b="0" i="1" dirty="0">
                <a:solidFill>
                  <a:srgbClr val="E8E8E8"/>
                </a:solidFill>
                <a:latin typeface="Arial"/>
              </a:rPr>
              <a:t>query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y </a:t>
            </a:r>
            <a:r>
              <a:rPr sz="1350" b="0" i="1" dirty="0">
                <a:solidFill>
                  <a:srgbClr val="E8E8E8"/>
                </a:solidFill>
                <a:latin typeface="Arial"/>
              </a:rPr>
              <a:t>header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448324"/>
            <a:ext cx="10610850" cy="13335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1050" b="1" i="0" spc="450">
                <a:solidFill>
                  <a:srgbClr val="19A3FC"/>
                </a:solidFill>
                <a:latin typeface="Arial"/>
              </a:defRPr>
            </a:pPr>
            <a:r>
              <a:rPr sz="1050" b="1" i="0">
                <a:solidFill>
                  <a:srgbClr val="19A3FC"/>
                </a:solidFill>
                <a:latin typeface="Arial"/>
              </a:rPr>
              <a:t>01 - Fundamentos</a:t>
            </a:r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CBAECAAC-C3B9-E009-67D6-17BCE5886427}"/>
              </a:ext>
            </a:extLst>
          </p:cNvPr>
          <p:cNvGrpSpPr/>
          <p:nvPr/>
        </p:nvGrpSpPr>
        <p:grpSpPr>
          <a:xfrm>
            <a:off x="5078384" y="4136715"/>
            <a:ext cx="6750164" cy="691673"/>
            <a:chOff x="6162675" y="3143547"/>
            <a:chExt cx="2547937" cy="1138893"/>
          </a:xfrm>
        </p:grpSpPr>
        <p:sp>
          <p:nvSpPr>
            <p:cNvPr id="4" name="Rectangle 3"/>
            <p:cNvSpPr/>
            <p:nvPr/>
          </p:nvSpPr>
          <p:spPr>
            <a:xfrm>
              <a:off x="6162675" y="3143547"/>
              <a:ext cx="2547937" cy="1138893"/>
            </a:xfrm>
            <a:prstGeom prst="rect">
              <a:avLst/>
            </a:prstGeom>
            <a:solidFill>
              <a:srgbClr val="070F26"/>
            </a:solidFill>
            <a:ln w="9525">
              <a:solidFill>
                <a:srgbClr val="2A3D63"/>
              </a:solidFill>
            </a:ln>
            <a:effectLst>
              <a:outerShdw>
                <a:srgbClr val="000000">
                  <a:alpha val="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47650" tIns="228600" rIns="247650" bIns="228600"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286499" y="3720002"/>
              <a:ext cx="2052637" cy="417909"/>
            </a:xfrm>
            <a:prstGeom prst="rect">
              <a:avLst/>
            </a:prstGeom>
            <a:noFill/>
            <a:ln>
              <a:noFill/>
            </a:ln>
            <a:effectLst>
              <a:outerShdw>
                <a:srgbClr val="000000">
                  <a:alpha val="0"/>
                </a:srgbClr>
              </a:outerShdw>
            </a:effec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97600"/>
                </a:lnSpc>
                <a:defRPr sz="900" b="0" i="0">
                  <a:solidFill>
                    <a:srgbClr val="E8E8E8"/>
                  </a:solidFill>
                  <a:latin typeface="Arial"/>
                </a:defRPr>
              </a:pP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Los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parámetros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de </a:t>
              </a:r>
              <a:r>
                <a:rPr sz="900" b="0" i="1" dirty="0">
                  <a:solidFill>
                    <a:srgbClr val="E8E8E8"/>
                  </a:solidFill>
                  <a:latin typeface="Arial"/>
                </a:rPr>
                <a:t>path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identifican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recursos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;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los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de </a:t>
              </a:r>
              <a:r>
                <a:rPr sz="900" b="0" i="1" dirty="0">
                  <a:solidFill>
                    <a:srgbClr val="E8E8E8"/>
                  </a:solidFill>
                  <a:latin typeface="Arial"/>
                </a:rPr>
                <a:t>query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filtran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,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ordenan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o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paginan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resultados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.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286499" y="3280394"/>
              <a:ext cx="2052637" cy="405110"/>
            </a:xfrm>
            <a:prstGeom prst="rect">
              <a:avLst/>
            </a:prstGeom>
            <a:noFill/>
            <a:ln>
              <a:noFill/>
            </a:ln>
            <a:effectLst>
              <a:outerShdw>
                <a:srgbClr val="000000">
                  <a:alpha val="0"/>
                </a:srgbClr>
              </a:outerShdw>
            </a:effec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89600"/>
                </a:lnSpc>
                <a:defRPr sz="1425" b="1" i="0">
                  <a:solidFill>
                    <a:srgbClr val="E8E8E8"/>
                  </a:solidFill>
                  <a:latin typeface="Georgia"/>
                </a:defRPr>
              </a:pPr>
              <a:r>
                <a:rPr sz="1425" b="1" i="0" dirty="0" err="1">
                  <a:solidFill>
                    <a:srgbClr val="E8E8E8"/>
                  </a:solidFill>
                  <a:latin typeface="Georgia"/>
                </a:rPr>
                <a:t>Parámetros</a:t>
              </a:r>
              <a:r>
                <a:rPr sz="1425" b="1" i="0" dirty="0">
                  <a:solidFill>
                    <a:srgbClr val="E8E8E8"/>
                  </a:solidFill>
                  <a:latin typeface="Georgia"/>
                </a:rPr>
                <a:t> de path y query</a:t>
              </a:r>
            </a:p>
          </p:txBody>
        </p: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8EAF9F1B-06E2-8548-B34B-EB6C3A4444E4}"/>
              </a:ext>
            </a:extLst>
          </p:cNvPr>
          <p:cNvGrpSpPr/>
          <p:nvPr/>
        </p:nvGrpSpPr>
        <p:grpSpPr>
          <a:xfrm>
            <a:off x="5078384" y="2011245"/>
            <a:ext cx="6816436" cy="792674"/>
            <a:chOff x="800100" y="3143547"/>
            <a:chExt cx="2547937" cy="1138892"/>
          </a:xfrm>
        </p:grpSpPr>
        <p:sp>
          <p:nvSpPr>
            <p:cNvPr id="2" name="Rectangle 1"/>
            <p:cNvSpPr/>
            <p:nvPr/>
          </p:nvSpPr>
          <p:spPr>
            <a:xfrm>
              <a:off x="800100" y="3143547"/>
              <a:ext cx="2547937" cy="1138892"/>
            </a:xfrm>
            <a:prstGeom prst="rect">
              <a:avLst/>
            </a:prstGeom>
            <a:solidFill>
              <a:srgbClr val="070F26"/>
            </a:solidFill>
            <a:ln w="9525">
              <a:solidFill>
                <a:srgbClr val="2A3D63"/>
              </a:solidFill>
            </a:ln>
            <a:effectLst>
              <a:outerShdw>
                <a:srgbClr val="000000">
                  <a:alpha val="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47650" tIns="228600" rIns="247650" bIns="228600"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22720" y="3630482"/>
              <a:ext cx="2052637" cy="417910"/>
            </a:xfrm>
            <a:prstGeom prst="rect">
              <a:avLst/>
            </a:prstGeom>
            <a:noFill/>
            <a:ln>
              <a:noFill/>
            </a:ln>
            <a:effectLst>
              <a:outerShdw>
                <a:srgbClr val="000000">
                  <a:alpha val="0"/>
                </a:srgbClr>
              </a:outerShdw>
            </a:effec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97600"/>
                </a:lnSpc>
                <a:defRPr sz="900" b="0" i="0">
                  <a:solidFill>
                    <a:srgbClr val="E8E8E8"/>
                  </a:solidFill>
                  <a:latin typeface="Arial"/>
                </a:defRPr>
              </a:pP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Un </a:t>
              </a:r>
              <a:r>
                <a:rPr sz="900" b="0" i="1" dirty="0">
                  <a:solidFill>
                    <a:srgbClr val="E8E8E8"/>
                  </a:solidFill>
                  <a:latin typeface="Arial"/>
                </a:rPr>
                <a:t>path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identifica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un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recurso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o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colección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,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por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ejemplo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</a:t>
              </a:r>
              <a:r>
                <a:rPr sz="900" b="0" i="1" dirty="0">
                  <a:solidFill>
                    <a:srgbClr val="E8E8E8"/>
                  </a:solidFill>
                  <a:latin typeface="Arial"/>
                </a:rPr>
                <a:t>/products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o </a:t>
              </a:r>
              <a:r>
                <a:rPr sz="900" b="0" i="1" dirty="0">
                  <a:solidFill>
                    <a:srgbClr val="E8E8E8"/>
                  </a:solidFill>
                  <a:latin typeface="Arial"/>
                </a:rPr>
                <a:t>/products/{id}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.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23925" y="3280394"/>
              <a:ext cx="2052637" cy="202555"/>
            </a:xfrm>
            <a:prstGeom prst="rect">
              <a:avLst/>
            </a:prstGeom>
            <a:noFill/>
            <a:ln>
              <a:noFill/>
            </a:ln>
            <a:effectLst>
              <a:outerShdw>
                <a:srgbClr val="000000">
                  <a:alpha val="0"/>
                </a:srgbClr>
              </a:outerShdw>
            </a:effec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89600"/>
                </a:lnSpc>
                <a:defRPr sz="1425" b="1" i="0">
                  <a:solidFill>
                    <a:srgbClr val="E8E8E8"/>
                  </a:solidFill>
                  <a:latin typeface="Georgia"/>
                </a:defRPr>
              </a:pPr>
              <a:r>
                <a:rPr sz="1425" b="1" i="0" dirty="0">
                  <a:solidFill>
                    <a:srgbClr val="E8E8E8"/>
                  </a:solidFill>
                  <a:latin typeface="Georgia"/>
                </a:rPr>
                <a:t>Paths </a:t>
              </a:r>
              <a:r>
                <a:rPr sz="1425" b="1" i="0" dirty="0" err="1">
                  <a:solidFill>
                    <a:srgbClr val="E8E8E8"/>
                  </a:solidFill>
                  <a:latin typeface="Georgia"/>
                </a:rPr>
                <a:t>como</a:t>
              </a:r>
              <a:r>
                <a:rPr sz="1425" b="1" i="0" dirty="0">
                  <a:solidFill>
                    <a:srgbClr val="E8E8E8"/>
                  </a:solidFill>
                  <a:latin typeface="Georgia"/>
                </a:rPr>
                <a:t> </a:t>
              </a:r>
              <a:r>
                <a:rPr sz="1425" b="1" i="0" dirty="0" err="1">
                  <a:solidFill>
                    <a:srgbClr val="E8E8E8"/>
                  </a:solidFill>
                  <a:latin typeface="Georgia"/>
                </a:rPr>
                <a:t>recursos</a:t>
              </a:r>
              <a:endParaRPr sz="1425" b="1" i="0" dirty="0">
                <a:solidFill>
                  <a:srgbClr val="E8E8E8"/>
                </a:solidFill>
                <a:latin typeface="Georgia"/>
              </a:endParaRPr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9C796588-239A-A785-5CCE-2582965C0DAB}"/>
              </a:ext>
            </a:extLst>
          </p:cNvPr>
          <p:cNvGrpSpPr/>
          <p:nvPr/>
        </p:nvGrpSpPr>
        <p:grpSpPr>
          <a:xfrm>
            <a:off x="5078384" y="3101326"/>
            <a:ext cx="6816435" cy="792674"/>
            <a:chOff x="3481387" y="3143547"/>
            <a:chExt cx="2547937" cy="1138892"/>
          </a:xfrm>
        </p:grpSpPr>
        <p:sp>
          <p:nvSpPr>
            <p:cNvPr id="3" name="Rectangle 2"/>
            <p:cNvSpPr/>
            <p:nvPr/>
          </p:nvSpPr>
          <p:spPr>
            <a:xfrm>
              <a:off x="3481387" y="3143547"/>
              <a:ext cx="2547937" cy="1138892"/>
            </a:xfrm>
            <a:prstGeom prst="rect">
              <a:avLst/>
            </a:prstGeom>
            <a:solidFill>
              <a:srgbClr val="070F26"/>
            </a:solidFill>
            <a:ln w="9525">
              <a:solidFill>
                <a:srgbClr val="2A3D63"/>
              </a:solidFill>
            </a:ln>
            <a:effectLst>
              <a:outerShdw>
                <a:srgbClr val="000000">
                  <a:alpha val="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47650" tIns="228600" rIns="247650" bIns="228600"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605211" y="3626746"/>
              <a:ext cx="2052637" cy="417910"/>
            </a:xfrm>
            <a:prstGeom prst="rect">
              <a:avLst/>
            </a:prstGeom>
            <a:noFill/>
            <a:ln>
              <a:noFill/>
            </a:ln>
            <a:effectLst>
              <a:outerShdw>
                <a:srgbClr val="000000">
                  <a:alpha val="0"/>
                </a:srgbClr>
              </a:outerShdw>
            </a:effec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97600"/>
                </a:lnSpc>
                <a:defRPr sz="900" b="0" i="0">
                  <a:solidFill>
                    <a:srgbClr val="E8E8E8"/>
                  </a:solidFill>
                  <a:latin typeface="Arial"/>
                </a:defRPr>
              </a:pP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Cada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recurso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describe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acciones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con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métodos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como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</a:t>
              </a:r>
              <a:r>
                <a:rPr sz="900" b="1" i="0" dirty="0">
                  <a:solidFill>
                    <a:srgbClr val="E8E8E8"/>
                  </a:solidFill>
                  <a:latin typeface="Arial"/>
                </a:rPr>
                <a:t>GET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, </a:t>
              </a:r>
              <a:r>
                <a:rPr sz="900" b="1" i="0" dirty="0">
                  <a:solidFill>
                    <a:srgbClr val="E8E8E8"/>
                  </a:solidFill>
                  <a:latin typeface="Arial"/>
                </a:rPr>
                <a:t>POST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, </a:t>
              </a:r>
              <a:r>
                <a:rPr sz="900" b="1" i="0" dirty="0">
                  <a:solidFill>
                    <a:srgbClr val="E8E8E8"/>
                  </a:solidFill>
                  <a:latin typeface="Arial"/>
                </a:rPr>
                <a:t>PUT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y </a:t>
              </a:r>
              <a:r>
                <a:rPr sz="900" b="1" i="0" dirty="0">
                  <a:solidFill>
                    <a:srgbClr val="E8E8E8"/>
                  </a:solidFill>
                  <a:latin typeface="Arial"/>
                </a:rPr>
                <a:t>DELETE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.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605212" y="3280394"/>
              <a:ext cx="2052637" cy="202555"/>
            </a:xfrm>
            <a:prstGeom prst="rect">
              <a:avLst/>
            </a:prstGeom>
            <a:noFill/>
            <a:ln>
              <a:noFill/>
            </a:ln>
            <a:effectLst>
              <a:outerShdw>
                <a:srgbClr val="000000">
                  <a:alpha val="0"/>
                </a:srgbClr>
              </a:outerShdw>
            </a:effec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89600"/>
                </a:lnSpc>
                <a:defRPr sz="1425" b="1" i="0">
                  <a:solidFill>
                    <a:srgbClr val="E8E8E8"/>
                  </a:solidFill>
                  <a:latin typeface="Georgia"/>
                </a:defRPr>
              </a:pPr>
              <a:r>
                <a:rPr sz="1425" b="1" i="0" dirty="0" err="1">
                  <a:solidFill>
                    <a:srgbClr val="E8E8E8"/>
                  </a:solidFill>
                  <a:latin typeface="Georgia"/>
                </a:rPr>
                <a:t>Operaciones</a:t>
              </a:r>
              <a:r>
                <a:rPr sz="1425" b="1" i="0" dirty="0">
                  <a:solidFill>
                    <a:srgbClr val="E8E8E8"/>
                  </a:solidFill>
                  <a:latin typeface="Georgia"/>
                </a:rPr>
                <a:t> HTTP</a:t>
              </a:r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04C0A1EB-3189-4A75-D34F-DF42C4106EA0}"/>
              </a:ext>
            </a:extLst>
          </p:cNvPr>
          <p:cNvGrpSpPr/>
          <p:nvPr/>
        </p:nvGrpSpPr>
        <p:grpSpPr>
          <a:xfrm>
            <a:off x="5078384" y="5058280"/>
            <a:ext cx="6750164" cy="758973"/>
            <a:chOff x="8843962" y="3143547"/>
            <a:chExt cx="2547937" cy="1138893"/>
          </a:xfrm>
        </p:grpSpPr>
        <p:sp>
          <p:nvSpPr>
            <p:cNvPr id="5" name="Rectangle 4"/>
            <p:cNvSpPr/>
            <p:nvPr/>
          </p:nvSpPr>
          <p:spPr>
            <a:xfrm>
              <a:off x="8843962" y="3143547"/>
              <a:ext cx="2547937" cy="1138893"/>
            </a:xfrm>
            <a:prstGeom prst="rect">
              <a:avLst/>
            </a:prstGeom>
            <a:solidFill>
              <a:srgbClr val="14213D"/>
            </a:solidFill>
            <a:ln w="9525">
              <a:solidFill>
                <a:srgbClr val="070F26"/>
              </a:solidFill>
            </a:ln>
            <a:effectLst>
              <a:outerShdw>
                <a:srgbClr val="000000">
                  <a:alpha val="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47650" tIns="228600" rIns="247650" bIns="228600" rtlCol="0" anchor="ctr"/>
            <a:lstStyle/>
            <a:p>
              <a:pPr algn="ctr"/>
              <a:endParaRPr u="sng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969003" y="3660864"/>
              <a:ext cx="2052637" cy="417909"/>
            </a:xfrm>
            <a:prstGeom prst="rect">
              <a:avLst/>
            </a:prstGeom>
            <a:noFill/>
            <a:ln>
              <a:noFill/>
            </a:ln>
            <a:effectLst>
              <a:outerShdw>
                <a:srgbClr val="000000">
                  <a:alpha val="0"/>
                </a:srgbClr>
              </a:outerShdw>
            </a:effec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97600"/>
                </a:lnSpc>
                <a:defRPr sz="900" b="0" i="0">
                  <a:solidFill>
                    <a:srgbClr val="FFFFFF"/>
                  </a:solidFill>
                  <a:latin typeface="Arial"/>
                </a:defRPr>
              </a:pPr>
              <a:r>
                <a:rPr sz="900" b="0" i="0" dirty="0">
                  <a:solidFill>
                    <a:srgbClr val="FFFFFF"/>
                  </a:solidFill>
                  <a:latin typeface="Arial"/>
                </a:rPr>
                <a:t>Los </a:t>
              </a:r>
              <a:r>
                <a:rPr sz="900" b="0" i="0" dirty="0" err="1">
                  <a:solidFill>
                    <a:srgbClr val="FFFFFF"/>
                  </a:solidFill>
                  <a:latin typeface="Arial"/>
                </a:rPr>
                <a:t>parámetros</a:t>
              </a:r>
              <a:r>
                <a:rPr sz="900" b="0" i="0" dirty="0">
                  <a:solidFill>
                    <a:srgbClr val="FFFFFF"/>
                  </a:solidFill>
                  <a:latin typeface="Arial"/>
                </a:rPr>
                <a:t> </a:t>
              </a:r>
              <a:r>
                <a:rPr sz="900" b="0" i="0" dirty="0" err="1">
                  <a:solidFill>
                    <a:srgbClr val="FFFFFF"/>
                  </a:solidFill>
                  <a:latin typeface="Arial"/>
                </a:rPr>
                <a:t>en</a:t>
              </a:r>
              <a:r>
                <a:rPr sz="900" b="0" i="0" dirty="0">
                  <a:solidFill>
                    <a:srgbClr val="FFFFFF"/>
                  </a:solidFill>
                  <a:latin typeface="Arial"/>
                </a:rPr>
                <a:t> </a:t>
              </a:r>
              <a:r>
                <a:rPr sz="900" b="0" i="1" dirty="0">
                  <a:solidFill>
                    <a:srgbClr val="FFFFFF"/>
                  </a:solidFill>
                  <a:latin typeface="Arial"/>
                </a:rPr>
                <a:t>header</a:t>
              </a:r>
              <a:r>
                <a:rPr sz="900" b="0" i="0" dirty="0">
                  <a:solidFill>
                    <a:srgbClr val="FFFFFF"/>
                  </a:solidFill>
                  <a:latin typeface="Arial"/>
                </a:rPr>
                <a:t> </a:t>
              </a:r>
              <a:r>
                <a:rPr sz="900" b="0" i="0" dirty="0" err="1">
                  <a:solidFill>
                    <a:srgbClr val="FFFFFF"/>
                  </a:solidFill>
                  <a:latin typeface="Arial"/>
                </a:rPr>
                <a:t>envían</a:t>
              </a:r>
              <a:r>
                <a:rPr sz="900" b="0" i="0" dirty="0">
                  <a:solidFill>
                    <a:srgbClr val="FFFFFF"/>
                  </a:solidFill>
                  <a:latin typeface="Arial"/>
                </a:rPr>
                <a:t> </a:t>
              </a:r>
              <a:r>
                <a:rPr sz="900" b="0" i="0" dirty="0" err="1">
                  <a:solidFill>
                    <a:srgbClr val="FFFFFF"/>
                  </a:solidFill>
                  <a:latin typeface="Arial"/>
                </a:rPr>
                <a:t>metadatos</a:t>
              </a:r>
              <a:r>
                <a:rPr sz="900" b="0" i="0" dirty="0">
                  <a:solidFill>
                    <a:srgbClr val="FFFFFF"/>
                  </a:solidFill>
                  <a:latin typeface="Arial"/>
                </a:rPr>
                <a:t> o control contextual, </a:t>
              </a:r>
              <a:r>
                <a:rPr sz="900" b="0" i="0" dirty="0" err="1">
                  <a:solidFill>
                    <a:srgbClr val="FFFFFF"/>
                  </a:solidFill>
                  <a:latin typeface="Arial"/>
                </a:rPr>
                <a:t>como</a:t>
              </a:r>
              <a:r>
                <a:rPr sz="900" b="0" i="0" dirty="0">
                  <a:solidFill>
                    <a:srgbClr val="FFFFFF"/>
                  </a:solidFill>
                  <a:latin typeface="Arial"/>
                </a:rPr>
                <a:t> </a:t>
              </a:r>
              <a:r>
                <a:rPr sz="900" b="0" i="0" dirty="0" err="1">
                  <a:solidFill>
                    <a:srgbClr val="FFFFFF"/>
                  </a:solidFill>
                  <a:latin typeface="Arial"/>
                </a:rPr>
                <a:t>autenticación</a:t>
              </a:r>
              <a:r>
                <a:rPr sz="900" b="0" i="0" dirty="0">
                  <a:solidFill>
                    <a:srgbClr val="FFFFFF"/>
                  </a:solidFill>
                  <a:latin typeface="Arial"/>
                </a:rPr>
                <a:t>, </a:t>
              </a:r>
              <a:r>
                <a:rPr sz="900" b="0" i="0" dirty="0" err="1">
                  <a:solidFill>
                    <a:srgbClr val="FFFFFF"/>
                  </a:solidFill>
                  <a:latin typeface="Arial"/>
                </a:rPr>
                <a:t>idioma</a:t>
              </a:r>
              <a:r>
                <a:rPr sz="900" b="0" i="0" dirty="0">
                  <a:solidFill>
                    <a:srgbClr val="FFFFFF"/>
                  </a:solidFill>
                  <a:latin typeface="Arial"/>
                </a:rPr>
                <a:t> o </a:t>
              </a:r>
              <a:r>
                <a:rPr sz="900" b="0" i="0" dirty="0" err="1">
                  <a:solidFill>
                    <a:srgbClr val="FFFFFF"/>
                  </a:solidFill>
                  <a:latin typeface="Arial"/>
                </a:rPr>
                <a:t>versión</a:t>
              </a:r>
              <a:r>
                <a:rPr sz="900" b="0" i="0" dirty="0">
                  <a:solidFill>
                    <a:srgbClr val="FFFFFF"/>
                  </a:solidFill>
                  <a:latin typeface="Arial"/>
                </a:rPr>
                <a:t>.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969003" y="3280393"/>
              <a:ext cx="2052637" cy="202555"/>
            </a:xfrm>
            <a:prstGeom prst="rect">
              <a:avLst/>
            </a:prstGeom>
            <a:noFill/>
            <a:ln>
              <a:noFill/>
            </a:ln>
            <a:effectLst>
              <a:outerShdw>
                <a:srgbClr val="000000">
                  <a:alpha val="0"/>
                </a:srgbClr>
              </a:outerShdw>
            </a:effec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89600"/>
                </a:lnSpc>
                <a:defRPr sz="1425" b="1" i="0">
                  <a:solidFill>
                    <a:srgbClr val="FFFFFF"/>
                  </a:solidFill>
                  <a:latin typeface="Georgia"/>
                </a:defRPr>
              </a:pPr>
              <a:r>
                <a:rPr sz="1425" b="1" i="0" dirty="0">
                  <a:solidFill>
                    <a:srgbClr val="FFFFFF"/>
                  </a:solidFill>
                  <a:latin typeface="Georgia"/>
                </a:rPr>
                <a:t>Headers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6064150" y="6515100"/>
            <a:ext cx="82748" cy="1905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none" lIns="0" tIns="0" rIns="0" bIns="0">
            <a:spAutoFit/>
          </a:bodyPr>
          <a:lstStyle/>
          <a:p>
            <a:pPr>
              <a:lnSpc>
                <a:spcPct val="133333"/>
              </a:lnSpc>
              <a:defRPr sz="900" b="0" i="0">
                <a:solidFill>
                  <a:srgbClr val="E8E8E8"/>
                </a:solidFill>
                <a:latin typeface="Arial"/>
              </a:defRPr>
            </a:pPr>
            <a:r>
              <a:rPr sz="900" b="0" i="0">
                <a:solidFill>
                  <a:srgbClr val="E8E8E8"/>
                </a:solidFill>
                <a:latin typeface="Arial"/>
              </a:rPr>
              <a:t>6</a:t>
            </a:r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07917E2B-933C-7B0B-C9F9-F022F8AC5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674654"/>
            <a:ext cx="39308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00100" y="632354"/>
            <a:ext cx="10610850" cy="505122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1600"/>
              </a:lnSpc>
              <a:defRPr sz="3900" b="1" i="0">
                <a:solidFill>
                  <a:srgbClr val="E8E8E8"/>
                </a:solidFill>
                <a:latin typeface="Georgia"/>
              </a:defRPr>
            </a:pPr>
            <a:r>
              <a:rPr sz="3900" b="1" i="0" dirty="0">
                <a:solidFill>
                  <a:srgbClr val="E8E8E8"/>
                </a:solidFill>
                <a:latin typeface="Georgia"/>
              </a:rPr>
              <a:t>Request Body, </a:t>
            </a:r>
            <a:r>
              <a:rPr sz="3900" b="1" i="0" dirty="0" err="1">
                <a:solidFill>
                  <a:srgbClr val="E8E8E8"/>
                </a:solidFill>
                <a:latin typeface="Georgia"/>
              </a:rPr>
              <a:t>respuestas</a:t>
            </a:r>
            <a:r>
              <a:rPr sz="3900" b="1" i="0" dirty="0">
                <a:solidFill>
                  <a:srgbClr val="E8E8E8"/>
                </a:solidFill>
                <a:latin typeface="Georgia"/>
              </a:rPr>
              <a:t> y schemas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1178567"/>
            <a:ext cx="10401300" cy="428625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defRPr sz="1350" b="0" i="0">
                <a:solidFill>
                  <a:srgbClr val="E8E8E8"/>
                </a:solidFill>
                <a:latin typeface="Arial"/>
              </a:defRPr>
            </a:pPr>
            <a:r>
              <a:rPr sz="1350" b="0" i="0" dirty="0" err="1">
                <a:solidFill>
                  <a:srgbClr val="E8E8E8"/>
                </a:solidFill>
                <a:latin typeface="Arial"/>
              </a:rPr>
              <a:t>OpenAPI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define el </a:t>
            </a:r>
            <a:r>
              <a:rPr sz="1350" b="0" i="1" dirty="0">
                <a:solidFill>
                  <a:srgbClr val="E8E8E8"/>
                </a:solidFill>
                <a:latin typeface="Arial"/>
              </a:rPr>
              <a:t>request body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y las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respuestas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esperadas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.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Conviene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documentar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códigos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como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1350" b="0" i="1" dirty="0">
                <a:solidFill>
                  <a:srgbClr val="E8E8E8"/>
                </a:solidFill>
                <a:latin typeface="Arial"/>
              </a:rPr>
              <a:t>200, 201, 400, 401 y 404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. Con </a:t>
            </a:r>
            <a:r>
              <a:rPr sz="1350" b="0" i="1" dirty="0">
                <a:solidFill>
                  <a:srgbClr val="E8E8E8"/>
                </a:solidFill>
                <a:latin typeface="Arial"/>
              </a:rPr>
              <a:t>components/schemas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se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reutilizan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DTOs y se reduce la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duplicación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361950"/>
            <a:ext cx="10610850" cy="13335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1050" b="1" i="0" spc="450">
                <a:solidFill>
                  <a:srgbClr val="19A3FC"/>
                </a:solidFill>
                <a:latin typeface="Arial"/>
              </a:defRPr>
            </a:pPr>
            <a:r>
              <a:rPr sz="1050" b="1" i="0" dirty="0">
                <a:solidFill>
                  <a:srgbClr val="19A3FC"/>
                </a:solidFill>
                <a:latin typeface="Arial"/>
              </a:rPr>
              <a:t>01 - </a:t>
            </a:r>
            <a:r>
              <a:rPr sz="1050" b="1" i="0" dirty="0" err="1">
                <a:solidFill>
                  <a:srgbClr val="19A3FC"/>
                </a:solidFill>
                <a:latin typeface="Arial"/>
              </a:rPr>
              <a:t>Fundamentos</a:t>
            </a:r>
            <a:endParaRPr sz="1050" b="1" i="0" dirty="0">
              <a:solidFill>
                <a:srgbClr val="19A3FC"/>
              </a:solidFill>
              <a:latin typeface="Arial"/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D4C19442-DE35-F138-3D33-0DC493DCC628}"/>
              </a:ext>
            </a:extLst>
          </p:cNvPr>
          <p:cNvGrpSpPr/>
          <p:nvPr/>
        </p:nvGrpSpPr>
        <p:grpSpPr>
          <a:xfrm>
            <a:off x="5144657" y="3204639"/>
            <a:ext cx="6816436" cy="622695"/>
            <a:chOff x="800100" y="3143547"/>
            <a:chExt cx="2547937" cy="1123653"/>
          </a:xfrm>
        </p:grpSpPr>
        <p:sp>
          <p:nvSpPr>
            <p:cNvPr id="2" name="Rectangle 1"/>
            <p:cNvSpPr/>
            <p:nvPr/>
          </p:nvSpPr>
          <p:spPr>
            <a:xfrm>
              <a:off x="800100" y="3143547"/>
              <a:ext cx="2547937" cy="1123653"/>
            </a:xfrm>
            <a:prstGeom prst="rect">
              <a:avLst/>
            </a:prstGeom>
            <a:solidFill>
              <a:srgbClr val="070F26"/>
            </a:solidFill>
            <a:ln w="9525">
              <a:solidFill>
                <a:srgbClr val="2A3D63"/>
              </a:solidFill>
            </a:ln>
            <a:effectLst>
              <a:outerShdw>
                <a:srgbClr val="000000">
                  <a:alpha val="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47650" tIns="228600" rIns="247650" bIns="228600"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057275" y="3691967"/>
              <a:ext cx="2052637" cy="417909"/>
            </a:xfrm>
            <a:prstGeom prst="rect">
              <a:avLst/>
            </a:prstGeom>
            <a:noFill/>
            <a:ln>
              <a:noFill/>
            </a:ln>
            <a:effectLst>
              <a:outerShdw>
                <a:srgbClr val="000000">
                  <a:alpha val="0"/>
                </a:srgbClr>
              </a:outerShdw>
            </a:effec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97600"/>
                </a:lnSpc>
                <a:defRPr sz="900" b="0" i="0">
                  <a:solidFill>
                    <a:srgbClr val="E8E8E8"/>
                  </a:solidFill>
                  <a:latin typeface="Arial"/>
                </a:defRPr>
              </a:pP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Describe la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estructura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de entrada, campos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requeridos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,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tipos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y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ejemplos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para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que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el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contrato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sea claro.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47749" y="3327722"/>
              <a:ext cx="2052637" cy="202555"/>
            </a:xfrm>
            <a:prstGeom prst="rect">
              <a:avLst/>
            </a:prstGeom>
            <a:noFill/>
            <a:ln>
              <a:noFill/>
            </a:ln>
            <a:effectLst>
              <a:outerShdw>
                <a:srgbClr val="000000">
                  <a:alpha val="0"/>
                </a:srgbClr>
              </a:outerShdw>
            </a:effec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89600"/>
                </a:lnSpc>
                <a:defRPr sz="1425" b="1" i="0">
                  <a:solidFill>
                    <a:srgbClr val="E8E8E8"/>
                  </a:solidFill>
                  <a:latin typeface="Georgia"/>
                </a:defRPr>
              </a:pPr>
              <a:r>
                <a:rPr sz="1425" b="1" i="0" dirty="0" err="1">
                  <a:solidFill>
                    <a:srgbClr val="E8E8E8"/>
                  </a:solidFill>
                  <a:latin typeface="Georgia"/>
                </a:rPr>
                <a:t>Definir</a:t>
              </a:r>
              <a:r>
                <a:rPr sz="1425" b="1" i="0" dirty="0">
                  <a:solidFill>
                    <a:srgbClr val="E8E8E8"/>
                  </a:solidFill>
                  <a:latin typeface="Georgia"/>
                </a:rPr>
                <a:t> request body</a:t>
              </a:r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DB384FEC-C960-22E2-C525-FD77E333D6A4}"/>
              </a:ext>
            </a:extLst>
          </p:cNvPr>
          <p:cNvGrpSpPr/>
          <p:nvPr/>
        </p:nvGrpSpPr>
        <p:grpSpPr>
          <a:xfrm>
            <a:off x="5144657" y="2347190"/>
            <a:ext cx="6816436" cy="505123"/>
            <a:chOff x="3481387" y="3143547"/>
            <a:chExt cx="2547937" cy="1123653"/>
          </a:xfrm>
        </p:grpSpPr>
        <p:sp>
          <p:nvSpPr>
            <p:cNvPr id="3" name="Rectangle 2"/>
            <p:cNvSpPr/>
            <p:nvPr/>
          </p:nvSpPr>
          <p:spPr>
            <a:xfrm>
              <a:off x="3481387" y="3143547"/>
              <a:ext cx="2547937" cy="1123653"/>
            </a:xfrm>
            <a:prstGeom prst="rect">
              <a:avLst/>
            </a:prstGeom>
            <a:solidFill>
              <a:srgbClr val="070F26"/>
            </a:solidFill>
            <a:ln w="9525">
              <a:solidFill>
                <a:srgbClr val="2A3D63"/>
              </a:solidFill>
            </a:ln>
            <a:effectLst>
              <a:outerShdw>
                <a:srgbClr val="000000">
                  <a:alpha val="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47650" tIns="228600" rIns="247650" bIns="228600"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729036" y="3691967"/>
              <a:ext cx="2052637" cy="417909"/>
            </a:xfrm>
            <a:prstGeom prst="rect">
              <a:avLst/>
            </a:prstGeom>
            <a:noFill/>
            <a:ln>
              <a:noFill/>
            </a:ln>
            <a:effectLst>
              <a:outerShdw>
                <a:srgbClr val="000000">
                  <a:alpha val="0"/>
                </a:srgbClr>
              </a:outerShdw>
            </a:effec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97600"/>
                </a:lnSpc>
                <a:defRPr sz="900" b="0" i="0">
                  <a:solidFill>
                    <a:srgbClr val="E8E8E8"/>
                  </a:solidFill>
                  <a:latin typeface="Arial"/>
                </a:defRPr>
              </a:pP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Especifica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respuestas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exitosas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y de error con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su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código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HTTP,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cuerpo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y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significado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esperado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.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729036" y="3241356"/>
              <a:ext cx="2052637" cy="202555"/>
            </a:xfrm>
            <a:prstGeom prst="rect">
              <a:avLst/>
            </a:prstGeom>
            <a:noFill/>
            <a:ln>
              <a:noFill/>
            </a:ln>
            <a:effectLst>
              <a:outerShdw>
                <a:srgbClr val="000000">
                  <a:alpha val="0"/>
                </a:srgbClr>
              </a:outerShdw>
            </a:effec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89600"/>
                </a:lnSpc>
                <a:defRPr sz="1425" b="1" i="0">
                  <a:solidFill>
                    <a:srgbClr val="E8E8E8"/>
                  </a:solidFill>
                  <a:latin typeface="Georgia"/>
                </a:defRPr>
              </a:pPr>
              <a:r>
                <a:rPr sz="1425" b="1" i="0" dirty="0" err="1">
                  <a:solidFill>
                    <a:srgbClr val="E8E8E8"/>
                  </a:solidFill>
                  <a:latin typeface="Georgia"/>
                </a:rPr>
                <a:t>Documentar</a:t>
              </a:r>
              <a:r>
                <a:rPr sz="1425" b="1" i="0" dirty="0">
                  <a:solidFill>
                    <a:srgbClr val="E8E8E8"/>
                  </a:solidFill>
                  <a:latin typeface="Georgia"/>
                </a:rPr>
                <a:t> </a:t>
              </a:r>
              <a:r>
                <a:rPr sz="1425" b="1" i="0" dirty="0" err="1">
                  <a:solidFill>
                    <a:srgbClr val="E8E8E8"/>
                  </a:solidFill>
                  <a:latin typeface="Georgia"/>
                </a:rPr>
                <a:t>respuestas</a:t>
              </a:r>
              <a:endParaRPr sz="1425" b="1" i="0" dirty="0">
                <a:solidFill>
                  <a:srgbClr val="E8E8E8"/>
                </a:solidFill>
                <a:latin typeface="Georgia"/>
              </a:endParaRPr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1AF9BF0D-6CDA-EDC0-D2BE-3C30127C4AFA}"/>
              </a:ext>
            </a:extLst>
          </p:cNvPr>
          <p:cNvGrpSpPr/>
          <p:nvPr/>
        </p:nvGrpSpPr>
        <p:grpSpPr>
          <a:xfrm>
            <a:off x="5144657" y="4096132"/>
            <a:ext cx="6816436" cy="622695"/>
            <a:chOff x="6162675" y="3143547"/>
            <a:chExt cx="2547937" cy="1123653"/>
          </a:xfrm>
        </p:grpSpPr>
        <p:sp>
          <p:nvSpPr>
            <p:cNvPr id="4" name="Rectangle 3"/>
            <p:cNvSpPr/>
            <p:nvPr/>
          </p:nvSpPr>
          <p:spPr>
            <a:xfrm>
              <a:off x="6162675" y="3143547"/>
              <a:ext cx="2547937" cy="1123653"/>
            </a:xfrm>
            <a:prstGeom prst="rect">
              <a:avLst/>
            </a:prstGeom>
            <a:solidFill>
              <a:srgbClr val="070F26"/>
            </a:solidFill>
            <a:ln w="9525">
              <a:solidFill>
                <a:srgbClr val="2A3D63"/>
              </a:solidFill>
            </a:ln>
            <a:effectLst>
              <a:outerShdw>
                <a:srgbClr val="000000">
                  <a:alpha val="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47650" tIns="228600" rIns="247650" bIns="228600"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410323" y="3777590"/>
              <a:ext cx="2052637" cy="417909"/>
            </a:xfrm>
            <a:prstGeom prst="rect">
              <a:avLst/>
            </a:prstGeom>
            <a:noFill/>
            <a:ln>
              <a:noFill/>
            </a:ln>
            <a:effectLst>
              <a:outerShdw>
                <a:srgbClr val="000000">
                  <a:alpha val="0"/>
                </a:srgbClr>
              </a:outerShdw>
            </a:effec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97600"/>
                </a:lnSpc>
                <a:defRPr sz="900" b="0" i="0">
                  <a:solidFill>
                    <a:srgbClr val="E8E8E8"/>
                  </a:solidFill>
                  <a:latin typeface="Arial"/>
                </a:defRPr>
              </a:pP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Centraliza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DTOs de entrada y salida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en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</a:t>
              </a:r>
              <a:r>
                <a:rPr sz="900" b="0" i="1" dirty="0">
                  <a:solidFill>
                    <a:srgbClr val="E8E8E8"/>
                  </a:solidFill>
                  <a:latin typeface="Arial"/>
                </a:rPr>
                <a:t>components/schemas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para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mantener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</a:t>
              </a:r>
              <a:r>
                <a:rPr sz="900" b="0" i="0" dirty="0" err="1">
                  <a:solidFill>
                    <a:srgbClr val="E8E8E8"/>
                  </a:solidFill>
                  <a:latin typeface="Arial"/>
                </a:rPr>
                <a:t>consistencia</a:t>
              </a:r>
              <a:r>
                <a:rPr sz="900" b="0" i="0" dirty="0">
                  <a:solidFill>
                    <a:srgbClr val="E8E8E8"/>
                  </a:solidFill>
                  <a:latin typeface="Arial"/>
                </a:rPr>
                <a:t> entre endpoints.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410324" y="3327721"/>
              <a:ext cx="2052637" cy="202555"/>
            </a:xfrm>
            <a:prstGeom prst="rect">
              <a:avLst/>
            </a:prstGeom>
            <a:noFill/>
            <a:ln>
              <a:noFill/>
            </a:ln>
            <a:effectLst>
              <a:outerShdw>
                <a:srgbClr val="000000">
                  <a:alpha val="0"/>
                </a:srgbClr>
              </a:outerShdw>
            </a:effec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89600"/>
                </a:lnSpc>
                <a:defRPr sz="1425" b="1" i="0">
                  <a:solidFill>
                    <a:srgbClr val="E8E8E8"/>
                  </a:solidFill>
                  <a:latin typeface="Georgia"/>
                </a:defRPr>
              </a:pPr>
              <a:r>
                <a:rPr sz="1425" b="1" i="0" dirty="0" err="1">
                  <a:solidFill>
                    <a:srgbClr val="E8E8E8"/>
                  </a:solidFill>
                  <a:latin typeface="Georgia"/>
                </a:rPr>
                <a:t>Reutilizar</a:t>
              </a:r>
              <a:r>
                <a:rPr sz="1425" b="1" i="0" dirty="0">
                  <a:solidFill>
                    <a:srgbClr val="E8E8E8"/>
                  </a:solidFill>
                  <a:latin typeface="Georgia"/>
                </a:rPr>
                <a:t> con schemas</a:t>
              </a:r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C6D44D58-FEA4-5477-DD3B-D4EA2E7ED05C}"/>
              </a:ext>
            </a:extLst>
          </p:cNvPr>
          <p:cNvGrpSpPr/>
          <p:nvPr/>
        </p:nvGrpSpPr>
        <p:grpSpPr>
          <a:xfrm>
            <a:off x="5144657" y="4987625"/>
            <a:ext cx="6816436" cy="458430"/>
            <a:chOff x="8843962" y="3143547"/>
            <a:chExt cx="2547937" cy="1123653"/>
          </a:xfrm>
        </p:grpSpPr>
        <p:sp>
          <p:nvSpPr>
            <p:cNvPr id="5" name="Rectangle 4"/>
            <p:cNvSpPr/>
            <p:nvPr/>
          </p:nvSpPr>
          <p:spPr>
            <a:xfrm>
              <a:off x="8843962" y="3143547"/>
              <a:ext cx="2547937" cy="1123653"/>
            </a:xfrm>
            <a:prstGeom prst="rect">
              <a:avLst/>
            </a:prstGeom>
            <a:solidFill>
              <a:srgbClr val="14213D"/>
            </a:solidFill>
            <a:ln w="9525">
              <a:solidFill>
                <a:srgbClr val="070F26"/>
              </a:solidFill>
            </a:ln>
            <a:effectLst>
              <a:outerShdw>
                <a:srgbClr val="000000">
                  <a:alpha val="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47650" tIns="228600" rIns="247650" bIns="228600"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082088" y="3777590"/>
              <a:ext cx="2052637" cy="417909"/>
            </a:xfrm>
            <a:prstGeom prst="rect">
              <a:avLst/>
            </a:prstGeom>
            <a:noFill/>
            <a:ln>
              <a:noFill/>
            </a:ln>
            <a:effectLst>
              <a:outerShdw>
                <a:srgbClr val="000000">
                  <a:alpha val="0"/>
                </a:srgbClr>
              </a:outerShdw>
            </a:effec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97600"/>
                </a:lnSpc>
                <a:defRPr sz="900" b="0" i="0">
                  <a:solidFill>
                    <a:srgbClr val="FFFFFF"/>
                  </a:solidFill>
                  <a:latin typeface="Arial"/>
                </a:defRPr>
              </a:pPr>
              <a:r>
                <a:rPr sz="900" b="0" i="0" dirty="0" err="1">
                  <a:solidFill>
                    <a:srgbClr val="FFFFFF"/>
                  </a:solidFill>
                  <a:latin typeface="Arial"/>
                </a:rPr>
                <a:t>Reusar</a:t>
              </a:r>
              <a:r>
                <a:rPr sz="900" b="0" i="0" dirty="0">
                  <a:solidFill>
                    <a:srgbClr val="FFFFFF"/>
                  </a:solidFill>
                  <a:latin typeface="Arial"/>
                </a:rPr>
                <a:t> </a:t>
              </a:r>
              <a:r>
                <a:rPr sz="900" b="0" i="0" dirty="0" err="1">
                  <a:solidFill>
                    <a:srgbClr val="FFFFFF"/>
                  </a:solidFill>
                  <a:latin typeface="Arial"/>
                </a:rPr>
                <a:t>definiciones</a:t>
              </a:r>
              <a:r>
                <a:rPr sz="900" b="0" i="0" dirty="0">
                  <a:solidFill>
                    <a:srgbClr val="FFFFFF"/>
                  </a:solidFill>
                  <a:latin typeface="Arial"/>
                </a:rPr>
                <a:t> </a:t>
              </a:r>
              <a:r>
                <a:rPr sz="900" b="0" i="0" dirty="0" err="1">
                  <a:solidFill>
                    <a:srgbClr val="FFFFFF"/>
                  </a:solidFill>
                  <a:latin typeface="Arial"/>
                </a:rPr>
                <a:t>comunes</a:t>
              </a:r>
              <a:r>
                <a:rPr sz="900" b="0" i="0" dirty="0">
                  <a:solidFill>
                    <a:srgbClr val="FFFFFF"/>
                  </a:solidFill>
                  <a:latin typeface="Arial"/>
                </a:rPr>
                <a:t> </a:t>
              </a:r>
              <a:r>
                <a:rPr sz="900" b="0" i="0" dirty="0" err="1">
                  <a:solidFill>
                    <a:srgbClr val="FFFFFF"/>
                  </a:solidFill>
                  <a:latin typeface="Arial"/>
                </a:rPr>
                <a:t>mejora</a:t>
              </a:r>
              <a:r>
                <a:rPr sz="900" b="0" i="0" dirty="0">
                  <a:solidFill>
                    <a:srgbClr val="FFFFFF"/>
                  </a:solidFill>
                  <a:latin typeface="Arial"/>
                </a:rPr>
                <a:t> la </a:t>
              </a:r>
              <a:r>
                <a:rPr sz="900" b="0" i="0" dirty="0" err="1">
                  <a:solidFill>
                    <a:srgbClr val="FFFFFF"/>
                  </a:solidFill>
                  <a:latin typeface="Arial"/>
                </a:rPr>
                <a:t>lectura</a:t>
              </a:r>
              <a:r>
                <a:rPr sz="900" b="0" i="0" dirty="0">
                  <a:solidFill>
                    <a:srgbClr val="FFFFFF"/>
                  </a:solidFill>
                  <a:latin typeface="Arial"/>
                </a:rPr>
                <a:t>, </a:t>
              </a:r>
              <a:r>
                <a:rPr sz="900" b="0" i="0" dirty="0" err="1">
                  <a:solidFill>
                    <a:srgbClr val="FFFFFF"/>
                  </a:solidFill>
                  <a:latin typeface="Arial"/>
                </a:rPr>
                <a:t>facilita</a:t>
              </a:r>
              <a:r>
                <a:rPr sz="900" b="0" i="0" dirty="0">
                  <a:solidFill>
                    <a:srgbClr val="FFFFFF"/>
                  </a:solidFill>
                  <a:latin typeface="Arial"/>
                </a:rPr>
                <a:t> </a:t>
              </a:r>
              <a:r>
                <a:rPr sz="900" b="0" i="0" dirty="0" err="1">
                  <a:solidFill>
                    <a:srgbClr val="FFFFFF"/>
                  </a:solidFill>
                  <a:latin typeface="Arial"/>
                </a:rPr>
                <a:t>cambios</a:t>
              </a:r>
              <a:r>
                <a:rPr sz="900" b="0" i="0" dirty="0">
                  <a:solidFill>
                    <a:srgbClr val="FFFFFF"/>
                  </a:solidFill>
                  <a:latin typeface="Arial"/>
                </a:rPr>
                <a:t> y </a:t>
              </a:r>
              <a:r>
                <a:rPr sz="900" b="0" i="0" dirty="0" err="1">
                  <a:solidFill>
                    <a:srgbClr val="FFFFFF"/>
                  </a:solidFill>
                  <a:latin typeface="Arial"/>
                </a:rPr>
                <a:t>alinea</a:t>
              </a:r>
              <a:r>
                <a:rPr sz="900" b="0" i="0" dirty="0">
                  <a:solidFill>
                    <a:srgbClr val="FFFFFF"/>
                  </a:solidFill>
                  <a:latin typeface="Arial"/>
                </a:rPr>
                <a:t> </a:t>
              </a:r>
              <a:r>
                <a:rPr sz="900" b="0" i="0" dirty="0" err="1">
                  <a:solidFill>
                    <a:srgbClr val="FFFFFF"/>
                  </a:solidFill>
                  <a:latin typeface="Arial"/>
                </a:rPr>
                <a:t>implementación</a:t>
              </a:r>
              <a:r>
                <a:rPr sz="900" b="0" i="0" dirty="0">
                  <a:solidFill>
                    <a:srgbClr val="FFFFFF"/>
                  </a:solidFill>
                  <a:latin typeface="Arial"/>
                </a:rPr>
                <a:t> y </a:t>
              </a:r>
              <a:r>
                <a:rPr sz="900" b="0" i="0" dirty="0" err="1">
                  <a:solidFill>
                    <a:srgbClr val="FFFFFF"/>
                  </a:solidFill>
                  <a:latin typeface="Arial"/>
                </a:rPr>
                <a:t>documentación</a:t>
              </a:r>
              <a:r>
                <a:rPr sz="900" b="0" i="0" dirty="0">
                  <a:solidFill>
                    <a:srgbClr val="FFFFFF"/>
                  </a:solidFill>
                  <a:latin typeface="Arial"/>
                </a:rPr>
                <a:t>.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091611" y="3327720"/>
              <a:ext cx="2052637" cy="202555"/>
            </a:xfrm>
            <a:prstGeom prst="rect">
              <a:avLst/>
            </a:prstGeom>
            <a:noFill/>
            <a:ln>
              <a:noFill/>
            </a:ln>
            <a:effectLst>
              <a:outerShdw>
                <a:srgbClr val="000000">
                  <a:alpha val="0"/>
                </a:srgbClr>
              </a:outerShdw>
            </a:effec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89600"/>
                </a:lnSpc>
                <a:defRPr sz="1425" b="1" i="0">
                  <a:solidFill>
                    <a:srgbClr val="FFFFFF"/>
                  </a:solidFill>
                  <a:latin typeface="Georgia"/>
                </a:defRPr>
              </a:pPr>
              <a:r>
                <a:rPr sz="1425" b="1" i="0" dirty="0" err="1">
                  <a:solidFill>
                    <a:srgbClr val="FFFFFF"/>
                  </a:solidFill>
                  <a:latin typeface="Georgia"/>
                </a:rPr>
                <a:t>Mantener</a:t>
              </a:r>
              <a:r>
                <a:rPr sz="1425" b="1" i="0" dirty="0">
                  <a:solidFill>
                    <a:srgbClr val="FFFFFF"/>
                  </a:solidFill>
                  <a:latin typeface="Georgia"/>
                </a:rPr>
                <a:t> </a:t>
              </a:r>
              <a:r>
                <a:rPr sz="1425" b="1" i="0" dirty="0" err="1">
                  <a:solidFill>
                    <a:srgbClr val="FFFFFF"/>
                  </a:solidFill>
                  <a:latin typeface="Georgia"/>
                </a:rPr>
                <a:t>consistencia</a:t>
              </a:r>
              <a:endParaRPr sz="1425" b="1" i="0" dirty="0">
                <a:solidFill>
                  <a:srgbClr val="FFFFFF"/>
                </a:solidFill>
                <a:latin typeface="Georgia"/>
              </a:endParaRP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6064150" y="6515100"/>
            <a:ext cx="82748" cy="1905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none" lIns="0" tIns="0" rIns="0" bIns="0">
            <a:spAutoFit/>
          </a:bodyPr>
          <a:lstStyle/>
          <a:p>
            <a:pPr>
              <a:lnSpc>
                <a:spcPct val="133333"/>
              </a:lnSpc>
              <a:defRPr sz="900" b="0" i="0">
                <a:solidFill>
                  <a:srgbClr val="E8E8E8"/>
                </a:solidFill>
                <a:latin typeface="Arial"/>
              </a:defRPr>
            </a:pPr>
            <a:r>
              <a:rPr sz="900" b="0" i="0">
                <a:solidFill>
                  <a:srgbClr val="E8E8E8"/>
                </a:solidFill>
                <a:latin typeface="Arial"/>
              </a:rPr>
              <a:t>7</a:t>
            </a:r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10B89F03-0AD6-66B7-D036-E211C3C63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619845"/>
            <a:ext cx="3656546" cy="52689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0050" y="704850"/>
            <a:ext cx="11410950" cy="58281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none" lIns="0" tIns="0" rIns="0" bIns="0">
            <a:spAutoFit/>
          </a:bodyPr>
          <a:lstStyle/>
          <a:p>
            <a:pPr>
              <a:lnSpc>
                <a:spcPct val="81600"/>
              </a:lnSpc>
              <a:defRPr sz="4500" b="0" i="0">
                <a:solidFill>
                  <a:srgbClr val="E8E8E8"/>
                </a:solidFill>
                <a:latin typeface="Arial"/>
              </a:defRPr>
            </a:pPr>
            <a:r>
              <a:rPr sz="4500" b="0" i="0">
                <a:solidFill>
                  <a:srgbClr val="E8E8E8"/>
                </a:solidFill>
                <a:latin typeface="Arial"/>
              </a:rPr>
              <a:t>OpenAPI aplicado a ASP.NET Core</a:t>
            </a:r>
          </a:p>
        </p:txBody>
      </p:sp>
      <p:pic>
        <p:nvPicPr>
          <p:cNvPr id="3" name="Picture 2" descr="1c17cb4f-2743-4db9-a2c7-c2a326e598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1550" y="1815256"/>
            <a:ext cx="3670399" cy="1784598"/>
          </a:xfrm>
          <a:prstGeom prst="rect">
            <a:avLst/>
          </a:prstGeom>
        </p:spPr>
      </p:pic>
      <p:pic>
        <p:nvPicPr>
          <p:cNvPr id="4" name="Picture 3" descr="1c17cb4f-2743-4db9-a2c7-c2a326e598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1815256"/>
            <a:ext cx="3670250" cy="1784598"/>
          </a:xfrm>
          <a:prstGeom prst="rect">
            <a:avLst/>
          </a:prstGeom>
        </p:spPr>
      </p:pic>
      <p:pic>
        <p:nvPicPr>
          <p:cNvPr id="5" name="Picture 4" descr="1c17cb4f-2743-4db9-a2c7-c2a326e598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800" y="1815256"/>
            <a:ext cx="3670250" cy="1784598"/>
          </a:xfrm>
          <a:prstGeom prst="rect">
            <a:avLst/>
          </a:prstGeom>
        </p:spPr>
      </p:pic>
      <p:pic>
        <p:nvPicPr>
          <p:cNvPr id="6" name="Picture 5" descr="bc966017-381d-450a-b9f0-ec116bc1d1d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1550" y="3733204"/>
            <a:ext cx="3670399" cy="1658987"/>
          </a:xfrm>
          <a:prstGeom prst="rect">
            <a:avLst/>
          </a:prstGeom>
        </p:spPr>
      </p:pic>
      <p:pic>
        <p:nvPicPr>
          <p:cNvPr id="7" name="Picture 6" descr="bc966017-381d-450a-b9f0-ec116bc1d1d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" y="3733204"/>
            <a:ext cx="3670250" cy="1658987"/>
          </a:xfrm>
          <a:prstGeom prst="rect">
            <a:avLst/>
          </a:prstGeom>
        </p:spPr>
      </p:pic>
      <p:pic>
        <p:nvPicPr>
          <p:cNvPr id="8" name="Picture 7" descr="bc966017-381d-450a-b9f0-ec116bc1d1d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0800" y="3733204"/>
            <a:ext cx="3670250" cy="16589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00050" y="1430535"/>
            <a:ext cx="8523237" cy="1905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defRPr sz="1350" b="0" i="0">
                <a:solidFill>
                  <a:srgbClr val="E8E8E8"/>
                </a:solidFill>
                <a:latin typeface="Arial"/>
              </a:defRPr>
            </a:pPr>
            <a:r>
              <a:rPr sz="1350" b="0" i="0">
                <a:solidFill>
                  <a:srgbClr val="E8E8E8"/>
                </a:solidFill>
                <a:latin typeface="Arial"/>
              </a:rPr>
              <a:t>En .NET, OpenAPI se genera desde ASP.NET Core y documenta endpoints, parámetros, modelos y respuestas.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050" y="361950"/>
            <a:ext cx="11410950" cy="13335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1050" b="1" i="0" spc="375">
                <a:solidFill>
                  <a:srgbClr val="19A3FC"/>
                </a:solidFill>
                <a:latin typeface="Arial"/>
              </a:defRPr>
            </a:pPr>
            <a:r>
              <a:rPr sz="1050" b="1" i="0">
                <a:solidFill>
                  <a:srgbClr val="19A3FC"/>
                </a:solidFill>
                <a:latin typeface="Arial"/>
              </a:rPr>
              <a:t>02 - Aplicación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7775" y="2707481"/>
            <a:ext cx="3136999" cy="269676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94400"/>
              </a:lnSpc>
              <a:defRPr sz="900" b="0" i="0">
                <a:solidFill>
                  <a:srgbClr val="E8E8E8"/>
                </a:solidFill>
                <a:latin typeface="Arial"/>
              </a:defRPr>
            </a:pPr>
            <a:r>
              <a:rPr sz="900" b="0" i="0">
                <a:solidFill>
                  <a:srgbClr val="E8E8E8"/>
                </a:solidFill>
                <a:latin typeface="Arial"/>
              </a:rPr>
              <a:t>Cada endpoint puede describirse desde la implementación existente con su propósito y comportamiento.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7775" y="4625429"/>
            <a:ext cx="3136999" cy="269676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94400"/>
              </a:lnSpc>
              <a:defRPr sz="900" b="0" i="0">
                <a:solidFill>
                  <a:srgbClr val="E8E8E8"/>
                </a:solidFill>
                <a:latin typeface="Arial"/>
              </a:defRPr>
            </a:pPr>
            <a:r>
              <a:rPr sz="900" b="0" i="0" dirty="0">
                <a:solidFill>
                  <a:srgbClr val="E8E8E8"/>
                </a:solidFill>
                <a:latin typeface="Arial"/>
              </a:rPr>
              <a:t>También se </a:t>
            </a:r>
            <a:r>
              <a:rPr sz="900" b="0" i="0" dirty="0" err="1">
                <a:solidFill>
                  <a:srgbClr val="E8E8E8"/>
                </a:solidFill>
                <a:latin typeface="Arial"/>
              </a:rPr>
              <a:t>documentan</a:t>
            </a:r>
            <a:r>
              <a:rPr sz="90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E8E8E8"/>
                </a:solidFill>
                <a:latin typeface="Arial"/>
              </a:rPr>
              <a:t>códigos</a:t>
            </a:r>
            <a:r>
              <a:rPr sz="900" b="0" i="0" dirty="0">
                <a:solidFill>
                  <a:srgbClr val="E8E8E8"/>
                </a:solidFill>
                <a:latin typeface="Arial"/>
              </a:rPr>
              <a:t> de </a:t>
            </a:r>
            <a:r>
              <a:rPr sz="900" b="0" i="0" dirty="0" err="1">
                <a:solidFill>
                  <a:srgbClr val="E8E8E8"/>
                </a:solidFill>
                <a:latin typeface="Arial"/>
              </a:rPr>
              <a:t>estado</a:t>
            </a:r>
            <a:r>
              <a:rPr sz="900" b="0" i="0" dirty="0">
                <a:solidFill>
                  <a:srgbClr val="E8E8E8"/>
                </a:solidFill>
                <a:latin typeface="Arial"/>
              </a:rPr>
              <a:t> y </a:t>
            </a:r>
            <a:r>
              <a:rPr sz="900" b="0" i="0" dirty="0" err="1">
                <a:solidFill>
                  <a:srgbClr val="E8E8E8"/>
                </a:solidFill>
                <a:latin typeface="Arial"/>
              </a:rPr>
              <a:t>respuestas</a:t>
            </a:r>
            <a:r>
              <a:rPr sz="900" b="0" i="0" dirty="0">
                <a:solidFill>
                  <a:srgbClr val="E8E8E8"/>
                </a:solidFill>
                <a:latin typeface="Arial"/>
              </a:rPr>
              <a:t> para </a:t>
            </a:r>
            <a:r>
              <a:rPr sz="900" b="0" i="0" dirty="0" err="1">
                <a:solidFill>
                  <a:srgbClr val="E8E8E8"/>
                </a:solidFill>
                <a:latin typeface="Arial"/>
              </a:rPr>
              <a:t>cada</a:t>
            </a:r>
            <a:r>
              <a:rPr sz="90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E8E8E8"/>
                </a:solidFill>
                <a:latin typeface="Arial"/>
              </a:rPr>
              <a:t>operación</a:t>
            </a:r>
            <a:r>
              <a:rPr sz="90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E8E8E8"/>
                </a:solidFill>
                <a:latin typeface="Arial"/>
              </a:rPr>
              <a:t>definida</a:t>
            </a:r>
            <a:r>
              <a:rPr sz="90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E8E8E8"/>
                </a:solidFill>
                <a:latin typeface="Arial"/>
              </a:rPr>
              <a:t>en</a:t>
            </a:r>
            <a:r>
              <a:rPr sz="900" b="0" i="0" dirty="0">
                <a:solidFill>
                  <a:srgbClr val="E8E8E8"/>
                </a:solidFill>
                <a:latin typeface="Arial"/>
              </a:rPr>
              <a:t> la API.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75" y="2707481"/>
            <a:ext cx="3136850" cy="269676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94400"/>
              </a:lnSpc>
              <a:defRPr sz="900" b="0" i="0">
                <a:solidFill>
                  <a:srgbClr val="E8E8E8"/>
                </a:solidFill>
                <a:latin typeface="Arial"/>
              </a:defRPr>
            </a:pPr>
            <a:r>
              <a:rPr sz="900" b="0" i="0" dirty="0">
                <a:solidFill>
                  <a:srgbClr val="E8E8E8"/>
                </a:solidFill>
                <a:latin typeface="Arial"/>
              </a:rPr>
              <a:t>El </a:t>
            </a:r>
            <a:r>
              <a:rPr sz="900" b="0" i="0" dirty="0" err="1">
                <a:solidFill>
                  <a:srgbClr val="E8E8E8"/>
                </a:solidFill>
                <a:latin typeface="Arial"/>
              </a:rPr>
              <a:t>proyecto</a:t>
            </a:r>
            <a:r>
              <a:rPr sz="900" b="0" i="0" dirty="0">
                <a:solidFill>
                  <a:srgbClr val="E8E8E8"/>
                </a:solidFill>
                <a:latin typeface="Arial"/>
              </a:rPr>
              <a:t> se </a:t>
            </a:r>
            <a:r>
              <a:rPr sz="900" b="0" i="0" dirty="0" err="1">
                <a:solidFill>
                  <a:srgbClr val="E8E8E8"/>
                </a:solidFill>
                <a:latin typeface="Arial"/>
              </a:rPr>
              <a:t>configura</a:t>
            </a:r>
            <a:r>
              <a:rPr sz="900" b="0" i="0" dirty="0">
                <a:solidFill>
                  <a:srgbClr val="E8E8E8"/>
                </a:solidFill>
                <a:latin typeface="Arial"/>
              </a:rPr>
              <a:t> para </a:t>
            </a:r>
            <a:r>
              <a:rPr sz="900" b="0" i="0" dirty="0" err="1">
                <a:solidFill>
                  <a:srgbClr val="E8E8E8"/>
                </a:solidFill>
                <a:latin typeface="Arial"/>
              </a:rPr>
              <a:t>publicar</a:t>
            </a:r>
            <a:r>
              <a:rPr sz="900" b="0" i="0" dirty="0">
                <a:solidFill>
                  <a:srgbClr val="E8E8E8"/>
                </a:solidFill>
                <a:latin typeface="Arial"/>
              </a:rPr>
              <a:t> el </a:t>
            </a:r>
            <a:r>
              <a:rPr sz="900" b="0" i="0" dirty="0" err="1">
                <a:solidFill>
                  <a:srgbClr val="E8E8E8"/>
                </a:solidFill>
                <a:latin typeface="Arial"/>
              </a:rPr>
              <a:t>documento</a:t>
            </a:r>
            <a:r>
              <a:rPr sz="90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E8E8E8"/>
                </a:solidFill>
                <a:latin typeface="Arial"/>
              </a:rPr>
              <a:t>OpenAPI</a:t>
            </a:r>
            <a:r>
              <a:rPr sz="90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E8E8E8"/>
                </a:solidFill>
                <a:latin typeface="Arial"/>
              </a:rPr>
              <a:t>desde</a:t>
            </a:r>
            <a:r>
              <a:rPr sz="900" b="0" i="0" dirty="0">
                <a:solidFill>
                  <a:srgbClr val="E8E8E8"/>
                </a:solidFill>
                <a:latin typeface="Arial"/>
              </a:rPr>
              <a:t> la </a:t>
            </a:r>
            <a:r>
              <a:rPr sz="900" b="0" i="0" dirty="0" err="1">
                <a:solidFill>
                  <a:srgbClr val="E8E8E8"/>
                </a:solidFill>
                <a:latin typeface="Arial"/>
              </a:rPr>
              <a:t>propia</a:t>
            </a:r>
            <a:r>
              <a:rPr sz="900" b="0" i="0" dirty="0">
                <a:solidFill>
                  <a:srgbClr val="E8E8E8"/>
                </a:solidFill>
                <a:latin typeface="Arial"/>
              </a:rPr>
              <a:t> API ASP.NET Core.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7025" y="2707481"/>
            <a:ext cx="3136850" cy="269676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94400"/>
              </a:lnSpc>
              <a:defRPr sz="900" b="0" i="0">
                <a:solidFill>
                  <a:srgbClr val="E8E8E8"/>
                </a:solidFill>
                <a:latin typeface="Arial"/>
              </a:defRPr>
            </a:pPr>
            <a:r>
              <a:rPr sz="900" b="0" i="0" dirty="0">
                <a:solidFill>
                  <a:srgbClr val="E8E8E8"/>
                </a:solidFill>
                <a:latin typeface="Arial"/>
              </a:rPr>
              <a:t>La </a:t>
            </a:r>
            <a:r>
              <a:rPr sz="900" b="0" i="0" dirty="0" err="1">
                <a:solidFill>
                  <a:srgbClr val="E8E8E8"/>
                </a:solidFill>
                <a:latin typeface="Arial"/>
              </a:rPr>
              <a:t>especificación</a:t>
            </a:r>
            <a:r>
              <a:rPr sz="900" b="0" i="0" dirty="0">
                <a:solidFill>
                  <a:srgbClr val="E8E8E8"/>
                </a:solidFill>
                <a:latin typeface="Arial"/>
              </a:rPr>
              <a:t> se completa con </a:t>
            </a:r>
            <a:r>
              <a:rPr sz="900" b="0" i="0" dirty="0" err="1">
                <a:solidFill>
                  <a:srgbClr val="E8E8E8"/>
                </a:solidFill>
                <a:latin typeface="Arial"/>
              </a:rPr>
              <a:t>título</a:t>
            </a:r>
            <a:r>
              <a:rPr sz="900" b="0" i="0" dirty="0">
                <a:solidFill>
                  <a:srgbClr val="E8E8E8"/>
                </a:solidFill>
                <a:latin typeface="Arial"/>
              </a:rPr>
              <a:t>, </a:t>
            </a:r>
            <a:r>
              <a:rPr sz="900" b="0" i="0" dirty="0" err="1">
                <a:solidFill>
                  <a:srgbClr val="E8E8E8"/>
                </a:solidFill>
                <a:latin typeface="Arial"/>
              </a:rPr>
              <a:t>versión</a:t>
            </a:r>
            <a:r>
              <a:rPr sz="900" b="0" i="0" dirty="0">
                <a:solidFill>
                  <a:srgbClr val="E8E8E8"/>
                </a:solidFill>
                <a:latin typeface="Arial"/>
              </a:rPr>
              <a:t>, </a:t>
            </a:r>
            <a:r>
              <a:rPr sz="900" b="0" i="0" dirty="0" err="1">
                <a:solidFill>
                  <a:srgbClr val="E8E8E8"/>
                </a:solidFill>
                <a:latin typeface="Arial"/>
              </a:rPr>
              <a:t>descripción</a:t>
            </a:r>
            <a:r>
              <a:rPr sz="900" b="0" i="0" dirty="0">
                <a:solidFill>
                  <a:srgbClr val="E8E8E8"/>
                </a:solidFill>
                <a:latin typeface="Arial"/>
              </a:rPr>
              <a:t> y </a:t>
            </a:r>
            <a:r>
              <a:rPr sz="900" b="0" i="0" dirty="0" err="1">
                <a:solidFill>
                  <a:srgbClr val="E8E8E8"/>
                </a:solidFill>
                <a:latin typeface="Arial"/>
              </a:rPr>
              <a:t>otros</a:t>
            </a:r>
            <a:r>
              <a:rPr sz="90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E8E8E8"/>
                </a:solidFill>
                <a:latin typeface="Arial"/>
              </a:rPr>
              <a:t>datos</a:t>
            </a:r>
            <a:r>
              <a:rPr sz="90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E8E8E8"/>
                </a:solidFill>
                <a:latin typeface="Arial"/>
              </a:rPr>
              <a:t>útiles</a:t>
            </a:r>
            <a:r>
              <a:rPr sz="900" b="0" i="0" dirty="0">
                <a:solidFill>
                  <a:srgbClr val="E8E8E8"/>
                </a:solidFill>
                <a:latin typeface="Arial"/>
              </a:rPr>
              <a:t> del </a:t>
            </a:r>
            <a:r>
              <a:rPr sz="900" b="0" i="0" dirty="0" err="1">
                <a:solidFill>
                  <a:srgbClr val="E8E8E8"/>
                </a:solidFill>
                <a:latin typeface="Arial"/>
              </a:rPr>
              <a:t>servicio</a:t>
            </a:r>
            <a:r>
              <a:rPr sz="900" b="0" i="0" dirty="0">
                <a:solidFill>
                  <a:srgbClr val="E8E8E8"/>
                </a:solidFill>
                <a:latin typeface="Arial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275" y="4625429"/>
            <a:ext cx="3136850" cy="269676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94400"/>
              </a:lnSpc>
              <a:defRPr sz="900" b="0" i="0">
                <a:solidFill>
                  <a:srgbClr val="E8E8E8"/>
                </a:solidFill>
                <a:latin typeface="Arial"/>
              </a:defRPr>
            </a:pPr>
            <a:r>
              <a:rPr sz="900" b="0" i="0">
                <a:solidFill>
                  <a:srgbClr val="E8E8E8"/>
                </a:solidFill>
                <a:latin typeface="Arial"/>
              </a:rPr>
              <a:t>Se detallan parámetros de ruta, consulta o cuerpo para dejar claro qué recibe cada operación.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7025" y="4625429"/>
            <a:ext cx="3136850" cy="269676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94400"/>
              </a:lnSpc>
              <a:defRPr sz="900" b="0" i="0">
                <a:solidFill>
                  <a:srgbClr val="E8E8E8"/>
                </a:solidFill>
                <a:latin typeface="Arial"/>
              </a:defRPr>
            </a:pPr>
            <a:r>
              <a:rPr sz="900" b="0" i="0">
                <a:solidFill>
                  <a:srgbClr val="E8E8E8"/>
                </a:solidFill>
                <a:latin typeface="Arial"/>
              </a:rPr>
              <a:t>Los modelos de datos se reflejan en la especificación para mostrar estructuras y tipos esperados.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7775" y="3186707"/>
            <a:ext cx="3136999" cy="251221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96000"/>
              </a:lnSpc>
              <a:defRPr sz="825" b="0" i="0">
                <a:solidFill>
                  <a:srgbClr val="E8E8E8"/>
                </a:solidFill>
                <a:latin typeface="Arial"/>
              </a:defRPr>
            </a:pPr>
            <a:r>
              <a:rPr sz="825" b="0" i="0">
                <a:solidFill>
                  <a:srgbClr val="E8E8E8"/>
                </a:solidFill>
                <a:latin typeface="Arial"/>
              </a:rPr>
              <a:t>La documentación se mantiene cerca del código que expone la API.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275" y="3186707"/>
            <a:ext cx="3136850" cy="251221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96000"/>
              </a:lnSpc>
              <a:defRPr sz="825" b="0" i="0">
                <a:solidFill>
                  <a:srgbClr val="E8E8E8"/>
                </a:solidFill>
                <a:latin typeface="Arial"/>
              </a:defRPr>
            </a:pPr>
            <a:r>
              <a:rPr sz="825" b="0" i="0">
                <a:solidFill>
                  <a:srgbClr val="E8E8E8"/>
                </a:solidFill>
                <a:latin typeface="Arial"/>
              </a:rPr>
              <a:t>La especificación queda disponible como salida estándar del servicio.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7775" y="2301031"/>
            <a:ext cx="3136999" cy="215949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none" lIns="0" tIns="0" rIns="0" bIns="0">
            <a:spAutoFit/>
          </a:bodyPr>
          <a:lstStyle/>
          <a:p>
            <a:pPr>
              <a:lnSpc>
                <a:spcPct val="86400"/>
              </a:lnSpc>
              <a:defRPr sz="1575" b="1" i="0">
                <a:solidFill>
                  <a:srgbClr val="E8E8E8"/>
                </a:solidFill>
                <a:latin typeface="Georgia"/>
              </a:defRPr>
            </a:pPr>
            <a:r>
              <a:rPr sz="1575" b="1" i="0">
                <a:solidFill>
                  <a:srgbClr val="E8E8E8"/>
                </a:solidFill>
                <a:latin typeface="Georgia"/>
              </a:rPr>
              <a:t>Documentar operaciones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7775" y="4218979"/>
            <a:ext cx="3136999" cy="215949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none" lIns="0" tIns="0" rIns="0" bIns="0">
            <a:spAutoFit/>
          </a:bodyPr>
          <a:lstStyle/>
          <a:p>
            <a:pPr>
              <a:lnSpc>
                <a:spcPct val="86400"/>
              </a:lnSpc>
              <a:defRPr sz="1575" b="1" i="0">
                <a:solidFill>
                  <a:srgbClr val="E8E8E8"/>
                </a:solidFill>
                <a:latin typeface="Georgia"/>
              </a:defRPr>
            </a:pPr>
            <a:r>
              <a:rPr sz="1575" b="1" i="0" dirty="0" err="1">
                <a:solidFill>
                  <a:srgbClr val="E8E8E8"/>
                </a:solidFill>
                <a:latin typeface="Georgia"/>
              </a:rPr>
              <a:t>Especificar</a:t>
            </a:r>
            <a:r>
              <a:rPr sz="1575" b="1" i="0" dirty="0">
                <a:solidFill>
                  <a:srgbClr val="E8E8E8"/>
                </a:solidFill>
                <a:latin typeface="Georgia"/>
              </a:rPr>
              <a:t> </a:t>
            </a:r>
            <a:r>
              <a:rPr sz="1575" b="1" i="0" dirty="0" err="1">
                <a:solidFill>
                  <a:srgbClr val="E8E8E8"/>
                </a:solidFill>
                <a:latin typeface="Georgia"/>
              </a:rPr>
              <a:t>resultados</a:t>
            </a:r>
            <a:endParaRPr sz="1575" b="1" i="0" dirty="0">
              <a:solidFill>
                <a:srgbClr val="E8E8E8"/>
              </a:solidFill>
              <a:latin typeface="Georgi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6275" y="2301031"/>
            <a:ext cx="3136850" cy="215949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none" lIns="0" tIns="0" rIns="0" bIns="0">
            <a:spAutoFit/>
          </a:bodyPr>
          <a:lstStyle/>
          <a:p>
            <a:pPr>
              <a:lnSpc>
                <a:spcPct val="86400"/>
              </a:lnSpc>
              <a:defRPr sz="1575" b="1" i="0">
                <a:solidFill>
                  <a:srgbClr val="E8E8E8"/>
                </a:solidFill>
                <a:latin typeface="Georgia"/>
              </a:defRPr>
            </a:pPr>
            <a:r>
              <a:rPr sz="1575" b="1" i="0">
                <a:solidFill>
                  <a:srgbClr val="E8E8E8"/>
                </a:solidFill>
                <a:latin typeface="Georgia"/>
              </a:rPr>
              <a:t>Exponer el documento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7025" y="2301031"/>
            <a:ext cx="3136850" cy="215949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none" lIns="0" tIns="0" rIns="0" bIns="0">
            <a:spAutoFit/>
          </a:bodyPr>
          <a:lstStyle/>
          <a:p>
            <a:pPr>
              <a:lnSpc>
                <a:spcPct val="86400"/>
              </a:lnSpc>
              <a:defRPr sz="1575" b="1" i="0">
                <a:solidFill>
                  <a:srgbClr val="E8E8E8"/>
                </a:solidFill>
                <a:latin typeface="Georgia"/>
              </a:defRPr>
            </a:pPr>
            <a:r>
              <a:rPr sz="1575" b="1" i="0">
                <a:solidFill>
                  <a:srgbClr val="E8E8E8"/>
                </a:solidFill>
                <a:latin typeface="Georgia"/>
              </a:rPr>
              <a:t>Enriquecer la definición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275" y="4218979"/>
            <a:ext cx="3136850" cy="215949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none" lIns="0" tIns="0" rIns="0" bIns="0">
            <a:spAutoFit/>
          </a:bodyPr>
          <a:lstStyle/>
          <a:p>
            <a:pPr>
              <a:lnSpc>
                <a:spcPct val="86400"/>
              </a:lnSpc>
              <a:defRPr sz="1575" b="1" i="0">
                <a:solidFill>
                  <a:srgbClr val="E8E8E8"/>
                </a:solidFill>
                <a:latin typeface="Georgia"/>
              </a:defRPr>
            </a:pPr>
            <a:r>
              <a:rPr sz="1575" b="1" i="0">
                <a:solidFill>
                  <a:srgbClr val="E8E8E8"/>
                </a:solidFill>
                <a:latin typeface="Georgia"/>
              </a:rPr>
              <a:t>Definir entradas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7025" y="4218979"/>
            <a:ext cx="3136850" cy="215949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none" lIns="0" tIns="0" rIns="0" bIns="0">
            <a:spAutoFit/>
          </a:bodyPr>
          <a:lstStyle/>
          <a:p>
            <a:pPr>
              <a:lnSpc>
                <a:spcPct val="86400"/>
              </a:lnSpc>
              <a:defRPr sz="1575" b="1" i="0">
                <a:solidFill>
                  <a:srgbClr val="E8E8E8"/>
                </a:solidFill>
                <a:latin typeface="Georgia"/>
              </a:defRPr>
            </a:pPr>
            <a:r>
              <a:rPr sz="1575" b="1" i="0">
                <a:solidFill>
                  <a:srgbClr val="E8E8E8"/>
                </a:solidFill>
                <a:latin typeface="Georgia"/>
              </a:rPr>
              <a:t>Describir esquemas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7775" y="5104655"/>
            <a:ext cx="3136999" cy="12561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96000"/>
              </a:lnSpc>
              <a:defRPr sz="825" b="0" i="0">
                <a:solidFill>
                  <a:srgbClr val="E8E8E8"/>
                </a:solidFill>
                <a:latin typeface="Arial"/>
              </a:defRPr>
            </a:pPr>
            <a:r>
              <a:rPr sz="825" b="0" i="0" dirty="0">
                <a:solidFill>
                  <a:srgbClr val="E8E8E8"/>
                </a:solidFill>
                <a:latin typeface="Arial"/>
              </a:rPr>
              <a:t>Ayuda a </a:t>
            </a:r>
            <a:r>
              <a:rPr sz="825" b="0" i="0" dirty="0" err="1">
                <a:solidFill>
                  <a:srgbClr val="E8E8E8"/>
                </a:solidFill>
                <a:latin typeface="Arial"/>
              </a:rPr>
              <a:t>anticipar</a:t>
            </a:r>
            <a:r>
              <a:rPr sz="825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825" b="0" i="0" dirty="0" err="1">
                <a:solidFill>
                  <a:srgbClr val="E8E8E8"/>
                </a:solidFill>
                <a:latin typeface="Arial"/>
              </a:rPr>
              <a:t>casos</a:t>
            </a:r>
            <a:r>
              <a:rPr sz="825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825" b="0" i="0" dirty="0" err="1">
                <a:solidFill>
                  <a:srgbClr val="E8E8E8"/>
                </a:solidFill>
                <a:latin typeface="Arial"/>
              </a:rPr>
              <a:t>exitosos</a:t>
            </a:r>
            <a:r>
              <a:rPr sz="825" b="0" i="0" dirty="0">
                <a:solidFill>
                  <a:srgbClr val="E8E8E8"/>
                </a:solidFill>
                <a:latin typeface="Arial"/>
              </a:rPr>
              <a:t> y </a:t>
            </a:r>
            <a:r>
              <a:rPr sz="825" b="0" i="0" dirty="0" err="1">
                <a:solidFill>
                  <a:srgbClr val="E8E8E8"/>
                </a:solidFill>
                <a:latin typeface="Arial"/>
              </a:rPr>
              <a:t>errores</a:t>
            </a:r>
            <a:r>
              <a:rPr sz="825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825" b="0" i="0" dirty="0" err="1">
                <a:solidFill>
                  <a:srgbClr val="E8E8E8"/>
                </a:solidFill>
                <a:latin typeface="Arial"/>
              </a:rPr>
              <a:t>comunes</a:t>
            </a:r>
            <a:r>
              <a:rPr sz="825" b="0" i="0" dirty="0">
                <a:solidFill>
                  <a:srgbClr val="E8E8E8"/>
                </a:solidFill>
                <a:latin typeface="Arial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7025" y="3186707"/>
            <a:ext cx="3136850" cy="12561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96000"/>
              </a:lnSpc>
              <a:defRPr sz="825" b="0" i="0">
                <a:solidFill>
                  <a:srgbClr val="E8E8E8"/>
                </a:solidFill>
                <a:latin typeface="Arial"/>
              </a:defRPr>
            </a:pPr>
            <a:r>
              <a:rPr sz="825" b="0" i="0">
                <a:solidFill>
                  <a:srgbClr val="E8E8E8"/>
                </a:solidFill>
                <a:latin typeface="Arial"/>
              </a:rPr>
              <a:t>Estos campos mejoran la comprensión y el consumo de la API.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275" y="5104655"/>
            <a:ext cx="3136850" cy="12561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96000"/>
              </a:lnSpc>
              <a:defRPr sz="825" b="0" i="0">
                <a:solidFill>
                  <a:srgbClr val="E8E8E8"/>
                </a:solidFill>
                <a:latin typeface="Arial"/>
              </a:defRPr>
            </a:pPr>
            <a:r>
              <a:rPr sz="825" b="0" i="0">
                <a:solidFill>
                  <a:srgbClr val="E8E8E8"/>
                </a:solidFill>
                <a:latin typeface="Arial"/>
              </a:rPr>
              <a:t>Esto reduce ambigüedades al integrar clientes y servicios.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7025" y="5104655"/>
            <a:ext cx="3136850" cy="12561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96000"/>
              </a:lnSpc>
              <a:defRPr sz="825" b="0" i="0">
                <a:solidFill>
                  <a:srgbClr val="E8E8E8"/>
                </a:solidFill>
                <a:latin typeface="Arial"/>
              </a:defRPr>
            </a:pPr>
            <a:r>
              <a:rPr sz="825" b="0" i="0">
                <a:solidFill>
                  <a:srgbClr val="E8E8E8"/>
                </a:solidFill>
                <a:latin typeface="Arial"/>
              </a:rPr>
              <a:t>Los consumidores entienden mejor contratos, campos y formatos.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38275" y="2034331"/>
            <a:ext cx="1207144" cy="1143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825" b="1" i="0" spc="300">
                <a:solidFill>
                  <a:srgbClr val="19A3FC"/>
                </a:solidFill>
                <a:latin typeface="Arial"/>
              </a:defRPr>
            </a:pPr>
            <a:r>
              <a:rPr sz="825" b="1" i="0" dirty="0" err="1">
                <a:solidFill>
                  <a:srgbClr val="19A3FC"/>
                </a:solidFill>
                <a:latin typeface="Arial"/>
              </a:rPr>
              <a:t>configuración</a:t>
            </a:r>
            <a:endParaRPr sz="825" b="1" i="0" dirty="0">
              <a:solidFill>
                <a:srgbClr val="19A3FC"/>
              </a:solidFill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438275" y="3952279"/>
            <a:ext cx="970805" cy="1143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825" b="1" i="0" spc="300">
                <a:solidFill>
                  <a:srgbClr val="20A8FF"/>
                </a:solidFill>
                <a:latin typeface="Arial"/>
              </a:defRPr>
            </a:pPr>
            <a:r>
              <a:rPr sz="825" b="1" i="0">
                <a:solidFill>
                  <a:srgbClr val="20A8FF"/>
                </a:solidFill>
                <a:latin typeface="Arial"/>
              </a:rPr>
              <a:t>parámetros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59775" y="3952279"/>
            <a:ext cx="953392" cy="1143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825" b="1" i="0" spc="300">
                <a:solidFill>
                  <a:srgbClr val="20A8FF"/>
                </a:solidFill>
                <a:latin typeface="Arial"/>
              </a:defRPr>
            </a:pPr>
            <a:r>
              <a:rPr sz="825" b="1" i="0">
                <a:solidFill>
                  <a:srgbClr val="20A8FF"/>
                </a:solidFill>
                <a:latin typeface="Arial"/>
              </a:rPr>
              <a:t>respuestas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99025" y="2034331"/>
            <a:ext cx="886122" cy="1143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825" b="1" i="0" spc="300">
                <a:solidFill>
                  <a:srgbClr val="20A8FF"/>
                </a:solidFill>
                <a:latin typeface="Arial"/>
              </a:defRPr>
            </a:pPr>
            <a:r>
              <a:rPr sz="825" b="1" i="0">
                <a:solidFill>
                  <a:srgbClr val="20A8FF"/>
                </a:solidFill>
                <a:latin typeface="Arial"/>
              </a:rPr>
              <a:t>metadatos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59775" y="2034331"/>
            <a:ext cx="862607" cy="1143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825" b="1" i="0" spc="300">
                <a:solidFill>
                  <a:srgbClr val="19A3FC"/>
                </a:solidFill>
                <a:latin typeface="Arial"/>
              </a:defRPr>
            </a:pPr>
            <a:r>
              <a:rPr sz="825" b="1" i="0">
                <a:solidFill>
                  <a:srgbClr val="19A3FC"/>
                </a:solidFill>
                <a:latin typeface="Arial"/>
              </a:rPr>
              <a:t>endpoints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275" y="2034331"/>
            <a:ext cx="781050" cy="1143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825" b="1" i="0" spc="300">
                <a:solidFill>
                  <a:srgbClr val="19A3FC"/>
                </a:solidFill>
                <a:latin typeface="Arial"/>
              </a:defRPr>
            </a:pPr>
            <a:r>
              <a:rPr sz="825" b="1" i="0" dirty="0">
                <a:solidFill>
                  <a:srgbClr val="19A3FC"/>
                </a:solidFill>
                <a:latin typeface="Arial"/>
              </a:rPr>
              <a:t>Benefit: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37025" y="2034331"/>
            <a:ext cx="781050" cy="1143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825" b="1" i="0" spc="300">
                <a:solidFill>
                  <a:srgbClr val="20A8FF"/>
                </a:solidFill>
                <a:latin typeface="Arial"/>
              </a:defRPr>
            </a:pPr>
            <a:r>
              <a:rPr sz="825" b="1" i="0">
                <a:solidFill>
                  <a:srgbClr val="20A8FF"/>
                </a:solidFill>
                <a:latin typeface="Arial"/>
              </a:rPr>
              <a:t>Benefit: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97775" y="2034331"/>
            <a:ext cx="781050" cy="1143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825" b="1" i="0" spc="300">
                <a:solidFill>
                  <a:srgbClr val="19A3FC"/>
                </a:solidFill>
                <a:latin typeface="Arial"/>
              </a:defRPr>
            </a:pPr>
            <a:r>
              <a:rPr sz="825" b="1" i="0">
                <a:solidFill>
                  <a:srgbClr val="19A3FC"/>
                </a:solidFill>
                <a:latin typeface="Arial"/>
              </a:rPr>
              <a:t>Benefit: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275" y="3952279"/>
            <a:ext cx="781050" cy="1143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825" b="1" i="0" spc="300">
                <a:solidFill>
                  <a:srgbClr val="20A8FF"/>
                </a:solidFill>
                <a:latin typeface="Arial"/>
              </a:defRPr>
            </a:pPr>
            <a:r>
              <a:rPr sz="825" b="1" i="0">
                <a:solidFill>
                  <a:srgbClr val="20A8FF"/>
                </a:solidFill>
                <a:latin typeface="Arial"/>
              </a:rPr>
              <a:t>Benefit: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37025" y="3952279"/>
            <a:ext cx="781050" cy="1143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825" b="1" i="0" spc="300">
                <a:solidFill>
                  <a:srgbClr val="19A3FC"/>
                </a:solidFill>
                <a:latin typeface="Arial"/>
              </a:defRPr>
            </a:pPr>
            <a:r>
              <a:rPr sz="825" b="1" i="0">
                <a:solidFill>
                  <a:srgbClr val="19A3FC"/>
                </a:solidFill>
                <a:latin typeface="Arial"/>
              </a:rPr>
              <a:t>Benefit: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97775" y="3952279"/>
            <a:ext cx="781050" cy="1143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825" b="1" i="0" spc="300">
                <a:solidFill>
                  <a:srgbClr val="20A8FF"/>
                </a:solidFill>
                <a:latin typeface="Arial"/>
              </a:defRPr>
            </a:pPr>
            <a:r>
              <a:rPr sz="825" b="1" i="0">
                <a:solidFill>
                  <a:srgbClr val="20A8FF"/>
                </a:solidFill>
                <a:latin typeface="Arial"/>
              </a:rPr>
              <a:t>Benefit: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99025" y="3952279"/>
            <a:ext cx="716607" cy="1143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825" b="1" i="0" spc="300">
                <a:solidFill>
                  <a:srgbClr val="19A3FC"/>
                </a:solidFill>
                <a:latin typeface="Arial"/>
              </a:defRPr>
            </a:pPr>
            <a:r>
              <a:rPr sz="825" b="1" i="0">
                <a:solidFill>
                  <a:srgbClr val="19A3FC"/>
                </a:solidFill>
                <a:latin typeface="Arial"/>
              </a:rPr>
              <a:t>modelos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64150" y="6515100"/>
            <a:ext cx="82748" cy="1905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none" lIns="0" tIns="0" rIns="0" bIns="0">
            <a:spAutoFit/>
          </a:bodyPr>
          <a:lstStyle/>
          <a:p>
            <a:pPr>
              <a:lnSpc>
                <a:spcPct val="133333"/>
              </a:lnSpc>
              <a:defRPr sz="900" b="0" i="0">
                <a:solidFill>
                  <a:srgbClr val="E8E8E8"/>
                </a:solidFill>
                <a:latin typeface="Arial"/>
              </a:defRPr>
            </a:pPr>
            <a:r>
              <a:rPr sz="900" b="0" i="0">
                <a:solidFill>
                  <a:srgbClr val="E8E8E8"/>
                </a:solidFill>
                <a:latin typeface="Arial"/>
              </a:rPr>
              <a:t>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00050" y="5430000"/>
            <a:ext cx="11391900" cy="1040000"/>
          </a:xfrm>
          <a:prstGeom prst="rect">
            <a:avLst/>
          </a:prstGeom>
          <a:solidFill>
            <a:srgbClr val="14213D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50050" y="5510000"/>
            <a:ext cx="11091900" cy="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19A3FC"/>
                </a:solidFill>
                <a:latin typeface="Arial"/>
              </a:rPr>
              <a:t>EJEMPLO — PROGRAM.CS (.NET 9/10)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0050" y="5680000"/>
            <a:ext cx="6300000" cy="740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 b="0" i="0">
                <a:solidFill>
                  <a:srgbClr val="BFD7FF"/>
                </a:solidFill>
                <a:latin typeface="Courier New"/>
              </a:rPr>
              <a:t>builder.Services.AddOpenApi();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BFD7FF"/>
                </a:solidFill>
                <a:latin typeface="Courier New"/>
              </a:rPr>
              <a:t>app.MapOpenApi();            // /openapi/v1.json</a:t>
            </a:r>
          </a:p>
          <a:p>
            <a:pPr>
              <a:lnSpc>
                <a:spcPct val="110000"/>
              </a:lnSpc>
            </a:pPr>
            <a:r>
              <a:rPr sz="1100" b="0" i="0">
                <a:solidFill>
                  <a:srgbClr val="BFD7FF"/>
                </a:solidFill>
                <a:latin typeface="Courier New"/>
              </a:rPr>
              <a:t>app.MapScalarApiReference(); // /scalar/v1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00050" y="5680000"/>
            <a:ext cx="4541900" cy="740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50" b="0" i="1" dirty="0" err="1">
                <a:solidFill>
                  <a:srgbClr val="E8E8E8"/>
                </a:solidFill>
                <a:latin typeface="Arial"/>
              </a:rPr>
              <a:t>Desde</a:t>
            </a:r>
            <a:r>
              <a:rPr sz="1050" b="0" i="1" dirty="0">
                <a:solidFill>
                  <a:srgbClr val="E8E8E8"/>
                </a:solidFill>
                <a:latin typeface="Arial"/>
              </a:rPr>
              <a:t> .NET 9, </a:t>
            </a:r>
            <a:r>
              <a:rPr sz="1050" b="0" i="1" dirty="0" err="1">
                <a:solidFill>
                  <a:srgbClr val="E8E8E8"/>
                </a:solidFill>
                <a:latin typeface="Arial"/>
              </a:rPr>
              <a:t>Microsoft.AspNetCore.OpenApi</a:t>
            </a:r>
            <a:r>
              <a:rPr sz="1050" b="0" i="1" dirty="0">
                <a:solidFill>
                  <a:srgbClr val="E8E8E8"/>
                </a:solidFill>
                <a:latin typeface="Arial"/>
              </a:rPr>
              <a:t> genera el </a:t>
            </a:r>
            <a:r>
              <a:rPr sz="1050" b="0" i="1" dirty="0" err="1">
                <a:solidFill>
                  <a:srgbClr val="E8E8E8"/>
                </a:solidFill>
                <a:latin typeface="Arial"/>
              </a:rPr>
              <a:t>documento</a:t>
            </a:r>
            <a:r>
              <a:rPr sz="1050" b="0" i="1" dirty="0">
                <a:solidFill>
                  <a:srgbClr val="E8E8E8"/>
                </a:solidFill>
                <a:latin typeface="Arial"/>
              </a:rPr>
              <a:t> de forma </a:t>
            </a:r>
            <a:r>
              <a:rPr sz="1050" b="0" i="1" dirty="0" err="1">
                <a:solidFill>
                  <a:srgbClr val="E8E8E8"/>
                </a:solidFill>
                <a:latin typeface="Arial"/>
              </a:rPr>
              <a:t>nativa</a:t>
            </a:r>
            <a:r>
              <a:rPr sz="1050" b="0" i="1" dirty="0">
                <a:solidFill>
                  <a:srgbClr val="E8E8E8"/>
                </a:solidFill>
                <a:latin typeface="Arial"/>
              </a:rPr>
              <a:t> y </a:t>
            </a:r>
            <a:r>
              <a:rPr sz="1050" b="0" i="1" dirty="0" err="1">
                <a:solidFill>
                  <a:srgbClr val="E8E8E8"/>
                </a:solidFill>
                <a:latin typeface="Arial"/>
              </a:rPr>
              <a:t>Swashbuckle</a:t>
            </a:r>
            <a:r>
              <a:rPr sz="1050" b="0" i="1" dirty="0">
                <a:solidFill>
                  <a:srgbClr val="E8E8E8"/>
                </a:solidFill>
                <a:latin typeface="Arial"/>
              </a:rPr>
              <a:t> </a:t>
            </a:r>
            <a:r>
              <a:rPr sz="1050" b="0" i="1" dirty="0" err="1">
                <a:solidFill>
                  <a:srgbClr val="E8E8E8"/>
                </a:solidFill>
                <a:latin typeface="Arial"/>
              </a:rPr>
              <a:t>ya</a:t>
            </a:r>
            <a:r>
              <a:rPr sz="1050" b="0" i="1" dirty="0">
                <a:solidFill>
                  <a:srgbClr val="E8E8E8"/>
                </a:solidFill>
                <a:latin typeface="Arial"/>
              </a:rPr>
              <a:t> no </a:t>
            </a:r>
            <a:r>
              <a:rPr sz="1050" b="0" i="1" dirty="0" err="1">
                <a:solidFill>
                  <a:srgbClr val="E8E8E8"/>
                </a:solidFill>
                <a:latin typeface="Arial"/>
              </a:rPr>
              <a:t>viene</a:t>
            </a:r>
            <a:r>
              <a:rPr sz="1050" b="0" i="1" dirty="0">
                <a:solidFill>
                  <a:srgbClr val="E8E8E8"/>
                </a:solidFill>
                <a:latin typeface="Arial"/>
              </a:rPr>
              <a:t> </a:t>
            </a:r>
            <a:r>
              <a:rPr sz="1050" b="0" i="1" dirty="0" err="1">
                <a:solidFill>
                  <a:srgbClr val="E8E8E8"/>
                </a:solidFill>
                <a:latin typeface="Arial"/>
              </a:rPr>
              <a:t>por</a:t>
            </a:r>
            <a:r>
              <a:rPr sz="1050" b="0" i="1" dirty="0">
                <a:solidFill>
                  <a:srgbClr val="E8E8E8"/>
                </a:solidFill>
                <a:latin typeface="Arial"/>
              </a:rPr>
              <a:t> </a:t>
            </a:r>
            <a:r>
              <a:rPr sz="1050" b="0" i="1" dirty="0" err="1">
                <a:solidFill>
                  <a:srgbClr val="E8E8E8"/>
                </a:solidFill>
                <a:latin typeface="Arial"/>
              </a:rPr>
              <a:t>defecto</a:t>
            </a:r>
            <a:r>
              <a:rPr sz="1050" b="0" i="1" dirty="0">
                <a:solidFill>
                  <a:srgbClr val="E8E8E8"/>
                </a:solidFill>
                <a:latin typeface="Arial"/>
              </a:rPr>
              <a:t>. Scalar es la UI moderna </a:t>
            </a:r>
            <a:r>
              <a:rPr sz="1050" b="0" i="1" dirty="0" err="1">
                <a:solidFill>
                  <a:srgbClr val="E8E8E8"/>
                </a:solidFill>
                <a:latin typeface="Arial"/>
              </a:rPr>
              <a:t>recomendada</a:t>
            </a:r>
            <a:r>
              <a:rPr sz="1050" b="0" i="1" dirty="0">
                <a:solidFill>
                  <a:srgbClr val="E8E8E8"/>
                </a:solidFill>
                <a:latin typeface="Arial"/>
              </a:rPr>
              <a:t> para </a:t>
            </a:r>
            <a:r>
              <a:rPr sz="1050" b="0" i="1" dirty="0" err="1">
                <a:solidFill>
                  <a:srgbClr val="E8E8E8"/>
                </a:solidFill>
                <a:latin typeface="Arial"/>
              </a:rPr>
              <a:t>explorar</a:t>
            </a:r>
            <a:r>
              <a:rPr sz="1050" b="0" i="1" dirty="0">
                <a:solidFill>
                  <a:srgbClr val="E8E8E8"/>
                </a:solidFill>
                <a:latin typeface="Arial"/>
              </a:rPr>
              <a:t> y </a:t>
            </a:r>
            <a:r>
              <a:rPr sz="1050" b="0" i="1" dirty="0" err="1">
                <a:solidFill>
                  <a:srgbClr val="E8E8E8"/>
                </a:solidFill>
                <a:latin typeface="Arial"/>
              </a:rPr>
              <a:t>probar</a:t>
            </a:r>
            <a:r>
              <a:rPr sz="1050" b="0" i="1" dirty="0">
                <a:solidFill>
                  <a:srgbClr val="E8E8E8"/>
                </a:solidFill>
                <a:latin typeface="Arial"/>
              </a:rPr>
              <a:t> la API.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0050" y="704850"/>
            <a:ext cx="11410950" cy="58281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none" lIns="0" tIns="0" rIns="0" bIns="0">
            <a:spAutoFit/>
          </a:bodyPr>
          <a:lstStyle/>
          <a:p>
            <a:pPr>
              <a:lnSpc>
                <a:spcPct val="81600"/>
              </a:lnSpc>
              <a:defRPr sz="4500" b="0" i="0">
                <a:solidFill>
                  <a:srgbClr val="E8E8E8"/>
                </a:solidFill>
                <a:latin typeface="Arial"/>
              </a:defRPr>
            </a:pPr>
            <a:r>
              <a:rPr sz="4500" b="0" i="0">
                <a:solidFill>
                  <a:srgbClr val="E8E8E8"/>
                </a:solidFill>
                <a:latin typeface="Arial"/>
              </a:rPr>
              <a:t>Swagger UI en la práctica</a:t>
            </a:r>
          </a:p>
        </p:txBody>
      </p:sp>
      <p:pic>
        <p:nvPicPr>
          <p:cNvPr id="3" name="Picture 2" descr="bc966017-381d-450a-b9f0-ec116bc1d1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1550" y="1815256"/>
            <a:ext cx="3670399" cy="1658987"/>
          </a:xfrm>
          <a:prstGeom prst="rect">
            <a:avLst/>
          </a:prstGeom>
        </p:spPr>
      </p:pic>
      <p:pic>
        <p:nvPicPr>
          <p:cNvPr id="4" name="Picture 3" descr="bc966017-381d-450a-b9f0-ec116bc1d1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1550" y="3607593"/>
            <a:ext cx="3670399" cy="1658987"/>
          </a:xfrm>
          <a:prstGeom prst="rect">
            <a:avLst/>
          </a:prstGeom>
        </p:spPr>
      </p:pic>
      <p:pic>
        <p:nvPicPr>
          <p:cNvPr id="5" name="Picture 4" descr="bc966017-381d-450a-b9f0-ec116bc1d1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1815256"/>
            <a:ext cx="3670250" cy="1658987"/>
          </a:xfrm>
          <a:prstGeom prst="rect">
            <a:avLst/>
          </a:prstGeom>
        </p:spPr>
      </p:pic>
      <p:pic>
        <p:nvPicPr>
          <p:cNvPr id="6" name="Picture 5" descr="bc966017-381d-450a-b9f0-ec116bc1d1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800" y="1815256"/>
            <a:ext cx="3670250" cy="1658987"/>
          </a:xfrm>
          <a:prstGeom prst="rect">
            <a:avLst/>
          </a:prstGeom>
        </p:spPr>
      </p:pic>
      <p:pic>
        <p:nvPicPr>
          <p:cNvPr id="7" name="Picture 6" descr="bc966017-381d-450a-b9f0-ec116bc1d1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3607593"/>
            <a:ext cx="3670250" cy="1658987"/>
          </a:xfrm>
          <a:prstGeom prst="rect">
            <a:avLst/>
          </a:prstGeom>
        </p:spPr>
      </p:pic>
      <p:pic>
        <p:nvPicPr>
          <p:cNvPr id="8" name="Picture 7" descr="bc966017-381d-450a-b9f0-ec116bc1d1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800" y="3607593"/>
            <a:ext cx="3670250" cy="16589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00050" y="1430535"/>
            <a:ext cx="8158013" cy="1905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defRPr sz="1350" b="0" i="0">
                <a:solidFill>
                  <a:srgbClr val="E8E8E8"/>
                </a:solidFill>
                <a:latin typeface="Arial"/>
              </a:defRPr>
            </a:pPr>
            <a:r>
              <a:rPr sz="1350" b="0" i="0">
                <a:solidFill>
                  <a:srgbClr val="E8E8E8"/>
                </a:solidFill>
                <a:latin typeface="Arial"/>
              </a:rPr>
              <a:t>Documentación navegable para explorar endpoints, validar parámetros y probar respuestas en tiempo real.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050" y="361950"/>
            <a:ext cx="11410950" cy="13335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1050" b="1" i="0" spc="375">
                <a:solidFill>
                  <a:srgbClr val="19A3FC"/>
                </a:solidFill>
                <a:latin typeface="Arial"/>
              </a:defRPr>
            </a:pPr>
            <a:r>
              <a:rPr sz="1050" b="1" i="0">
                <a:solidFill>
                  <a:srgbClr val="19A3FC"/>
                </a:solidFill>
                <a:latin typeface="Arial"/>
              </a:rPr>
              <a:t>02 - Aplicación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7775" y="2707481"/>
            <a:ext cx="3136999" cy="269676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94400"/>
              </a:lnSpc>
              <a:defRPr sz="900" b="0" i="0">
                <a:solidFill>
                  <a:srgbClr val="E8E8E8"/>
                </a:solidFill>
                <a:latin typeface="Arial"/>
              </a:defRPr>
            </a:pPr>
            <a:r>
              <a:rPr sz="900" b="0" i="0">
                <a:solidFill>
                  <a:srgbClr val="E8E8E8"/>
                </a:solidFill>
                <a:latin typeface="Arial"/>
              </a:rPr>
              <a:t>Expone ejemplos y formatos de respuesta para entender qué devuelve cada endpoint y cómo consumirlo.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7775" y="4499818"/>
            <a:ext cx="3136999" cy="269676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94400"/>
              </a:lnSpc>
              <a:defRPr sz="900" b="0" i="0">
                <a:solidFill>
                  <a:srgbClr val="E8E8E8"/>
                </a:solidFill>
                <a:latin typeface="Arial"/>
              </a:defRPr>
            </a:pPr>
            <a:r>
              <a:rPr sz="900" b="0" i="0">
                <a:solidFill>
                  <a:srgbClr val="E8E8E8"/>
                </a:solidFill>
                <a:latin typeface="Arial"/>
              </a:rPr>
              <a:t>Ayuda a comprender recursos, parámetros y respuestas sin entrar al código fuente del proyecto.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75" y="2707481"/>
            <a:ext cx="3136850" cy="269676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94400"/>
              </a:lnSpc>
              <a:defRPr sz="900" b="0" i="0">
                <a:solidFill>
                  <a:srgbClr val="E8E8E8"/>
                </a:solidFill>
                <a:latin typeface="Arial"/>
              </a:defRPr>
            </a:pPr>
            <a:r>
              <a:rPr sz="900" b="0" i="0">
                <a:solidFill>
                  <a:srgbClr val="E8E8E8"/>
                </a:solidFill>
                <a:latin typeface="Arial"/>
              </a:rPr>
              <a:t>Presenta los endpoints de forma ordenada para recorrer la API y entender su estructura sin revisar el código.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7025" y="2707481"/>
            <a:ext cx="3136850" cy="269676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94400"/>
              </a:lnSpc>
              <a:defRPr sz="900" b="0" i="0">
                <a:solidFill>
                  <a:srgbClr val="E8E8E8"/>
                </a:solidFill>
                <a:latin typeface="Arial"/>
              </a:defRPr>
            </a:pPr>
            <a:r>
              <a:rPr sz="900" b="0" i="0">
                <a:solidFill>
                  <a:srgbClr val="E8E8E8"/>
                </a:solidFill>
                <a:latin typeface="Arial"/>
              </a:rPr>
              <a:t>Muestra entradas, tipos y campos requeridos para interpretar cada operación con menos ambigüedad.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275" y="4499818"/>
            <a:ext cx="3136850" cy="269676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94400"/>
              </a:lnSpc>
              <a:defRPr sz="900" b="0" i="0">
                <a:solidFill>
                  <a:srgbClr val="E8E8E8"/>
                </a:solidFill>
                <a:latin typeface="Arial"/>
              </a:defRPr>
            </a:pPr>
            <a:r>
              <a:rPr sz="900" b="0" i="0" dirty="0" err="1">
                <a:solidFill>
                  <a:srgbClr val="E8E8E8"/>
                </a:solidFill>
                <a:latin typeface="Arial"/>
              </a:rPr>
              <a:t>Permite</a:t>
            </a:r>
            <a:r>
              <a:rPr sz="90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E8E8E8"/>
                </a:solidFill>
                <a:latin typeface="Arial"/>
              </a:rPr>
              <a:t>ejecutar</a:t>
            </a:r>
            <a:r>
              <a:rPr sz="900" b="0" i="0" dirty="0">
                <a:solidFill>
                  <a:srgbClr val="E8E8E8"/>
                </a:solidFill>
                <a:latin typeface="Arial"/>
              </a:rPr>
              <a:t> solicitudes </a:t>
            </a:r>
            <a:r>
              <a:rPr sz="900" b="0" i="0" dirty="0" err="1">
                <a:solidFill>
                  <a:srgbClr val="E8E8E8"/>
                </a:solidFill>
                <a:latin typeface="Arial"/>
              </a:rPr>
              <a:t>rápidas</a:t>
            </a:r>
            <a:r>
              <a:rPr sz="90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E8E8E8"/>
                </a:solidFill>
                <a:latin typeface="Arial"/>
              </a:rPr>
              <a:t>sobre</a:t>
            </a:r>
            <a:r>
              <a:rPr sz="90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E8E8E8"/>
                </a:solidFill>
                <a:latin typeface="Arial"/>
              </a:rPr>
              <a:t>cada</a:t>
            </a:r>
            <a:r>
              <a:rPr sz="900" b="0" i="0" dirty="0">
                <a:solidFill>
                  <a:srgbClr val="E8E8E8"/>
                </a:solidFill>
                <a:latin typeface="Arial"/>
              </a:rPr>
              <a:t> endpoint para </a:t>
            </a:r>
            <a:r>
              <a:rPr sz="900" b="0" i="0" dirty="0" err="1">
                <a:solidFill>
                  <a:srgbClr val="E8E8E8"/>
                </a:solidFill>
                <a:latin typeface="Arial"/>
              </a:rPr>
              <a:t>comprobar</a:t>
            </a:r>
            <a:r>
              <a:rPr sz="90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E8E8E8"/>
                </a:solidFill>
                <a:latin typeface="Arial"/>
              </a:rPr>
              <a:t>comportamiento</a:t>
            </a:r>
            <a:r>
              <a:rPr sz="900" b="0" i="0" dirty="0">
                <a:solidFill>
                  <a:srgbClr val="E8E8E8"/>
                </a:solidFill>
                <a:latin typeface="Arial"/>
              </a:rPr>
              <a:t> y </a:t>
            </a:r>
            <a:r>
              <a:rPr sz="900" b="0" i="0" dirty="0" err="1">
                <a:solidFill>
                  <a:srgbClr val="E8E8E8"/>
                </a:solidFill>
                <a:latin typeface="Arial"/>
              </a:rPr>
              <a:t>resultados</a:t>
            </a:r>
            <a:r>
              <a:rPr sz="90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E8E8E8"/>
                </a:solidFill>
                <a:latin typeface="Arial"/>
              </a:rPr>
              <a:t>esperados</a:t>
            </a:r>
            <a:r>
              <a:rPr sz="900" b="0" i="0" dirty="0">
                <a:solidFill>
                  <a:srgbClr val="E8E8E8"/>
                </a:solidFill>
                <a:latin typeface="Arial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7025" y="4499818"/>
            <a:ext cx="3136850" cy="269676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94400"/>
              </a:lnSpc>
              <a:defRPr sz="900" b="0" i="0">
                <a:solidFill>
                  <a:srgbClr val="E8E8E8"/>
                </a:solidFill>
                <a:latin typeface="Arial"/>
              </a:defRPr>
            </a:pPr>
            <a:r>
              <a:rPr sz="900" b="0" i="0">
                <a:solidFill>
                  <a:srgbClr val="E8E8E8"/>
                </a:solidFill>
                <a:latin typeface="Arial"/>
              </a:rPr>
              <a:t>Refuerza la relación entre lo documentado y lo implementado al probar la API desde la misma interfaz.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7775" y="2301031"/>
            <a:ext cx="3136999" cy="215949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none" lIns="0" tIns="0" rIns="0" bIns="0">
            <a:spAutoFit/>
          </a:bodyPr>
          <a:lstStyle/>
          <a:p>
            <a:pPr>
              <a:lnSpc>
                <a:spcPct val="86400"/>
              </a:lnSpc>
              <a:defRPr sz="1575" b="1" i="0">
                <a:solidFill>
                  <a:srgbClr val="E8E8E8"/>
                </a:solidFill>
                <a:latin typeface="Georgia"/>
              </a:defRPr>
            </a:pPr>
            <a:r>
              <a:rPr sz="1575" b="1" i="0">
                <a:solidFill>
                  <a:srgbClr val="E8E8E8"/>
                </a:solidFill>
                <a:latin typeface="Georgia"/>
              </a:rPr>
              <a:t>Respuestas visibles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7775" y="4093368"/>
            <a:ext cx="3136999" cy="215949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none" lIns="0" tIns="0" rIns="0" bIns="0">
            <a:spAutoFit/>
          </a:bodyPr>
          <a:lstStyle/>
          <a:p>
            <a:pPr>
              <a:lnSpc>
                <a:spcPct val="86400"/>
              </a:lnSpc>
              <a:defRPr sz="1575" b="1" i="0">
                <a:solidFill>
                  <a:srgbClr val="E8E8E8"/>
                </a:solidFill>
                <a:latin typeface="Georgia"/>
              </a:defRPr>
            </a:pPr>
            <a:r>
              <a:rPr sz="1575" b="1" i="0">
                <a:solidFill>
                  <a:srgbClr val="E8E8E8"/>
                </a:solidFill>
                <a:latin typeface="Georgia"/>
              </a:rPr>
              <a:t>Uso sin leer código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275" y="2301031"/>
            <a:ext cx="3136850" cy="215949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none" lIns="0" tIns="0" rIns="0" bIns="0">
            <a:spAutoFit/>
          </a:bodyPr>
          <a:lstStyle/>
          <a:p>
            <a:pPr>
              <a:lnSpc>
                <a:spcPct val="86400"/>
              </a:lnSpc>
              <a:defRPr sz="1575" b="1" i="0">
                <a:solidFill>
                  <a:srgbClr val="E8E8E8"/>
                </a:solidFill>
                <a:latin typeface="Georgia"/>
              </a:defRPr>
            </a:pPr>
            <a:r>
              <a:rPr sz="1575" b="1" i="0">
                <a:solidFill>
                  <a:srgbClr val="E8E8E8"/>
                </a:solidFill>
                <a:latin typeface="Georgia"/>
              </a:rPr>
              <a:t>Navegación de recursos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7025" y="2301031"/>
            <a:ext cx="3136850" cy="215949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none" lIns="0" tIns="0" rIns="0" bIns="0">
            <a:spAutoFit/>
          </a:bodyPr>
          <a:lstStyle/>
          <a:p>
            <a:pPr>
              <a:lnSpc>
                <a:spcPct val="86400"/>
              </a:lnSpc>
              <a:defRPr sz="1575" b="1" i="0">
                <a:solidFill>
                  <a:srgbClr val="E8E8E8"/>
                </a:solidFill>
                <a:latin typeface="Georgia"/>
              </a:defRPr>
            </a:pPr>
            <a:r>
              <a:rPr sz="1575" b="1" i="0">
                <a:solidFill>
                  <a:srgbClr val="E8E8E8"/>
                </a:solidFill>
                <a:latin typeface="Georgia"/>
              </a:rPr>
              <a:t>Revisión de parámetros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275" y="4093368"/>
            <a:ext cx="3136850" cy="215949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none" lIns="0" tIns="0" rIns="0" bIns="0">
            <a:spAutoFit/>
          </a:bodyPr>
          <a:lstStyle/>
          <a:p>
            <a:pPr>
              <a:lnSpc>
                <a:spcPct val="86400"/>
              </a:lnSpc>
              <a:defRPr sz="1575" b="1" i="0">
                <a:solidFill>
                  <a:srgbClr val="E8E8E8"/>
                </a:solidFill>
                <a:latin typeface="Georgia"/>
              </a:defRPr>
            </a:pPr>
            <a:r>
              <a:rPr sz="1575" b="1" i="0" dirty="0" err="1">
                <a:solidFill>
                  <a:srgbClr val="E8E8E8"/>
                </a:solidFill>
                <a:latin typeface="Georgia"/>
              </a:rPr>
              <a:t>Pruebas</a:t>
            </a:r>
            <a:r>
              <a:rPr sz="1575" b="1" i="0" dirty="0">
                <a:solidFill>
                  <a:srgbClr val="E8E8E8"/>
                </a:solidFill>
                <a:latin typeface="Georgia"/>
              </a:rPr>
              <a:t> con Try it 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7025" y="4093368"/>
            <a:ext cx="3136850" cy="215949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none" lIns="0" tIns="0" rIns="0" bIns="0">
            <a:spAutoFit/>
          </a:bodyPr>
          <a:lstStyle/>
          <a:p>
            <a:pPr>
              <a:lnSpc>
                <a:spcPct val="86400"/>
              </a:lnSpc>
              <a:defRPr sz="1575" b="1" i="0">
                <a:solidFill>
                  <a:srgbClr val="E8E8E8"/>
                </a:solidFill>
                <a:latin typeface="Georgia"/>
              </a:defRPr>
            </a:pPr>
            <a:r>
              <a:rPr sz="1575" b="1" i="0">
                <a:solidFill>
                  <a:srgbClr val="E8E8E8"/>
                </a:solidFill>
                <a:latin typeface="Georgia"/>
              </a:rPr>
              <a:t>Contrato e implementación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7775" y="3186707"/>
            <a:ext cx="3136999" cy="12561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96000"/>
              </a:lnSpc>
              <a:defRPr sz="825" b="0" i="0">
                <a:solidFill>
                  <a:srgbClr val="E8E8E8"/>
                </a:solidFill>
                <a:latin typeface="Arial"/>
              </a:defRPr>
            </a:pPr>
            <a:r>
              <a:rPr sz="825" b="0" i="0" dirty="0">
                <a:solidFill>
                  <a:srgbClr val="E8E8E8"/>
                </a:solidFill>
                <a:latin typeface="Arial"/>
              </a:rPr>
              <a:t>Reduce </a:t>
            </a:r>
            <a:r>
              <a:rPr sz="825" b="0" i="0" dirty="0" err="1">
                <a:solidFill>
                  <a:srgbClr val="E8E8E8"/>
                </a:solidFill>
                <a:latin typeface="Arial"/>
              </a:rPr>
              <a:t>dudas</a:t>
            </a:r>
            <a:r>
              <a:rPr sz="825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825" b="0" i="0" dirty="0" err="1">
                <a:solidFill>
                  <a:srgbClr val="E8E8E8"/>
                </a:solidFill>
                <a:latin typeface="Arial"/>
              </a:rPr>
              <a:t>sobre</a:t>
            </a:r>
            <a:r>
              <a:rPr sz="825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825" b="0" i="0" dirty="0" err="1">
                <a:solidFill>
                  <a:srgbClr val="E8E8E8"/>
                </a:solidFill>
                <a:latin typeface="Arial"/>
              </a:rPr>
              <a:t>salidas</a:t>
            </a:r>
            <a:r>
              <a:rPr sz="825" b="0" i="0" dirty="0">
                <a:solidFill>
                  <a:srgbClr val="E8E8E8"/>
                </a:solidFill>
                <a:latin typeface="Arial"/>
              </a:rPr>
              <a:t> y </a:t>
            </a:r>
            <a:r>
              <a:rPr sz="825" b="0" i="0" dirty="0" err="1">
                <a:solidFill>
                  <a:srgbClr val="E8E8E8"/>
                </a:solidFill>
                <a:latin typeface="Arial"/>
              </a:rPr>
              <a:t>manejo</a:t>
            </a:r>
            <a:r>
              <a:rPr sz="825" b="0" i="0" dirty="0">
                <a:solidFill>
                  <a:srgbClr val="E8E8E8"/>
                </a:solidFill>
                <a:latin typeface="Arial"/>
              </a:rPr>
              <a:t> de </a:t>
            </a:r>
            <a:r>
              <a:rPr sz="825" b="0" i="0" dirty="0" err="1">
                <a:solidFill>
                  <a:srgbClr val="E8E8E8"/>
                </a:solidFill>
                <a:latin typeface="Arial"/>
              </a:rPr>
              <a:t>datos</a:t>
            </a:r>
            <a:r>
              <a:rPr sz="825" b="0" i="0" dirty="0">
                <a:solidFill>
                  <a:srgbClr val="E8E8E8"/>
                </a:solidFill>
                <a:latin typeface="Arial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7775" y="4979044"/>
            <a:ext cx="3136999" cy="12561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96000"/>
              </a:lnSpc>
              <a:defRPr sz="825" b="0" i="0">
                <a:solidFill>
                  <a:srgbClr val="E8E8E8"/>
                </a:solidFill>
                <a:latin typeface="Arial"/>
              </a:defRPr>
            </a:pPr>
            <a:r>
              <a:rPr sz="825" b="0" i="0">
                <a:solidFill>
                  <a:srgbClr val="E8E8E8"/>
                </a:solidFill>
                <a:latin typeface="Arial"/>
              </a:rPr>
              <a:t>Útil para onboarding, demos y validaciones rápidas.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275" y="3186707"/>
            <a:ext cx="3136850" cy="12561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96000"/>
              </a:lnSpc>
              <a:defRPr sz="825" b="0" i="0">
                <a:solidFill>
                  <a:srgbClr val="E8E8E8"/>
                </a:solidFill>
                <a:latin typeface="Arial"/>
              </a:defRPr>
            </a:pPr>
            <a:r>
              <a:rPr sz="825" b="0" i="0">
                <a:solidFill>
                  <a:srgbClr val="E8E8E8"/>
                </a:solidFill>
                <a:latin typeface="Arial"/>
              </a:rPr>
              <a:t>Facilita una lectura rápida del contrato expuesto.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7025" y="3186707"/>
            <a:ext cx="3136850" cy="12561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96000"/>
              </a:lnSpc>
              <a:defRPr sz="825" b="0" i="0">
                <a:solidFill>
                  <a:srgbClr val="E8E8E8"/>
                </a:solidFill>
                <a:latin typeface="Arial"/>
              </a:defRPr>
            </a:pPr>
            <a:r>
              <a:rPr sz="825" b="0" i="0">
                <a:solidFill>
                  <a:srgbClr val="E8E8E8"/>
                </a:solidFill>
                <a:latin typeface="Arial"/>
              </a:rPr>
              <a:t>Ayuda a detectar requisitos antes de integrar.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275" y="4979044"/>
            <a:ext cx="3136850" cy="12561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96000"/>
              </a:lnSpc>
              <a:defRPr sz="825" b="0" i="0">
                <a:solidFill>
                  <a:srgbClr val="E8E8E8"/>
                </a:solidFill>
                <a:latin typeface="Arial"/>
              </a:defRPr>
            </a:pPr>
            <a:r>
              <a:rPr sz="825" b="0" i="0">
                <a:solidFill>
                  <a:srgbClr val="E8E8E8"/>
                </a:solidFill>
                <a:latin typeface="Arial"/>
              </a:rPr>
              <a:t>Convierte la documentación en una herramienta activa.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7025" y="4979044"/>
            <a:ext cx="3136850" cy="12561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96000"/>
              </a:lnSpc>
              <a:defRPr sz="825" b="0" i="0">
                <a:solidFill>
                  <a:srgbClr val="E8E8E8"/>
                </a:solidFill>
                <a:latin typeface="Arial"/>
              </a:defRPr>
            </a:pPr>
            <a:r>
              <a:rPr sz="825" b="0" i="0">
                <a:solidFill>
                  <a:srgbClr val="E8E8E8"/>
                </a:solidFill>
                <a:latin typeface="Arial"/>
              </a:rPr>
              <a:t>Hace más visible la consistencia del servicio.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59775" y="2034331"/>
            <a:ext cx="1096119" cy="1143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825" b="1" i="0" spc="300">
                <a:solidFill>
                  <a:srgbClr val="19A3FC"/>
                </a:solidFill>
                <a:latin typeface="Arial"/>
              </a:defRPr>
            </a:pPr>
            <a:r>
              <a:rPr sz="825" b="1" i="0">
                <a:solidFill>
                  <a:srgbClr val="19A3FC"/>
                </a:solidFill>
                <a:latin typeface="Arial"/>
              </a:rPr>
              <a:t>comprensión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38275" y="2034331"/>
            <a:ext cx="1026318" cy="1143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825" b="1" i="0" spc="300">
                <a:solidFill>
                  <a:srgbClr val="19A3FC"/>
                </a:solidFill>
                <a:latin typeface="Arial"/>
              </a:defRPr>
            </a:pPr>
            <a:r>
              <a:rPr sz="825" b="1" i="0">
                <a:solidFill>
                  <a:srgbClr val="19A3FC"/>
                </a:solidFill>
                <a:latin typeface="Arial"/>
              </a:rPr>
              <a:t>exploración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59775" y="3826668"/>
            <a:ext cx="1014710" cy="1143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825" b="1" i="0" spc="300">
                <a:solidFill>
                  <a:srgbClr val="20A8FF"/>
                </a:solidFill>
                <a:latin typeface="Arial"/>
              </a:defRPr>
            </a:pPr>
            <a:r>
              <a:rPr sz="825" b="1" i="0">
                <a:solidFill>
                  <a:srgbClr val="20A8FF"/>
                </a:solidFill>
                <a:latin typeface="Arial"/>
              </a:rPr>
              <a:t>aprendizaje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38275" y="3826668"/>
            <a:ext cx="912465" cy="1143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825" b="1" i="0" spc="300">
                <a:solidFill>
                  <a:srgbClr val="20A8FF"/>
                </a:solidFill>
                <a:latin typeface="Arial"/>
              </a:defRPr>
            </a:pPr>
            <a:r>
              <a:rPr sz="825" b="1" i="0">
                <a:solidFill>
                  <a:srgbClr val="20A8FF"/>
                </a:solidFill>
                <a:latin typeface="Arial"/>
              </a:rPr>
              <a:t>validación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99025" y="3826668"/>
            <a:ext cx="912465" cy="1143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825" b="1" i="0" spc="300">
                <a:solidFill>
                  <a:srgbClr val="19A3FC"/>
                </a:solidFill>
                <a:latin typeface="Arial"/>
              </a:defRPr>
            </a:pPr>
            <a:r>
              <a:rPr sz="825" b="1" i="0">
                <a:solidFill>
                  <a:srgbClr val="19A3FC"/>
                </a:solidFill>
                <a:latin typeface="Arial"/>
              </a:rPr>
              <a:t>alineación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275" y="2034331"/>
            <a:ext cx="781050" cy="1143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825" b="1" i="0" spc="300">
                <a:solidFill>
                  <a:srgbClr val="19A3FC"/>
                </a:solidFill>
                <a:latin typeface="Arial"/>
              </a:defRPr>
            </a:pPr>
            <a:r>
              <a:rPr sz="825" b="1" i="0">
                <a:solidFill>
                  <a:srgbClr val="19A3FC"/>
                </a:solidFill>
                <a:latin typeface="Arial"/>
              </a:rPr>
              <a:t>Benefit: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37025" y="2034331"/>
            <a:ext cx="781050" cy="1143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825" b="1" i="0" spc="300">
                <a:solidFill>
                  <a:srgbClr val="20A8FF"/>
                </a:solidFill>
                <a:latin typeface="Arial"/>
              </a:defRPr>
            </a:pPr>
            <a:r>
              <a:rPr sz="825" b="1" i="0">
                <a:solidFill>
                  <a:srgbClr val="20A8FF"/>
                </a:solidFill>
                <a:latin typeface="Arial"/>
              </a:rPr>
              <a:t>Benefit: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97775" y="2034331"/>
            <a:ext cx="781050" cy="1143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825" b="1" i="0" spc="300">
                <a:solidFill>
                  <a:srgbClr val="19A3FC"/>
                </a:solidFill>
                <a:latin typeface="Arial"/>
              </a:defRPr>
            </a:pPr>
            <a:r>
              <a:rPr sz="825" b="1" i="0">
                <a:solidFill>
                  <a:srgbClr val="19A3FC"/>
                </a:solidFill>
                <a:latin typeface="Arial"/>
              </a:rPr>
              <a:t>Benefit: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275" y="3826668"/>
            <a:ext cx="781050" cy="1143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825" b="1" i="0" spc="300">
                <a:solidFill>
                  <a:srgbClr val="20A8FF"/>
                </a:solidFill>
                <a:latin typeface="Arial"/>
              </a:defRPr>
            </a:pPr>
            <a:r>
              <a:rPr sz="825" b="1" i="0">
                <a:solidFill>
                  <a:srgbClr val="20A8FF"/>
                </a:solidFill>
                <a:latin typeface="Arial"/>
              </a:rPr>
              <a:t>Benefit: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37025" y="3826668"/>
            <a:ext cx="781050" cy="1143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825" b="1" i="0" spc="300">
                <a:solidFill>
                  <a:srgbClr val="19A3FC"/>
                </a:solidFill>
                <a:latin typeface="Arial"/>
              </a:defRPr>
            </a:pPr>
            <a:r>
              <a:rPr sz="825" b="1" i="0">
                <a:solidFill>
                  <a:srgbClr val="19A3FC"/>
                </a:solidFill>
                <a:latin typeface="Arial"/>
              </a:rPr>
              <a:t>Benefit: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97775" y="3826668"/>
            <a:ext cx="781050" cy="1143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825" b="1" i="0" spc="300">
                <a:solidFill>
                  <a:srgbClr val="20A8FF"/>
                </a:solidFill>
                <a:latin typeface="Arial"/>
              </a:defRPr>
            </a:pPr>
            <a:r>
              <a:rPr sz="825" b="1" i="0">
                <a:solidFill>
                  <a:srgbClr val="20A8FF"/>
                </a:solidFill>
                <a:latin typeface="Arial"/>
              </a:rPr>
              <a:t>Benefit: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99025" y="2034331"/>
            <a:ext cx="725685" cy="1143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825" b="1" i="0" spc="300">
                <a:solidFill>
                  <a:srgbClr val="20A8FF"/>
                </a:solidFill>
                <a:latin typeface="Arial"/>
              </a:defRPr>
            </a:pPr>
            <a:r>
              <a:rPr sz="825" b="1" i="0">
                <a:solidFill>
                  <a:srgbClr val="20A8FF"/>
                </a:solidFill>
                <a:latin typeface="Arial"/>
              </a:rPr>
              <a:t>claridad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2375" y="6515100"/>
            <a:ext cx="146298" cy="1905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none" lIns="0" tIns="0" rIns="0" bIns="0">
            <a:spAutoFit/>
          </a:bodyPr>
          <a:lstStyle/>
          <a:p>
            <a:pPr>
              <a:lnSpc>
                <a:spcPct val="133333"/>
              </a:lnSpc>
              <a:defRPr sz="900" b="0" i="0">
                <a:solidFill>
                  <a:srgbClr val="E8E8E8"/>
                </a:solidFill>
                <a:latin typeface="Arial"/>
              </a:defRPr>
            </a:pPr>
            <a:r>
              <a:rPr sz="900" b="0" i="0">
                <a:solidFill>
                  <a:srgbClr val="E8E8E8"/>
                </a:solidFill>
                <a:latin typeface="Arial"/>
              </a:rPr>
              <a:t>10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00050" y="5350000"/>
            <a:ext cx="11391900" cy="1080000"/>
          </a:xfrm>
          <a:prstGeom prst="rect">
            <a:avLst/>
          </a:prstGeom>
          <a:solidFill>
            <a:srgbClr val="14213D"/>
          </a:solidFill>
          <a:ln w="9525">
            <a:solidFill>
              <a:srgbClr val="2A3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50050" y="5440000"/>
            <a:ext cx="110919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9A3FC"/>
                </a:solidFill>
                <a:latin typeface="Arial"/>
              </a:rPr>
              <a:t>NOTA — ALTERNATIVA MODERNA (.NET 10/11)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0050" y="5630000"/>
            <a:ext cx="63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BFD7FF"/>
                </a:solidFill>
                <a:latin typeface="Courier New"/>
              </a:rPr>
              <a:t>GET /productos/7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BFD7FF"/>
                </a:solidFill>
                <a:latin typeface="Courier New"/>
              </a:rPr>
              <a:t>200 OK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BFD7FF"/>
                </a:solidFill>
                <a:latin typeface="Courier New"/>
              </a:rPr>
              <a:t>{ "id": 7, "nombre": "Mouse", "precio": 25.50 }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00050" y="5630000"/>
            <a:ext cx="45419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 dirty="0" err="1">
                <a:solidFill>
                  <a:srgbClr val="E8E8E8"/>
                </a:solidFill>
                <a:latin typeface="Arial"/>
              </a:rPr>
              <a:t>Desde</a:t>
            </a:r>
            <a:r>
              <a:rPr sz="1050" b="0" i="1" dirty="0">
                <a:solidFill>
                  <a:srgbClr val="E8E8E8"/>
                </a:solidFill>
                <a:latin typeface="Arial"/>
              </a:rPr>
              <a:t> .NET 9/10, Scalar (</a:t>
            </a:r>
            <a:r>
              <a:rPr sz="1050" b="0" i="1" dirty="0" err="1">
                <a:solidFill>
                  <a:srgbClr val="E8E8E8"/>
                </a:solidFill>
                <a:latin typeface="Arial"/>
              </a:rPr>
              <a:t>paquete</a:t>
            </a:r>
            <a:r>
              <a:rPr sz="1050" b="0" i="1" dirty="0">
                <a:solidFill>
                  <a:srgbClr val="E8E8E8"/>
                </a:solidFill>
                <a:latin typeface="Arial"/>
              </a:rPr>
              <a:t> </a:t>
            </a:r>
            <a:r>
              <a:rPr sz="1050" b="0" i="1" dirty="0" err="1">
                <a:solidFill>
                  <a:srgbClr val="E8E8E8"/>
                </a:solidFill>
                <a:latin typeface="Arial"/>
              </a:rPr>
              <a:t>Scalar.AspNetCore</a:t>
            </a:r>
            <a:r>
              <a:rPr sz="1050" b="0" i="1" dirty="0">
                <a:solidFill>
                  <a:srgbClr val="E8E8E8"/>
                </a:solidFill>
                <a:latin typeface="Arial"/>
              </a:rPr>
              <a:t>) </a:t>
            </a:r>
            <a:r>
              <a:rPr sz="1050" b="0" i="1" dirty="0" err="1">
                <a:solidFill>
                  <a:srgbClr val="E8E8E8"/>
                </a:solidFill>
                <a:latin typeface="Arial"/>
              </a:rPr>
              <a:t>reemplaza</a:t>
            </a:r>
            <a:r>
              <a:rPr sz="1050" b="0" i="1" dirty="0">
                <a:solidFill>
                  <a:srgbClr val="E8E8E8"/>
                </a:solidFill>
                <a:latin typeface="Arial"/>
              </a:rPr>
              <a:t> a Swagger UI </a:t>
            </a:r>
            <a:r>
              <a:rPr sz="1050" b="0" i="1" dirty="0" err="1">
                <a:solidFill>
                  <a:srgbClr val="E8E8E8"/>
                </a:solidFill>
                <a:latin typeface="Arial"/>
              </a:rPr>
              <a:t>como</a:t>
            </a:r>
            <a:r>
              <a:rPr sz="1050" b="0" i="1" dirty="0">
                <a:solidFill>
                  <a:srgbClr val="E8E8E8"/>
                </a:solidFill>
                <a:latin typeface="Arial"/>
              </a:rPr>
              <a:t> </a:t>
            </a:r>
            <a:r>
              <a:rPr sz="1050" b="0" i="1" dirty="0" err="1">
                <a:solidFill>
                  <a:srgbClr val="E8E8E8"/>
                </a:solidFill>
                <a:latin typeface="Arial"/>
              </a:rPr>
              <a:t>interfaz</a:t>
            </a:r>
            <a:r>
              <a:rPr sz="1050" b="0" i="1" dirty="0">
                <a:solidFill>
                  <a:srgbClr val="E8E8E8"/>
                </a:solidFill>
                <a:latin typeface="Arial"/>
              </a:rPr>
              <a:t> </a:t>
            </a:r>
            <a:r>
              <a:rPr sz="1050" b="0" i="1" dirty="0" err="1">
                <a:solidFill>
                  <a:srgbClr val="E8E8E8"/>
                </a:solidFill>
                <a:latin typeface="Arial"/>
              </a:rPr>
              <a:t>recomendada</a:t>
            </a:r>
            <a:r>
              <a:rPr sz="1050" b="0" i="1" dirty="0">
                <a:solidFill>
                  <a:srgbClr val="E8E8E8"/>
                </a:solidFill>
                <a:latin typeface="Arial"/>
              </a:rPr>
              <a:t>: </a:t>
            </a:r>
            <a:r>
              <a:rPr sz="1050" b="0" i="1" dirty="0" err="1">
                <a:solidFill>
                  <a:srgbClr val="E8E8E8"/>
                </a:solidFill>
                <a:latin typeface="Arial"/>
              </a:rPr>
              <a:t>más</a:t>
            </a:r>
            <a:r>
              <a:rPr sz="1050" b="0" i="1" dirty="0">
                <a:solidFill>
                  <a:srgbClr val="E8E8E8"/>
                </a:solidFill>
                <a:latin typeface="Arial"/>
              </a:rPr>
              <a:t> </a:t>
            </a:r>
            <a:r>
              <a:rPr sz="1050" b="0" i="1" dirty="0" err="1">
                <a:solidFill>
                  <a:srgbClr val="E8E8E8"/>
                </a:solidFill>
                <a:latin typeface="Arial"/>
              </a:rPr>
              <a:t>rápida</a:t>
            </a:r>
            <a:r>
              <a:rPr sz="1050" b="0" i="1" dirty="0">
                <a:solidFill>
                  <a:srgbClr val="E8E8E8"/>
                </a:solidFill>
                <a:latin typeface="Arial"/>
              </a:rPr>
              <a:t>, con </a:t>
            </a:r>
            <a:r>
              <a:rPr sz="1050" b="0" i="1" dirty="0" err="1">
                <a:solidFill>
                  <a:srgbClr val="E8E8E8"/>
                </a:solidFill>
                <a:latin typeface="Arial"/>
              </a:rPr>
              <a:t>tema</a:t>
            </a:r>
            <a:r>
              <a:rPr sz="1050" b="0" i="1" dirty="0">
                <a:solidFill>
                  <a:srgbClr val="E8E8E8"/>
                </a:solidFill>
                <a:latin typeface="Arial"/>
              </a:rPr>
              <a:t> </a:t>
            </a:r>
            <a:r>
              <a:rPr sz="1050" b="0" i="1" dirty="0" err="1">
                <a:solidFill>
                  <a:srgbClr val="E8E8E8"/>
                </a:solidFill>
                <a:latin typeface="Arial"/>
              </a:rPr>
              <a:t>oscuro</a:t>
            </a:r>
            <a:r>
              <a:rPr sz="1050" b="0" i="1" dirty="0">
                <a:solidFill>
                  <a:srgbClr val="E8E8E8"/>
                </a:solidFill>
                <a:latin typeface="Arial"/>
              </a:rPr>
              <a:t> </a:t>
            </a:r>
            <a:r>
              <a:rPr sz="1050" b="0" i="1" dirty="0" err="1">
                <a:solidFill>
                  <a:srgbClr val="E8E8E8"/>
                </a:solidFill>
                <a:latin typeface="Arial"/>
              </a:rPr>
              <a:t>nativo</a:t>
            </a:r>
            <a:r>
              <a:rPr sz="1050" b="0" i="1" dirty="0">
                <a:solidFill>
                  <a:srgbClr val="E8E8E8"/>
                </a:solidFill>
                <a:latin typeface="Arial"/>
              </a:rPr>
              <a:t> y sin </a:t>
            </a:r>
            <a:r>
              <a:rPr sz="1050" b="0" i="1" dirty="0" err="1">
                <a:solidFill>
                  <a:srgbClr val="E8E8E8"/>
                </a:solidFill>
                <a:latin typeface="Arial"/>
              </a:rPr>
              <a:t>dependencias</a:t>
            </a:r>
            <a:r>
              <a:rPr sz="1050" b="0" i="1" dirty="0">
                <a:solidFill>
                  <a:srgbClr val="E8E8E8"/>
                </a:solidFill>
                <a:latin typeface="Arial"/>
              </a:rPr>
              <a:t> de </a:t>
            </a:r>
            <a:r>
              <a:rPr sz="1050" b="0" i="1" dirty="0" err="1">
                <a:solidFill>
                  <a:srgbClr val="E8E8E8"/>
                </a:solidFill>
                <a:latin typeface="Arial"/>
              </a:rPr>
              <a:t>terceros</a:t>
            </a:r>
            <a:r>
              <a:rPr sz="1050" b="0" i="1" dirty="0">
                <a:solidFill>
                  <a:srgbClr val="E8E8E8"/>
                </a:solidFill>
                <a:latin typeface="Arial"/>
              </a:rPr>
              <a:t>, </a:t>
            </a:r>
            <a:r>
              <a:rPr sz="1050" b="0" i="1" dirty="0" err="1">
                <a:solidFill>
                  <a:srgbClr val="E8E8E8"/>
                </a:solidFill>
                <a:latin typeface="Arial"/>
              </a:rPr>
              <a:t>servida</a:t>
            </a:r>
            <a:r>
              <a:rPr sz="1050" b="0" i="1" dirty="0">
                <a:solidFill>
                  <a:srgbClr val="E8E8E8"/>
                </a:solidFill>
                <a:latin typeface="Arial"/>
              </a:rPr>
              <a:t> </a:t>
            </a:r>
            <a:r>
              <a:rPr sz="1050" b="0" i="1" dirty="0" err="1">
                <a:solidFill>
                  <a:srgbClr val="E8E8E8"/>
                </a:solidFill>
                <a:latin typeface="Arial"/>
              </a:rPr>
              <a:t>en</a:t>
            </a:r>
            <a:r>
              <a:rPr sz="1050" b="0" i="1" dirty="0">
                <a:solidFill>
                  <a:srgbClr val="E8E8E8"/>
                </a:solidFill>
                <a:latin typeface="Arial"/>
              </a:rPr>
              <a:t> /scalar/v1.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42950" y="2112971"/>
            <a:ext cx="5286375" cy="1592014"/>
          </a:xfrm>
          <a:prstGeom prst="rect">
            <a:avLst/>
          </a:prstGeom>
          <a:solidFill>
            <a:srgbClr val="14213D"/>
          </a:solidFill>
          <a:ln w="9525">
            <a:solidFill>
              <a:srgbClr val="22324F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50" tIns="285750" rIns="400050" bIns="26670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162675" y="2112971"/>
            <a:ext cx="5286375" cy="1592014"/>
          </a:xfrm>
          <a:prstGeom prst="rect">
            <a:avLst/>
          </a:prstGeom>
          <a:solidFill>
            <a:srgbClr val="14213D"/>
          </a:solidFill>
          <a:ln w="9525">
            <a:solidFill>
              <a:srgbClr val="22324F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50" tIns="285750" rIns="400050" bIns="266700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42950" y="3895485"/>
            <a:ext cx="5286375" cy="1592014"/>
          </a:xfrm>
          <a:prstGeom prst="rect">
            <a:avLst/>
          </a:prstGeom>
          <a:solidFill>
            <a:srgbClr val="14213D"/>
          </a:solidFill>
          <a:ln w="9525">
            <a:solidFill>
              <a:srgbClr val="22324F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50" tIns="285750" rIns="400050" bIns="266700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162675" y="3895485"/>
            <a:ext cx="5286375" cy="1592014"/>
          </a:xfrm>
          <a:prstGeom prst="rect">
            <a:avLst/>
          </a:prstGeom>
          <a:solidFill>
            <a:srgbClr val="14213D"/>
          </a:solidFill>
          <a:ln w="9525">
            <a:solidFill>
              <a:srgbClr val="22324F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50" tIns="285750" rIns="400050" bIns="26670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2950" y="857250"/>
            <a:ext cx="10725150" cy="566886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76800"/>
              </a:lnSpc>
              <a:defRPr sz="4650" b="1" i="0">
                <a:solidFill>
                  <a:srgbClr val="E8E8E8"/>
                </a:solidFill>
                <a:latin typeface="Georgia"/>
              </a:defRPr>
            </a:pPr>
            <a:r>
              <a:rPr sz="3900" b="1" i="0" dirty="0" err="1">
                <a:solidFill>
                  <a:srgbClr val="E8E8E8"/>
                </a:solidFill>
                <a:latin typeface="Georgia"/>
              </a:rPr>
              <a:t>Seguridad</a:t>
            </a:r>
            <a:r>
              <a:rPr sz="3900" b="1" i="0" dirty="0">
                <a:solidFill>
                  <a:srgbClr val="E8E8E8"/>
                </a:solidFill>
                <a:latin typeface="Georgia"/>
              </a:rPr>
              <a:t> y </a:t>
            </a:r>
            <a:r>
              <a:rPr sz="3900" b="1" i="0" dirty="0" err="1">
                <a:solidFill>
                  <a:srgbClr val="E8E8E8"/>
                </a:solidFill>
                <a:latin typeface="Georgia"/>
              </a:rPr>
              <a:t>autorización</a:t>
            </a:r>
            <a:r>
              <a:rPr sz="3900" b="1" i="0" dirty="0">
                <a:solidFill>
                  <a:srgbClr val="E8E8E8"/>
                </a:solidFill>
                <a:latin typeface="Georgia"/>
              </a:rPr>
              <a:t> </a:t>
            </a:r>
            <a:r>
              <a:rPr sz="3900" b="1" i="0" dirty="0" err="1">
                <a:solidFill>
                  <a:srgbClr val="E8E8E8"/>
                </a:solidFill>
                <a:latin typeface="Georgia"/>
              </a:rPr>
              <a:t>en</a:t>
            </a:r>
            <a:r>
              <a:rPr sz="3900" b="1" i="0" dirty="0">
                <a:solidFill>
                  <a:srgbClr val="E8E8E8"/>
                </a:solidFill>
                <a:latin typeface="Georgia"/>
              </a:rPr>
              <a:t> </a:t>
            </a:r>
            <a:r>
              <a:rPr sz="3900" b="1" i="0" dirty="0" err="1">
                <a:solidFill>
                  <a:srgbClr val="E8E8E8"/>
                </a:solidFill>
                <a:latin typeface="Georgia"/>
              </a:rPr>
              <a:t>OpenAPI</a:t>
            </a:r>
            <a:endParaRPr sz="4650" b="1" i="0" dirty="0">
              <a:solidFill>
                <a:srgbClr val="E8E8E8"/>
              </a:solidFill>
              <a:latin typeface="Georgi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2950" y="1649491"/>
            <a:ext cx="10725150" cy="214312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defRPr sz="1350" b="0" i="0">
                <a:solidFill>
                  <a:srgbClr val="E8E8E8"/>
                </a:solidFill>
                <a:latin typeface="Arial"/>
              </a:defRPr>
            </a:pPr>
            <a:r>
              <a:rPr sz="1350" b="1" i="0" dirty="0">
                <a:solidFill>
                  <a:srgbClr val="E8E8E8"/>
                </a:solidFill>
                <a:latin typeface="Arial"/>
              </a:rPr>
              <a:t>Bearer Token y JWT </a:t>
            </a:r>
            <a:r>
              <a:rPr sz="1350" b="1" i="0" dirty="0" err="1">
                <a:solidFill>
                  <a:srgbClr val="E8E8E8"/>
                </a:solidFill>
                <a:latin typeface="Arial"/>
              </a:rPr>
              <a:t>en</a:t>
            </a:r>
            <a:r>
              <a:rPr sz="1350" b="1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1350" b="1" i="0" dirty="0" err="1">
                <a:solidFill>
                  <a:srgbClr val="E8E8E8"/>
                </a:solidFill>
                <a:latin typeface="Arial"/>
              </a:rPr>
              <a:t>OpenAPI</a:t>
            </a:r>
            <a:endParaRPr sz="1350" b="1" i="0" dirty="0">
              <a:solidFill>
                <a:srgbClr val="E8E8E8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2950" y="476250"/>
            <a:ext cx="10725150" cy="13335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1050" b="1" i="0" spc="375">
                <a:solidFill>
                  <a:srgbClr val="0072BC"/>
                </a:solidFill>
                <a:latin typeface="Arial"/>
              </a:defRPr>
            </a:pPr>
            <a:r>
              <a:rPr sz="1050" b="1" i="0">
                <a:solidFill>
                  <a:srgbClr val="0072BC"/>
                </a:solidFill>
                <a:latin typeface="Arial"/>
              </a:rPr>
              <a:t>03 - Gobernanza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3145391"/>
            <a:ext cx="4486275" cy="283368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99200"/>
              </a:lnSpc>
              <a:defRPr sz="900" b="0" i="0">
                <a:solidFill>
                  <a:srgbClr val="D8E0EA"/>
                </a:solidFill>
                <a:latin typeface="Arial"/>
              </a:defRPr>
            </a:pPr>
            <a:r>
              <a:rPr sz="900" b="0" i="0">
                <a:solidFill>
                  <a:srgbClr val="D8E0EA"/>
                </a:solidFill>
                <a:latin typeface="Arial"/>
              </a:rPr>
              <a:t>Si el esquema de seguridad no se define bien, los consumidores no sabrán cómo autenticarse ni cómo usar endpoints protegidos.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2250" y="3145391"/>
            <a:ext cx="4486275" cy="283368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99200"/>
              </a:lnSpc>
              <a:defRPr sz="900" b="0" i="0">
                <a:solidFill>
                  <a:srgbClr val="D8E0EA"/>
                </a:solidFill>
                <a:latin typeface="Arial"/>
              </a:defRPr>
            </a:pPr>
            <a:r>
              <a:rPr sz="900" b="0" i="0">
                <a:solidFill>
                  <a:srgbClr val="D8E0EA"/>
                </a:solidFill>
                <a:latin typeface="Arial"/>
              </a:rPr>
              <a:t>Ingresar tokens en herramientas no aprobadas o compartirlos sin control puede exponer acceso a recursos protegidos de la API.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4927906"/>
            <a:ext cx="4486275" cy="283368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99200"/>
              </a:lnSpc>
              <a:defRPr sz="900" b="0" i="0">
                <a:solidFill>
                  <a:srgbClr val="D8E0EA"/>
                </a:solidFill>
                <a:latin typeface="Arial"/>
              </a:defRPr>
            </a:pPr>
            <a:r>
              <a:rPr sz="900" b="0" i="0">
                <a:solidFill>
                  <a:srgbClr val="D8E0EA"/>
                </a:solidFill>
                <a:latin typeface="Arial"/>
              </a:rPr>
              <a:t>Probar endpoints sin validar roles, permisos y vencimiento del JWT puede ocultar fallos de acceso y control en producción.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0" y="4927906"/>
            <a:ext cx="4486275" cy="283368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99200"/>
              </a:lnSpc>
              <a:defRPr sz="900" b="0" i="0">
                <a:solidFill>
                  <a:srgbClr val="D8E0EA"/>
                </a:solidFill>
                <a:latin typeface="Arial"/>
              </a:defRPr>
            </a:pPr>
            <a:r>
              <a:rPr sz="900" b="0" i="0">
                <a:solidFill>
                  <a:srgbClr val="D8E0EA"/>
                </a:solidFill>
                <a:latin typeface="Arial"/>
              </a:rPr>
              <a:t>Confiar solo en Authorize para las pruebas puede limitar la revisión de flujos reales de autenticación y manejo de errores.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525" y="2646371"/>
            <a:ext cx="4486275" cy="25137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8000"/>
              </a:lnSpc>
              <a:defRPr sz="1800" b="1" i="0">
                <a:solidFill>
                  <a:srgbClr val="FFFFFF"/>
                </a:solidFill>
                <a:latin typeface="Georgia"/>
              </a:defRPr>
            </a:pPr>
            <a:r>
              <a:rPr sz="1800" b="1" i="0" dirty="0" err="1">
                <a:solidFill>
                  <a:srgbClr val="FFFFFF"/>
                </a:solidFill>
                <a:latin typeface="Georgia"/>
              </a:rPr>
              <a:t>Esquema</a:t>
            </a:r>
            <a:r>
              <a:rPr sz="1800" b="1" i="0" dirty="0">
                <a:solidFill>
                  <a:srgbClr val="FFFFFF"/>
                </a:solidFill>
                <a:latin typeface="Georgia"/>
              </a:rPr>
              <a:t> mal </a:t>
            </a:r>
            <a:r>
              <a:rPr sz="1800" b="1" i="0" dirty="0" err="1">
                <a:solidFill>
                  <a:srgbClr val="FFFFFF"/>
                </a:solidFill>
                <a:latin typeface="Georgia"/>
              </a:rPr>
              <a:t>documentado</a:t>
            </a:r>
            <a:endParaRPr sz="1800" b="1" i="0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72250" y="2646371"/>
            <a:ext cx="4486275" cy="25137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8000"/>
              </a:lnSpc>
              <a:defRPr sz="1800" b="1" i="0">
                <a:solidFill>
                  <a:srgbClr val="FFFFFF"/>
                </a:solidFill>
                <a:latin typeface="Georgia"/>
              </a:defRPr>
            </a:pPr>
            <a:r>
              <a:rPr sz="1800" b="1" i="0">
                <a:solidFill>
                  <a:srgbClr val="FFFFFF"/>
                </a:solidFill>
                <a:latin typeface="Georgia"/>
              </a:rPr>
              <a:t>Uso inseguro del token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525" y="4428885"/>
            <a:ext cx="4486275" cy="25137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8000"/>
              </a:lnSpc>
              <a:defRPr sz="1800" b="1" i="0">
                <a:solidFill>
                  <a:srgbClr val="FFFFFF"/>
                </a:solidFill>
                <a:latin typeface="Georgia"/>
              </a:defRPr>
            </a:pPr>
            <a:r>
              <a:rPr sz="1800" b="1" i="0">
                <a:solidFill>
                  <a:srgbClr val="FFFFFF"/>
                </a:solidFill>
                <a:latin typeface="Georgia"/>
              </a:rPr>
              <a:t>Autorización mal probada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2250" y="4428885"/>
            <a:ext cx="4486275" cy="25137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8000"/>
              </a:lnSpc>
              <a:defRPr sz="1800" b="1" i="0">
                <a:solidFill>
                  <a:srgbClr val="FFFFFF"/>
                </a:solidFill>
                <a:latin typeface="Georgia"/>
              </a:defRPr>
            </a:pPr>
            <a:r>
              <a:rPr sz="1800" b="1" i="0">
                <a:solidFill>
                  <a:srgbClr val="FFFFFF"/>
                </a:solidFill>
                <a:latin typeface="Georgia"/>
              </a:rPr>
              <a:t>Dependencia de Swagger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525" y="2408246"/>
            <a:ext cx="4486275" cy="104775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825" b="1" i="0" spc="300">
                <a:solidFill>
                  <a:srgbClr val="FF7A00"/>
                </a:solidFill>
                <a:latin typeface="Arial"/>
              </a:defRPr>
            </a:pPr>
            <a:r>
              <a:rPr sz="825" b="1" i="0">
                <a:solidFill>
                  <a:srgbClr val="FF7A00"/>
                </a:solidFill>
                <a:latin typeface="Arial"/>
              </a:rPr>
              <a:t>Riesgo 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2250" y="2408246"/>
            <a:ext cx="4486275" cy="104775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825" b="1" i="0" spc="300">
                <a:solidFill>
                  <a:srgbClr val="FF7A00"/>
                </a:solidFill>
                <a:latin typeface="Arial"/>
              </a:defRPr>
            </a:pPr>
            <a:r>
              <a:rPr sz="825" b="1" i="0">
                <a:solidFill>
                  <a:srgbClr val="FF7A00"/>
                </a:solidFill>
                <a:latin typeface="Arial"/>
              </a:rPr>
              <a:t>Riesgo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525" y="4190760"/>
            <a:ext cx="4486275" cy="104775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825" b="1" i="0" spc="300">
                <a:solidFill>
                  <a:srgbClr val="FFC400"/>
                </a:solidFill>
                <a:latin typeface="Arial"/>
              </a:defRPr>
            </a:pPr>
            <a:r>
              <a:rPr sz="825" b="1" i="0">
                <a:solidFill>
                  <a:srgbClr val="FFC400"/>
                </a:solidFill>
                <a:latin typeface="Arial"/>
              </a:rPr>
              <a:t>Riesgo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2250" y="4190760"/>
            <a:ext cx="4486275" cy="104775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825" b="1" i="0" spc="300">
                <a:solidFill>
                  <a:srgbClr val="0072BC"/>
                </a:solidFill>
                <a:latin typeface="Arial"/>
              </a:defRPr>
            </a:pPr>
            <a:r>
              <a:rPr sz="825" b="1" i="0">
                <a:solidFill>
                  <a:srgbClr val="0072BC"/>
                </a:solidFill>
                <a:latin typeface="Arial"/>
              </a:rPr>
              <a:t>Riesgo 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2375" y="6515100"/>
            <a:ext cx="146298" cy="1905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none" lIns="0" tIns="0" rIns="0" bIns="0">
            <a:spAutoFit/>
          </a:bodyPr>
          <a:lstStyle/>
          <a:p>
            <a:pPr>
              <a:lnSpc>
                <a:spcPct val="133333"/>
              </a:lnSpc>
              <a:defRPr sz="900" b="0" i="0">
                <a:solidFill>
                  <a:srgbClr val="E8E8E8"/>
                </a:solidFill>
                <a:latin typeface="Arial"/>
              </a:defRPr>
            </a:pPr>
            <a:r>
              <a:rPr sz="900" b="0" i="0">
                <a:solidFill>
                  <a:srgbClr val="E8E8E8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4575" y="2675780"/>
            <a:ext cx="105156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47650" tIns="0" rIns="247650" bIns="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4575" y="3380630"/>
            <a:ext cx="10515600" cy="704850"/>
          </a:xfrm>
          <a:prstGeom prst="rect">
            <a:avLst/>
          </a:prstGeom>
          <a:solidFill>
            <a:srgbClr val="E8E8E8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47650" tIns="0" rIns="247650" bIns="0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4575" y="4085480"/>
            <a:ext cx="105156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47650" tIns="0" rIns="24765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200" y="847725"/>
            <a:ext cx="10306050" cy="505122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1600"/>
              </a:lnSpc>
              <a:defRPr sz="3900" b="1" i="0">
                <a:solidFill>
                  <a:srgbClr val="E8E8E8"/>
                </a:solidFill>
                <a:latin typeface="Georgia"/>
              </a:defRPr>
            </a:pPr>
            <a:r>
              <a:rPr sz="3900" b="1" i="0" dirty="0">
                <a:solidFill>
                  <a:srgbClr val="E8E8E8"/>
                </a:solidFill>
                <a:latin typeface="Georgia"/>
              </a:rPr>
              <a:t>Code First vs Contract First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4575" y="2294780"/>
            <a:ext cx="10515600" cy="381000"/>
          </a:xfrm>
          <a:prstGeom prst="rect">
            <a:avLst/>
          </a:prstGeom>
          <a:solidFill>
            <a:srgbClr val="070F26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47650" tIns="0" rIns="24765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8200" y="495300"/>
            <a:ext cx="10534650" cy="123825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975" b="1" i="0" spc="375">
                <a:solidFill>
                  <a:srgbClr val="19A3FC"/>
                </a:solidFill>
                <a:latin typeface="Arial"/>
              </a:defRPr>
            </a:pPr>
            <a:r>
              <a:rPr sz="975" b="1" i="0">
                <a:solidFill>
                  <a:srgbClr val="19A3FC"/>
                </a:solidFill>
                <a:latin typeface="Arial"/>
              </a:rPr>
              <a:t>01 - Fundamentos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452860"/>
            <a:ext cx="4555480" cy="257175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800" b="0" i="0" spc="75">
                <a:solidFill>
                  <a:srgbClr val="E8E8E8"/>
                </a:solidFill>
                <a:latin typeface="Arial"/>
              </a:defRPr>
            </a:pPr>
            <a:r>
              <a:rPr sz="1800" b="0" i="0" dirty="0">
                <a:solidFill>
                  <a:srgbClr val="E8E8E8"/>
                </a:solidFill>
                <a:latin typeface="Arial"/>
              </a:rPr>
              <a:t>No hay un </a:t>
            </a:r>
            <a:r>
              <a:rPr sz="1800" b="0" i="0" dirty="0" err="1">
                <a:solidFill>
                  <a:srgbClr val="E8E8E8"/>
                </a:solidFill>
                <a:latin typeface="Arial"/>
              </a:rPr>
              <a:t>único</a:t>
            </a:r>
            <a:r>
              <a:rPr sz="180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E8E8E8"/>
                </a:solidFill>
                <a:latin typeface="Arial"/>
              </a:rPr>
              <a:t>enfoque</a:t>
            </a:r>
            <a:r>
              <a:rPr sz="180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E8E8E8"/>
                </a:solidFill>
                <a:latin typeface="Arial"/>
              </a:rPr>
              <a:t>correcto</a:t>
            </a:r>
            <a:r>
              <a:rPr sz="1800" b="0" i="0" dirty="0">
                <a:solidFill>
                  <a:srgbClr val="E8E8E8"/>
                </a:solidFill>
                <a:latin typeface="Arial"/>
              </a:rPr>
              <a:t>: </a:t>
            </a:r>
            <a:r>
              <a:rPr sz="1800" b="0" i="0" dirty="0" err="1">
                <a:solidFill>
                  <a:srgbClr val="E8E8E8"/>
                </a:solidFill>
                <a:latin typeface="Arial"/>
              </a:rPr>
              <a:t>existe</a:t>
            </a:r>
            <a:endParaRPr sz="1800" b="0" i="0" dirty="0">
              <a:solidFill>
                <a:srgbClr val="E8E8E8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117975" y="2882204"/>
            <a:ext cx="3257550" cy="2920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209550" bIns="0">
            <a:spAutoFit/>
          </a:bodyPr>
          <a:lstStyle/>
          <a:p>
            <a:pPr>
              <a:lnSpc>
                <a:spcPct val="94400"/>
              </a:lnSpc>
              <a:defRPr sz="975" b="0" i="0">
                <a:solidFill>
                  <a:srgbClr val="2E404D"/>
                </a:solidFill>
                <a:latin typeface="Arial"/>
              </a:defRPr>
            </a:pPr>
            <a:r>
              <a:rPr sz="975" b="0" i="0" dirty="0">
                <a:solidFill>
                  <a:srgbClr val="2E404D"/>
                </a:solidFill>
                <a:latin typeface="Arial"/>
              </a:rPr>
              <a:t>Acelera </a:t>
            </a:r>
            <a:r>
              <a:rPr sz="975" b="0" i="0" dirty="0" err="1">
                <a:solidFill>
                  <a:srgbClr val="2E404D"/>
                </a:solidFill>
                <a:latin typeface="Arial"/>
              </a:rPr>
              <a:t>equipos</a:t>
            </a:r>
            <a:r>
              <a:rPr sz="975" b="0" i="0" dirty="0">
                <a:solidFill>
                  <a:srgbClr val="2E404D"/>
                </a:solidFill>
                <a:latin typeface="Arial"/>
              </a:rPr>
              <a:t> </a:t>
            </a:r>
            <a:r>
              <a:rPr sz="975" b="0" i="0" dirty="0" err="1">
                <a:solidFill>
                  <a:srgbClr val="2E404D"/>
                </a:solidFill>
                <a:latin typeface="Arial"/>
              </a:rPr>
              <a:t>que</a:t>
            </a:r>
            <a:r>
              <a:rPr sz="975" b="0" i="0" dirty="0">
                <a:solidFill>
                  <a:srgbClr val="2E404D"/>
                </a:solidFill>
                <a:latin typeface="Arial"/>
              </a:rPr>
              <a:t> </a:t>
            </a:r>
            <a:r>
              <a:rPr sz="975" b="0" i="0" dirty="0" err="1">
                <a:solidFill>
                  <a:srgbClr val="2E404D"/>
                </a:solidFill>
                <a:latin typeface="Arial"/>
              </a:rPr>
              <a:t>ya</a:t>
            </a:r>
            <a:r>
              <a:rPr sz="975" b="0" i="0" dirty="0">
                <a:solidFill>
                  <a:srgbClr val="2E404D"/>
                </a:solidFill>
                <a:latin typeface="Arial"/>
              </a:rPr>
              <a:t> </a:t>
            </a:r>
            <a:r>
              <a:rPr sz="975" b="0" i="0" dirty="0" err="1">
                <a:solidFill>
                  <a:srgbClr val="2E404D"/>
                </a:solidFill>
                <a:latin typeface="Arial"/>
              </a:rPr>
              <a:t>construyen</a:t>
            </a:r>
            <a:r>
              <a:rPr sz="975" b="0" i="0" dirty="0">
                <a:solidFill>
                  <a:srgbClr val="2E404D"/>
                </a:solidFill>
                <a:latin typeface="Arial"/>
              </a:rPr>
              <a:t> la API y luego publican el </a:t>
            </a:r>
            <a:r>
              <a:rPr sz="975" b="0" i="0" dirty="0" err="1">
                <a:solidFill>
                  <a:srgbClr val="2E404D"/>
                </a:solidFill>
                <a:latin typeface="Arial"/>
              </a:rPr>
              <a:t>contrato</a:t>
            </a:r>
            <a:r>
              <a:rPr sz="975" b="0" i="0" dirty="0">
                <a:solidFill>
                  <a:srgbClr val="2E404D"/>
                </a:solidFill>
                <a:latin typeface="Arial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17975" y="3587054"/>
            <a:ext cx="3257550" cy="2920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209550" bIns="0">
            <a:spAutoFit/>
          </a:bodyPr>
          <a:lstStyle/>
          <a:p>
            <a:pPr>
              <a:lnSpc>
                <a:spcPct val="94400"/>
              </a:lnSpc>
              <a:defRPr sz="975" b="0" i="0">
                <a:solidFill>
                  <a:srgbClr val="2E404D"/>
                </a:solidFill>
                <a:latin typeface="Arial"/>
              </a:defRPr>
            </a:pPr>
            <a:r>
              <a:rPr sz="975" b="0" i="0" dirty="0">
                <a:solidFill>
                  <a:srgbClr val="2E404D"/>
                </a:solidFill>
                <a:latin typeface="Arial"/>
              </a:rPr>
              <a:t>Alinea antes a </a:t>
            </a:r>
            <a:r>
              <a:rPr sz="975" b="0" i="0" dirty="0" err="1">
                <a:solidFill>
                  <a:srgbClr val="2E404D"/>
                </a:solidFill>
                <a:latin typeface="Arial"/>
              </a:rPr>
              <a:t>consumidores</a:t>
            </a:r>
            <a:r>
              <a:rPr sz="975" b="0" i="0" dirty="0">
                <a:solidFill>
                  <a:srgbClr val="2E404D"/>
                </a:solidFill>
                <a:latin typeface="Arial"/>
              </a:rPr>
              <a:t> y </a:t>
            </a:r>
            <a:r>
              <a:rPr sz="975" b="0" i="0" dirty="0" err="1">
                <a:solidFill>
                  <a:srgbClr val="2E404D"/>
                </a:solidFill>
                <a:latin typeface="Arial"/>
              </a:rPr>
              <a:t>proveedores</a:t>
            </a:r>
            <a:r>
              <a:rPr sz="975" b="0" i="0" dirty="0">
                <a:solidFill>
                  <a:srgbClr val="2E404D"/>
                </a:solidFill>
                <a:latin typeface="Arial"/>
              </a:rPr>
              <a:t> con un </a:t>
            </a:r>
            <a:r>
              <a:rPr sz="975" b="0" i="0" dirty="0" err="1">
                <a:solidFill>
                  <a:srgbClr val="2E404D"/>
                </a:solidFill>
                <a:latin typeface="Arial"/>
              </a:rPr>
              <a:t>diseño</a:t>
            </a:r>
            <a:r>
              <a:rPr sz="975" b="0" i="0" dirty="0">
                <a:solidFill>
                  <a:srgbClr val="2E404D"/>
                </a:solidFill>
                <a:latin typeface="Arial"/>
              </a:rPr>
              <a:t> claro y </a:t>
            </a:r>
            <a:r>
              <a:rPr sz="975" b="0" i="0" dirty="0" err="1">
                <a:solidFill>
                  <a:srgbClr val="2E404D"/>
                </a:solidFill>
                <a:latin typeface="Arial"/>
              </a:rPr>
              <a:t>validable</a:t>
            </a:r>
            <a:r>
              <a:rPr sz="975" b="0" i="0" dirty="0">
                <a:solidFill>
                  <a:srgbClr val="2E404D"/>
                </a:solidFill>
                <a:latin typeface="Arial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17975" y="4291904"/>
            <a:ext cx="3257550" cy="2920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209550" bIns="0">
            <a:spAutoFit/>
          </a:bodyPr>
          <a:lstStyle/>
          <a:p>
            <a:pPr>
              <a:lnSpc>
                <a:spcPct val="94400"/>
              </a:lnSpc>
              <a:defRPr sz="975" b="0" i="0">
                <a:solidFill>
                  <a:srgbClr val="2E404D"/>
                </a:solidFill>
                <a:latin typeface="Arial"/>
              </a:defRPr>
            </a:pPr>
            <a:r>
              <a:rPr sz="975" b="0" i="0" dirty="0">
                <a:solidFill>
                  <a:srgbClr val="2E404D"/>
                </a:solidFill>
                <a:latin typeface="Arial"/>
              </a:rPr>
              <a:t>Sirve </a:t>
            </a:r>
            <a:r>
              <a:rPr sz="975" b="0" i="0" dirty="0" err="1">
                <a:solidFill>
                  <a:srgbClr val="2E404D"/>
                </a:solidFill>
                <a:latin typeface="Arial"/>
              </a:rPr>
              <a:t>como</a:t>
            </a:r>
            <a:r>
              <a:rPr sz="975" b="0" i="0" dirty="0">
                <a:solidFill>
                  <a:srgbClr val="2E404D"/>
                </a:solidFill>
                <a:latin typeface="Arial"/>
              </a:rPr>
              <a:t> </a:t>
            </a:r>
            <a:r>
              <a:rPr sz="975" b="0" i="0" dirty="0" err="1">
                <a:solidFill>
                  <a:srgbClr val="2E404D"/>
                </a:solidFill>
                <a:latin typeface="Arial"/>
              </a:rPr>
              <a:t>acuerdo</a:t>
            </a:r>
            <a:r>
              <a:rPr sz="975" b="0" i="0" dirty="0">
                <a:solidFill>
                  <a:srgbClr val="2E404D"/>
                </a:solidFill>
                <a:latin typeface="Arial"/>
              </a:rPr>
              <a:t> </a:t>
            </a:r>
            <a:r>
              <a:rPr sz="975" b="0" i="0" dirty="0" err="1">
                <a:solidFill>
                  <a:srgbClr val="2E404D"/>
                </a:solidFill>
                <a:latin typeface="Arial"/>
              </a:rPr>
              <a:t>común</a:t>
            </a:r>
            <a:r>
              <a:rPr sz="975" b="0" i="0" dirty="0">
                <a:solidFill>
                  <a:srgbClr val="2E404D"/>
                </a:solidFill>
                <a:latin typeface="Arial"/>
              </a:rPr>
              <a:t> para </a:t>
            </a:r>
            <a:r>
              <a:rPr sz="975" b="0" i="0" dirty="0" err="1">
                <a:solidFill>
                  <a:srgbClr val="2E404D"/>
                </a:solidFill>
                <a:latin typeface="Arial"/>
              </a:rPr>
              <a:t>diseñar</a:t>
            </a:r>
            <a:r>
              <a:rPr sz="975" b="0" i="0" dirty="0">
                <a:solidFill>
                  <a:srgbClr val="2E404D"/>
                </a:solidFill>
                <a:latin typeface="Arial"/>
              </a:rPr>
              <a:t>, </a:t>
            </a:r>
            <a:r>
              <a:rPr sz="975" b="0" i="0" dirty="0" err="1">
                <a:solidFill>
                  <a:srgbClr val="2E404D"/>
                </a:solidFill>
                <a:latin typeface="Arial"/>
              </a:rPr>
              <a:t>revisar</a:t>
            </a:r>
            <a:r>
              <a:rPr sz="975" b="0" i="0" dirty="0">
                <a:solidFill>
                  <a:srgbClr val="2E404D"/>
                </a:solidFill>
                <a:latin typeface="Arial"/>
              </a:rPr>
              <a:t>, </a:t>
            </a:r>
            <a:r>
              <a:rPr sz="975" b="0" i="0" dirty="0" err="1">
                <a:solidFill>
                  <a:srgbClr val="2E404D"/>
                </a:solidFill>
                <a:latin typeface="Arial"/>
              </a:rPr>
              <a:t>probar</a:t>
            </a:r>
            <a:r>
              <a:rPr sz="975" b="0" i="0" dirty="0">
                <a:solidFill>
                  <a:srgbClr val="2E404D"/>
                </a:solidFill>
                <a:latin typeface="Arial"/>
              </a:rPr>
              <a:t> y </a:t>
            </a:r>
            <a:r>
              <a:rPr sz="975" b="0" i="0" dirty="0" err="1">
                <a:solidFill>
                  <a:srgbClr val="2E404D"/>
                </a:solidFill>
                <a:latin typeface="Arial"/>
              </a:rPr>
              <a:t>gobernar</a:t>
            </a:r>
            <a:r>
              <a:rPr sz="975" b="0" i="0" dirty="0">
                <a:solidFill>
                  <a:srgbClr val="2E404D"/>
                </a:solidFill>
                <a:latin typeface="Arial"/>
              </a:rPr>
              <a:t> APIs.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9829" y="4971305"/>
            <a:ext cx="5906690" cy="1143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825" b="0" i="0" spc="150">
                <a:solidFill>
                  <a:srgbClr val="8A8A8A"/>
                </a:solidFill>
                <a:latin typeface="Arial"/>
              </a:defRPr>
            </a:pPr>
            <a:r>
              <a:rPr sz="825" b="0" i="0">
                <a:solidFill>
                  <a:srgbClr val="8A8A8A"/>
                </a:solidFill>
                <a:latin typeface="Arial"/>
              </a:rPr>
              <a:t>elige según coordinación, velocidad y gobernanza; OpenAPI reduce fricción entre equipos.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7704" y="1452860"/>
            <a:ext cx="1553170" cy="257175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800" b="1" i="0" spc="75">
                <a:solidFill>
                  <a:srgbClr val="E8E8E8"/>
                </a:solidFill>
                <a:latin typeface="Arial"/>
              </a:defRPr>
            </a:pPr>
            <a:r>
              <a:rPr sz="1800" b="1" i="0" dirty="0" err="1">
                <a:solidFill>
                  <a:srgbClr val="E8E8E8"/>
                </a:solidFill>
                <a:latin typeface="Arial"/>
              </a:rPr>
              <a:t>mejor</a:t>
            </a:r>
            <a:r>
              <a:rPr sz="1800" b="1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1800" b="1" i="0" dirty="0" err="1">
                <a:solidFill>
                  <a:srgbClr val="E8E8E8"/>
                </a:solidFill>
                <a:latin typeface="Arial"/>
              </a:rPr>
              <a:t>ajuste</a:t>
            </a:r>
            <a:r>
              <a:rPr sz="1800" b="1" i="0" dirty="0">
                <a:solidFill>
                  <a:srgbClr val="E8E8E8"/>
                </a:solidFill>
                <a:latin typeface="Arial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2225" y="2851992"/>
            <a:ext cx="2114550" cy="17145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none" lIns="0" tIns="0" rIns="0" bIns="0">
            <a:spAutoFit/>
          </a:bodyPr>
          <a:lstStyle/>
          <a:p>
            <a:pPr>
              <a:lnSpc>
                <a:spcPct val="80000"/>
              </a:lnSpc>
              <a:defRPr sz="1350" b="1" i="0">
                <a:solidFill>
                  <a:srgbClr val="19A3FC"/>
                </a:solidFill>
                <a:latin typeface="Arial"/>
              </a:defRPr>
            </a:pPr>
            <a:r>
              <a:rPr sz="1350" b="1" i="0" dirty="0">
                <a:solidFill>
                  <a:srgbClr val="19A3FC"/>
                </a:solidFill>
                <a:latin typeface="Arial"/>
              </a:rPr>
              <a:t>Code 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2225" y="3556842"/>
            <a:ext cx="2114550" cy="17145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none" lIns="0" tIns="0" rIns="0" bIns="0">
            <a:spAutoFit/>
          </a:bodyPr>
          <a:lstStyle/>
          <a:p>
            <a:pPr>
              <a:lnSpc>
                <a:spcPct val="80000"/>
              </a:lnSpc>
              <a:defRPr sz="1350" b="1" i="0">
                <a:solidFill>
                  <a:srgbClr val="19A3FC"/>
                </a:solidFill>
                <a:latin typeface="Arial"/>
              </a:defRPr>
            </a:pPr>
            <a:r>
              <a:rPr sz="1350" b="1" i="0" dirty="0">
                <a:solidFill>
                  <a:srgbClr val="19A3FC"/>
                </a:solidFill>
                <a:latin typeface="Arial"/>
              </a:rPr>
              <a:t>Contract 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2225" y="4261692"/>
            <a:ext cx="2114550" cy="17145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none" lIns="0" tIns="0" rIns="0" bIns="0">
            <a:spAutoFit/>
          </a:bodyPr>
          <a:lstStyle/>
          <a:p>
            <a:pPr>
              <a:lnSpc>
                <a:spcPct val="80000"/>
              </a:lnSpc>
              <a:defRPr sz="1350" b="1" i="0">
                <a:solidFill>
                  <a:srgbClr val="19A3FC"/>
                </a:solidFill>
                <a:latin typeface="Arial"/>
              </a:defRPr>
            </a:pPr>
            <a:r>
              <a:rPr sz="1350" b="1" i="0" dirty="0" err="1">
                <a:solidFill>
                  <a:srgbClr val="19A3FC"/>
                </a:solidFill>
                <a:latin typeface="Arial"/>
              </a:rPr>
              <a:t>OpenAPI</a:t>
            </a:r>
            <a:endParaRPr sz="1350" b="1" i="0" dirty="0">
              <a:solidFill>
                <a:srgbClr val="19A3FC"/>
              </a:solidFill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17975" y="2432892"/>
            <a:ext cx="3257550" cy="104775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825" b="1" i="0" spc="300">
                <a:solidFill>
                  <a:srgbClr val="FFFFFF"/>
                </a:solidFill>
                <a:latin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</a:rPr>
              <a:t>Fortaleza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6475" y="2966292"/>
            <a:ext cx="2705100" cy="123825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none" lIns="0" tIns="0" rIns="0" bIns="0">
            <a:spAutoFit/>
          </a:bodyPr>
          <a:lstStyle/>
          <a:p>
            <a:pPr>
              <a:lnSpc>
                <a:spcPct val="80000"/>
              </a:lnSpc>
              <a:defRPr sz="975" b="0" i="0">
                <a:solidFill>
                  <a:srgbClr val="2E404D"/>
                </a:solidFill>
                <a:latin typeface="Arial"/>
              </a:defRPr>
            </a:pPr>
            <a:r>
              <a:rPr sz="975" b="0" i="0">
                <a:solidFill>
                  <a:srgbClr val="2E404D"/>
                </a:solidFill>
                <a:latin typeface="Arial"/>
              </a:rPr>
              <a:t>Servicios internos y ciclos rápidos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6475" y="3671142"/>
            <a:ext cx="2705100" cy="123825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none" lIns="0" tIns="0" rIns="0" bIns="0">
            <a:spAutoFit/>
          </a:bodyPr>
          <a:lstStyle/>
          <a:p>
            <a:pPr>
              <a:lnSpc>
                <a:spcPct val="80000"/>
              </a:lnSpc>
              <a:defRPr sz="975" b="0" i="0">
                <a:solidFill>
                  <a:srgbClr val="2E404D"/>
                </a:solidFill>
                <a:latin typeface="Arial"/>
              </a:defRPr>
            </a:pPr>
            <a:r>
              <a:rPr sz="975" b="0" i="0">
                <a:solidFill>
                  <a:srgbClr val="2E404D"/>
                </a:solidFill>
                <a:latin typeface="Arial"/>
              </a:rPr>
              <a:t>Integraciones y equipos múltiples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6475" y="4375992"/>
            <a:ext cx="2705100" cy="123825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none" lIns="0" tIns="0" rIns="0" bIns="0">
            <a:spAutoFit/>
          </a:bodyPr>
          <a:lstStyle/>
          <a:p>
            <a:pPr>
              <a:lnSpc>
                <a:spcPct val="80000"/>
              </a:lnSpc>
              <a:defRPr sz="975" b="0" i="0">
                <a:solidFill>
                  <a:srgbClr val="2E404D"/>
                </a:solidFill>
                <a:latin typeface="Arial"/>
              </a:defRPr>
            </a:pPr>
            <a:r>
              <a:rPr sz="975" b="0" i="0">
                <a:solidFill>
                  <a:srgbClr val="2E404D"/>
                </a:solidFill>
                <a:latin typeface="Arial"/>
              </a:rPr>
              <a:t>Trabajo</a:t>
            </a:r>
            <a:r>
              <a:rPr sz="975" b="0" i="0" dirty="0">
                <a:solidFill>
                  <a:srgbClr val="2E404D"/>
                </a:solidFill>
                <a:latin typeface="Arial"/>
              </a:rPr>
              <a:t> entre </a:t>
            </a:r>
            <a:r>
              <a:rPr sz="975" b="0" i="0" dirty="0" err="1">
                <a:solidFill>
                  <a:srgbClr val="2E404D"/>
                </a:solidFill>
                <a:latin typeface="Arial"/>
              </a:rPr>
              <a:t>áreas</a:t>
            </a:r>
            <a:r>
              <a:rPr sz="975" b="0" i="0" dirty="0">
                <a:solidFill>
                  <a:srgbClr val="2E404D"/>
                </a:solidFill>
                <a:latin typeface="Arial"/>
              </a:rPr>
              <a:t> y partners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17725" y="2952005"/>
            <a:ext cx="2019300" cy="1524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none" lIns="0" tIns="0" rIns="0" bIns="0">
            <a:spAutoFit/>
          </a:bodyPr>
          <a:lstStyle/>
          <a:p>
            <a:pPr>
              <a:lnSpc>
                <a:spcPct val="80000"/>
              </a:lnSpc>
              <a:defRPr sz="1200" b="0" i="0">
                <a:solidFill>
                  <a:srgbClr val="2E404D"/>
                </a:solidFill>
                <a:latin typeface="Arial"/>
              </a:defRPr>
            </a:pPr>
            <a:r>
              <a:rPr sz="1200" b="0" i="0">
                <a:solidFill>
                  <a:srgbClr val="2E404D"/>
                </a:solidFill>
                <a:latin typeface="Arial"/>
              </a:rPr>
              <a:t>Código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17725" y="3656855"/>
            <a:ext cx="2019300" cy="1524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none" lIns="0" tIns="0" rIns="0" bIns="0">
            <a:spAutoFit/>
          </a:bodyPr>
          <a:lstStyle/>
          <a:p>
            <a:pPr>
              <a:lnSpc>
                <a:spcPct val="80000"/>
              </a:lnSpc>
              <a:defRPr sz="1200" b="0" i="0">
                <a:solidFill>
                  <a:srgbClr val="2E404D"/>
                </a:solidFill>
                <a:latin typeface="Arial"/>
              </a:defRPr>
            </a:pPr>
            <a:r>
              <a:rPr sz="1200" b="0" i="0" dirty="0" err="1">
                <a:solidFill>
                  <a:srgbClr val="2E404D"/>
                </a:solidFill>
                <a:latin typeface="Arial"/>
              </a:rPr>
              <a:t>OpenAPI</a:t>
            </a:r>
            <a:endParaRPr sz="1200" b="0" i="0" dirty="0">
              <a:solidFill>
                <a:srgbClr val="2E404D"/>
              </a:solidFill>
              <a:latin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117725" y="4361705"/>
            <a:ext cx="2019300" cy="1524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none" lIns="0" tIns="0" rIns="0" bIns="0">
            <a:spAutoFit/>
          </a:bodyPr>
          <a:lstStyle/>
          <a:p>
            <a:pPr>
              <a:lnSpc>
                <a:spcPct val="80000"/>
              </a:lnSpc>
              <a:defRPr sz="1200" b="0" i="0">
                <a:solidFill>
                  <a:srgbClr val="2E404D"/>
                </a:solidFill>
                <a:latin typeface="Arial"/>
              </a:defRPr>
            </a:pPr>
            <a:r>
              <a:rPr sz="1200" b="0" i="0">
                <a:solidFill>
                  <a:srgbClr val="2E404D"/>
                </a:solidFill>
                <a:latin typeface="Arial"/>
              </a:rPr>
              <a:t>Estándar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6475" y="2432892"/>
            <a:ext cx="2705100" cy="104775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825" b="1" i="0" spc="300">
                <a:solidFill>
                  <a:srgbClr val="FFFFFF"/>
                </a:solidFill>
                <a:latin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</a:rPr>
              <a:t>Mejor uso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2225" y="2432892"/>
            <a:ext cx="2114550" cy="104775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825" b="1" i="0" spc="300">
                <a:solidFill>
                  <a:srgbClr val="FFFFFF"/>
                </a:solidFill>
                <a:latin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</a:rPr>
              <a:t>Enfoque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2225" y="3099642"/>
            <a:ext cx="2114550" cy="104775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none" lIns="0" tIns="0" rIns="0" bIns="0">
            <a:spAutoFit/>
          </a:bodyPr>
          <a:lstStyle/>
          <a:p>
            <a:pPr>
              <a:lnSpc>
                <a:spcPct val="80000"/>
              </a:lnSpc>
              <a:defRPr sz="825" b="0" i="0">
                <a:solidFill>
                  <a:srgbClr val="8A8A8A"/>
                </a:solidFill>
                <a:latin typeface="Arial"/>
              </a:defRPr>
            </a:pPr>
            <a:r>
              <a:rPr sz="825" b="0" i="0">
                <a:solidFill>
                  <a:srgbClr val="8A8A8A"/>
                </a:solidFill>
                <a:latin typeface="Arial"/>
              </a:rPr>
              <a:t>Desde implementación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2225" y="3804492"/>
            <a:ext cx="2114550" cy="104775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none" lIns="0" tIns="0" rIns="0" bIns="0">
            <a:spAutoFit/>
          </a:bodyPr>
          <a:lstStyle/>
          <a:p>
            <a:pPr>
              <a:lnSpc>
                <a:spcPct val="80000"/>
              </a:lnSpc>
              <a:defRPr sz="825" b="0" i="0">
                <a:solidFill>
                  <a:srgbClr val="8A8A8A"/>
                </a:solidFill>
                <a:latin typeface="Arial"/>
              </a:defRPr>
            </a:pPr>
            <a:r>
              <a:rPr sz="825" b="0" i="0">
                <a:solidFill>
                  <a:srgbClr val="8A8A8A"/>
                </a:solidFill>
                <a:latin typeface="Arial"/>
              </a:rPr>
              <a:t>Desde especificación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225" y="4509342"/>
            <a:ext cx="2114550" cy="104775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none" lIns="0" tIns="0" rIns="0" bIns="0">
            <a:spAutoFit/>
          </a:bodyPr>
          <a:lstStyle/>
          <a:p>
            <a:pPr>
              <a:lnSpc>
                <a:spcPct val="80000"/>
              </a:lnSpc>
              <a:defRPr sz="825" b="0" i="0">
                <a:solidFill>
                  <a:srgbClr val="8A8A8A"/>
                </a:solidFill>
                <a:latin typeface="Arial"/>
              </a:defRPr>
            </a:pPr>
            <a:r>
              <a:rPr sz="825" b="0" i="0">
                <a:solidFill>
                  <a:srgbClr val="8A8A8A"/>
                </a:solidFill>
                <a:latin typeface="Arial"/>
              </a:rPr>
              <a:t>Contrato formal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17725" y="2432892"/>
            <a:ext cx="2019300" cy="104775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825" b="1" i="0" spc="300">
                <a:solidFill>
                  <a:srgbClr val="FFFFFF"/>
                </a:solidFill>
                <a:latin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</a:rPr>
              <a:t>Parte 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4575" y="4971305"/>
            <a:ext cx="1056084" cy="1143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825" b="1" i="0" spc="150">
                <a:solidFill>
                  <a:srgbClr val="E8E8E8"/>
                </a:solidFill>
                <a:latin typeface="Arial"/>
              </a:defRPr>
            </a:pPr>
            <a:r>
              <a:rPr sz="825" b="1" i="0">
                <a:solidFill>
                  <a:srgbClr val="E8E8E8"/>
                </a:solidFill>
                <a:latin typeface="Arial"/>
              </a:rPr>
              <a:t>Regla práctica: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2375" y="6515100"/>
            <a:ext cx="146298" cy="1905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none" lIns="0" tIns="0" rIns="0" bIns="0">
            <a:spAutoFit/>
          </a:bodyPr>
          <a:lstStyle/>
          <a:p>
            <a:pPr>
              <a:lnSpc>
                <a:spcPct val="133333"/>
              </a:lnSpc>
              <a:defRPr sz="900" b="0" i="0">
                <a:solidFill>
                  <a:srgbClr val="E8E8E8"/>
                </a:solidFill>
                <a:latin typeface="Arial"/>
              </a:defRPr>
            </a:pPr>
            <a:r>
              <a:rPr sz="900" b="0" i="0">
                <a:solidFill>
                  <a:srgbClr val="E8E8E8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38200" y="847725"/>
            <a:ext cx="10306050" cy="505122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1600"/>
              </a:lnSpc>
              <a:defRPr sz="3900" b="1" i="0">
                <a:solidFill>
                  <a:srgbClr val="E8E8E8"/>
                </a:solidFill>
                <a:latin typeface="Georgia"/>
              </a:defRPr>
            </a:pPr>
            <a:r>
              <a:rPr sz="3900" b="1" i="0">
                <a:solidFill>
                  <a:srgbClr val="E8E8E8"/>
                </a:solidFill>
                <a:latin typeface="Georgia"/>
              </a:rPr>
              <a:t>Generación automática de clientes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495300"/>
            <a:ext cx="10534650" cy="123825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975" b="1" i="0" spc="375">
                <a:solidFill>
                  <a:srgbClr val="19A3FC"/>
                </a:solidFill>
                <a:latin typeface="Arial"/>
              </a:defRPr>
            </a:pPr>
            <a:r>
              <a:rPr sz="975" b="1" i="0">
                <a:solidFill>
                  <a:srgbClr val="19A3FC"/>
                </a:solidFill>
                <a:latin typeface="Arial"/>
              </a:rPr>
              <a:t>01 - Fundamentos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582333"/>
            <a:ext cx="4078634" cy="257175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800" b="0" i="0" spc="75">
                <a:solidFill>
                  <a:srgbClr val="E8E8E8"/>
                </a:solidFill>
                <a:latin typeface="Arial"/>
              </a:defRPr>
            </a:pPr>
            <a:r>
              <a:rPr sz="1800" b="0" i="0">
                <a:solidFill>
                  <a:srgbClr val="E8E8E8"/>
                </a:solidFill>
                <a:latin typeface="Arial"/>
              </a:rPr>
              <a:t>Una especificación OpenAPI permite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70859" y="1582333"/>
            <a:ext cx="1924942" cy="257175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defRPr sz="1800" b="1" i="0" spc="75">
                <a:solidFill>
                  <a:srgbClr val="E8E8E8"/>
                </a:solidFill>
                <a:latin typeface="Arial"/>
              </a:defRPr>
            </a:pPr>
            <a:r>
              <a:rPr sz="1800" b="1" i="0">
                <a:solidFill>
                  <a:srgbClr val="E8E8E8"/>
                </a:solidFill>
                <a:latin typeface="Arial"/>
              </a:rPr>
              <a:t>generar clientes</a:t>
            </a:r>
          </a:p>
        </p:txBody>
      </p:sp>
      <p:grpSp>
        <p:nvGrpSpPr>
          <p:cNvPr id="36" name="Grupo 35">
            <a:extLst>
              <a:ext uri="{FF2B5EF4-FFF2-40B4-BE49-F238E27FC236}">
                <a16:creationId xmlns:a16="http://schemas.microsoft.com/office/drawing/2014/main" id="{16E2B9BE-FC28-CB69-E2B6-FC4CB1F7229F}"/>
              </a:ext>
            </a:extLst>
          </p:cNvPr>
          <p:cNvGrpSpPr/>
          <p:nvPr/>
        </p:nvGrpSpPr>
        <p:grpSpPr>
          <a:xfrm>
            <a:off x="838200" y="2126698"/>
            <a:ext cx="6319982" cy="2408357"/>
            <a:chOff x="838200" y="2126698"/>
            <a:chExt cx="10515600" cy="2495550"/>
          </a:xfrm>
        </p:grpSpPr>
        <p:sp>
          <p:nvSpPr>
            <p:cNvPr id="2" name="Rectangle 1"/>
            <p:cNvSpPr/>
            <p:nvPr/>
          </p:nvSpPr>
          <p:spPr>
            <a:xfrm>
              <a:off x="838200" y="2507698"/>
              <a:ext cx="10515600" cy="7048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>
                <a:srgbClr val="000000">
                  <a:alpha val="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47650" tIns="0" rIns="247650" bIns="0" rtlCol="0" anchor="ctr"/>
            <a:lstStyle/>
            <a:p>
              <a:pPr algn="ctr"/>
              <a:endParaRPr/>
            </a:p>
          </p:txBody>
        </p:sp>
        <p:sp>
          <p:nvSpPr>
            <p:cNvPr id="3" name="Rectangle 2"/>
            <p:cNvSpPr/>
            <p:nvPr/>
          </p:nvSpPr>
          <p:spPr>
            <a:xfrm>
              <a:off x="838200" y="3212548"/>
              <a:ext cx="10515600" cy="704850"/>
            </a:xfrm>
            <a:prstGeom prst="rect">
              <a:avLst/>
            </a:prstGeom>
            <a:solidFill>
              <a:srgbClr val="E8E8E8"/>
            </a:solidFill>
            <a:ln>
              <a:noFill/>
            </a:ln>
            <a:effectLst>
              <a:outerShdw>
                <a:srgbClr val="000000">
                  <a:alpha val="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47650" tIns="0" rIns="247650" bIns="0" rtlCol="0" anchor="ctr"/>
            <a:lstStyle/>
            <a:p>
              <a:pPr algn="ctr"/>
              <a:endParaRPr/>
            </a:p>
          </p:txBody>
        </p:sp>
        <p:sp>
          <p:nvSpPr>
            <p:cNvPr id="4" name="Rectangle 3"/>
            <p:cNvSpPr/>
            <p:nvPr/>
          </p:nvSpPr>
          <p:spPr>
            <a:xfrm>
              <a:off x="838200" y="3917398"/>
              <a:ext cx="10515600" cy="7048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>
                <a:srgbClr val="000000">
                  <a:alpha val="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47650" tIns="0" rIns="247650" bIns="0" rtlCol="0" anchor="ctr"/>
            <a:lstStyle/>
            <a:p>
              <a:pPr algn="ctr"/>
              <a:endParaRPr/>
            </a:p>
          </p:txBody>
        </p:sp>
        <p:sp>
          <p:nvSpPr>
            <p:cNvPr id="6" name="Rectangle 5"/>
            <p:cNvSpPr/>
            <p:nvPr/>
          </p:nvSpPr>
          <p:spPr>
            <a:xfrm>
              <a:off x="838200" y="2126698"/>
              <a:ext cx="10515600" cy="381000"/>
            </a:xfrm>
            <a:prstGeom prst="rect">
              <a:avLst/>
            </a:prstGeom>
            <a:solidFill>
              <a:srgbClr val="070F26"/>
            </a:solidFill>
            <a:ln>
              <a:noFill/>
            </a:ln>
            <a:effectLst>
              <a:outerShdw>
                <a:srgbClr val="000000">
                  <a:alpha val="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47650" tIns="0" rIns="247650" bIns="0"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181600" y="2714122"/>
              <a:ext cx="3257550" cy="282129"/>
            </a:xfrm>
            <a:prstGeom prst="rect">
              <a:avLst/>
            </a:prstGeom>
            <a:noFill/>
            <a:ln>
              <a:noFill/>
            </a:ln>
            <a:effectLst>
              <a:outerShdw>
                <a:srgbClr val="000000">
                  <a:alpha val="0"/>
                </a:srgbClr>
              </a:outerShdw>
            </a:effectLst>
          </p:spPr>
          <p:txBody>
            <a:bodyPr wrap="square" lIns="0" tIns="0" rIns="209550" bIns="0">
              <a:spAutoFit/>
            </a:bodyPr>
            <a:lstStyle/>
            <a:p>
              <a:pPr>
                <a:lnSpc>
                  <a:spcPct val="94400"/>
                </a:lnSpc>
                <a:defRPr sz="975" b="0" i="0">
                  <a:solidFill>
                    <a:srgbClr val="2E404D"/>
                  </a:solidFill>
                  <a:latin typeface="Arial"/>
                </a:defRPr>
              </a:pPr>
              <a:r>
                <a:rPr sz="975" b="0" i="0">
                  <a:solidFill>
                    <a:srgbClr val="2E404D"/>
                  </a:solidFill>
                  <a:latin typeface="Arial"/>
                </a:rPr>
                <a:t>Genera clientes y modelos para .NET con buena integración en C#.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181600" y="3418972"/>
              <a:ext cx="3257550" cy="282129"/>
            </a:xfrm>
            <a:prstGeom prst="rect">
              <a:avLst/>
            </a:prstGeom>
            <a:noFill/>
            <a:ln>
              <a:noFill/>
            </a:ln>
            <a:effectLst>
              <a:outerShdw>
                <a:srgbClr val="000000">
                  <a:alpha val="0"/>
                </a:srgbClr>
              </a:outerShdw>
            </a:effectLst>
          </p:spPr>
          <p:txBody>
            <a:bodyPr wrap="square" lIns="0" tIns="0" rIns="209550" bIns="0">
              <a:spAutoFit/>
            </a:bodyPr>
            <a:lstStyle/>
            <a:p>
              <a:pPr>
                <a:lnSpc>
                  <a:spcPct val="94400"/>
                </a:lnSpc>
                <a:defRPr sz="975" b="0" i="0">
                  <a:solidFill>
                    <a:srgbClr val="2E404D"/>
                  </a:solidFill>
                  <a:latin typeface="Arial"/>
                </a:defRPr>
              </a:pPr>
              <a:r>
                <a:rPr sz="975" b="0" i="0">
                  <a:solidFill>
                    <a:srgbClr val="2E404D"/>
                  </a:solidFill>
                  <a:latin typeface="Arial"/>
                </a:rPr>
                <a:t>Crea clientes para muchos lenguajes y reduce trabajo manual.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181600" y="4123822"/>
              <a:ext cx="3257550" cy="282129"/>
            </a:xfrm>
            <a:prstGeom prst="rect">
              <a:avLst/>
            </a:prstGeom>
            <a:noFill/>
            <a:ln>
              <a:noFill/>
            </a:ln>
            <a:effectLst>
              <a:outerShdw>
                <a:srgbClr val="000000">
                  <a:alpha val="0"/>
                </a:srgbClr>
              </a:outerShdw>
            </a:effectLst>
          </p:spPr>
          <p:txBody>
            <a:bodyPr wrap="square" lIns="0" tIns="0" rIns="209550" bIns="0">
              <a:spAutoFit/>
            </a:bodyPr>
            <a:lstStyle/>
            <a:p>
              <a:pPr>
                <a:lnSpc>
                  <a:spcPct val="94400"/>
                </a:lnSpc>
                <a:defRPr sz="975" b="0" i="0">
                  <a:solidFill>
                    <a:srgbClr val="2E404D"/>
                  </a:solidFill>
                  <a:latin typeface="Arial"/>
                </a:defRPr>
              </a:pPr>
              <a:r>
                <a:rPr sz="975" b="0" i="0">
                  <a:solidFill>
                    <a:srgbClr val="2E404D"/>
                  </a:solidFill>
                  <a:latin typeface="Arial"/>
                </a:rPr>
                <a:t>Estandariza endpoints y modelos, y reduce errores de integración.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085850" y="2683910"/>
              <a:ext cx="2114550" cy="171450"/>
            </a:xfrm>
            <a:prstGeom prst="rect">
              <a:avLst/>
            </a:prstGeom>
            <a:noFill/>
            <a:ln>
              <a:noFill/>
            </a:ln>
            <a:effectLst>
              <a:outerShdw>
                <a:srgbClr val="000000">
                  <a:alpha val="0"/>
                </a:srgbClr>
              </a:outerShdw>
            </a:effec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80000"/>
                </a:lnSpc>
                <a:defRPr sz="1350" b="1" i="0">
                  <a:solidFill>
                    <a:srgbClr val="19A3FC"/>
                  </a:solidFill>
                  <a:latin typeface="Arial"/>
                </a:defRPr>
              </a:pPr>
              <a:r>
                <a:rPr sz="1350" b="1" i="0" dirty="0" err="1">
                  <a:solidFill>
                    <a:srgbClr val="19A3FC"/>
                  </a:solidFill>
                  <a:latin typeface="Arial"/>
                </a:rPr>
                <a:t>NSwag</a:t>
              </a:r>
              <a:endParaRPr sz="1350" b="1" i="0" dirty="0">
                <a:solidFill>
                  <a:srgbClr val="19A3FC"/>
                </a:solidFill>
                <a:latin typeface="Arial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085850" y="3388760"/>
              <a:ext cx="2114550" cy="166199"/>
            </a:xfrm>
            <a:prstGeom prst="rect">
              <a:avLst/>
            </a:prstGeom>
            <a:noFill/>
            <a:ln>
              <a:noFill/>
            </a:ln>
            <a:effectLst>
              <a:outerShdw>
                <a:srgbClr val="000000">
                  <a:alpha val="0"/>
                </a:srgbClr>
              </a:outerShdw>
            </a:effec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80000"/>
                </a:lnSpc>
                <a:defRPr sz="1350" b="1" i="0">
                  <a:solidFill>
                    <a:srgbClr val="19A3FC"/>
                  </a:solidFill>
                  <a:latin typeface="Arial"/>
                </a:defRPr>
              </a:pPr>
              <a:r>
                <a:rPr sz="1350" b="1" i="0" dirty="0" err="1">
                  <a:solidFill>
                    <a:srgbClr val="19A3FC"/>
                  </a:solidFill>
                  <a:latin typeface="Arial"/>
                </a:rPr>
                <a:t>OpenAPI</a:t>
              </a:r>
              <a:r>
                <a:rPr sz="1350" b="1" i="0" dirty="0">
                  <a:solidFill>
                    <a:srgbClr val="19A3FC"/>
                  </a:solidFill>
                  <a:latin typeface="Arial"/>
                </a:rPr>
                <a:t> Generator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85850" y="4093610"/>
              <a:ext cx="2114550" cy="166199"/>
            </a:xfrm>
            <a:prstGeom prst="rect">
              <a:avLst/>
            </a:prstGeom>
            <a:noFill/>
            <a:ln>
              <a:noFill/>
            </a:ln>
            <a:effectLst>
              <a:outerShdw>
                <a:srgbClr val="000000">
                  <a:alpha val="0"/>
                </a:srgbClr>
              </a:outerShdw>
            </a:effec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80000"/>
                </a:lnSpc>
                <a:defRPr sz="1350" b="1" i="0">
                  <a:solidFill>
                    <a:srgbClr val="19A3FC"/>
                  </a:solidFill>
                  <a:latin typeface="Arial"/>
                </a:defRPr>
              </a:pPr>
              <a:r>
                <a:rPr sz="1350" b="1" i="0" dirty="0" err="1">
                  <a:solidFill>
                    <a:srgbClr val="19A3FC"/>
                  </a:solidFill>
                  <a:latin typeface="Arial"/>
                </a:rPr>
                <a:t>Especificación</a:t>
              </a:r>
              <a:r>
                <a:rPr sz="1350" b="1" i="0" dirty="0">
                  <a:solidFill>
                    <a:srgbClr val="19A3FC"/>
                  </a:solidFill>
                  <a:latin typeface="Arial"/>
                </a:rPr>
                <a:t> </a:t>
              </a:r>
              <a:r>
                <a:rPr sz="1350" b="1" i="0" dirty="0" err="1">
                  <a:solidFill>
                    <a:srgbClr val="19A3FC"/>
                  </a:solidFill>
                  <a:latin typeface="Arial"/>
                </a:rPr>
                <a:t>OpenAPI</a:t>
              </a:r>
              <a:endParaRPr sz="1350" b="1" i="0" dirty="0">
                <a:solidFill>
                  <a:srgbClr val="19A3FC"/>
                </a:solidFill>
                <a:latin typeface="Arial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181600" y="2264810"/>
              <a:ext cx="3257550" cy="104775"/>
            </a:xfrm>
            <a:prstGeom prst="rect">
              <a:avLst/>
            </a:prstGeom>
            <a:noFill/>
            <a:ln>
              <a:noFill/>
            </a:ln>
            <a:effectLst>
              <a:outerShdw>
                <a:srgbClr val="000000">
                  <a:alpha val="0"/>
                </a:srgbClr>
              </a:outerShdw>
            </a:effec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80000"/>
                </a:lnSpc>
                <a:defRPr sz="825" b="1" i="0" spc="300">
                  <a:solidFill>
                    <a:srgbClr val="FFFFFF"/>
                  </a:solidFill>
                  <a:latin typeface="Arial"/>
                </a:defRPr>
              </a:pPr>
              <a:r>
                <a:rPr sz="825" b="1" i="0">
                  <a:solidFill>
                    <a:srgbClr val="FFFFFF"/>
                  </a:solidFill>
                  <a:latin typeface="Arial"/>
                </a:rPr>
                <a:t>Fortaleza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420100" y="2798210"/>
              <a:ext cx="2705100" cy="123825"/>
            </a:xfrm>
            <a:prstGeom prst="rect">
              <a:avLst/>
            </a:prstGeom>
            <a:noFill/>
            <a:ln>
              <a:noFill/>
            </a:ln>
            <a:effectLst>
              <a:outerShdw>
                <a:srgbClr val="000000">
                  <a:alpha val="0"/>
                </a:srgbClr>
              </a:outerShdw>
            </a:effec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80000"/>
                </a:lnSpc>
                <a:defRPr sz="975" b="0" i="0">
                  <a:solidFill>
                    <a:srgbClr val="2E404D"/>
                  </a:solidFill>
                  <a:latin typeface="Arial"/>
                </a:defRPr>
              </a:pPr>
              <a:r>
                <a:rPr sz="975" b="0" i="0">
                  <a:solidFill>
                    <a:srgbClr val="2E404D"/>
                  </a:solidFill>
                  <a:latin typeface="Arial"/>
                </a:rPr>
                <a:t>Equipos Microsoft / .NET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420100" y="3503060"/>
              <a:ext cx="2705100" cy="123825"/>
            </a:xfrm>
            <a:prstGeom prst="rect">
              <a:avLst/>
            </a:prstGeom>
            <a:noFill/>
            <a:ln>
              <a:noFill/>
            </a:ln>
            <a:effectLst>
              <a:outerShdw>
                <a:srgbClr val="000000">
                  <a:alpha val="0"/>
                </a:srgbClr>
              </a:outerShdw>
            </a:effec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80000"/>
                </a:lnSpc>
                <a:defRPr sz="975" b="0" i="0">
                  <a:solidFill>
                    <a:srgbClr val="2E404D"/>
                  </a:solidFill>
                  <a:latin typeface="Arial"/>
                </a:defRPr>
              </a:pPr>
              <a:r>
                <a:rPr sz="975" b="0" i="0">
                  <a:solidFill>
                    <a:srgbClr val="2E404D"/>
                  </a:solidFill>
                  <a:latin typeface="Arial"/>
                </a:rPr>
                <a:t>Entornos multi-stack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420100" y="4207910"/>
              <a:ext cx="2705100" cy="123825"/>
            </a:xfrm>
            <a:prstGeom prst="rect">
              <a:avLst/>
            </a:prstGeom>
            <a:noFill/>
            <a:ln>
              <a:noFill/>
            </a:ln>
            <a:effectLst>
              <a:outerShdw>
                <a:srgbClr val="000000">
                  <a:alpha val="0"/>
                </a:srgbClr>
              </a:outerShdw>
            </a:effec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80000"/>
                </a:lnSpc>
                <a:defRPr sz="975" b="0" i="0">
                  <a:solidFill>
                    <a:srgbClr val="2E404D"/>
                  </a:solidFill>
                  <a:latin typeface="Arial"/>
                </a:defRPr>
              </a:pPr>
              <a:r>
                <a:rPr sz="975" b="0" i="0" dirty="0" err="1">
                  <a:solidFill>
                    <a:srgbClr val="2E404D"/>
                  </a:solidFill>
                  <a:latin typeface="Arial"/>
                </a:rPr>
                <a:t>Arquitecturas</a:t>
              </a:r>
              <a:r>
                <a:rPr sz="975" b="0" i="0" dirty="0">
                  <a:solidFill>
                    <a:srgbClr val="2E404D"/>
                  </a:solidFill>
                  <a:latin typeface="Arial"/>
                </a:rPr>
                <a:t> con APIs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181350" y="2783923"/>
              <a:ext cx="2019300" cy="152400"/>
            </a:xfrm>
            <a:prstGeom prst="rect">
              <a:avLst/>
            </a:prstGeom>
            <a:noFill/>
            <a:ln>
              <a:noFill/>
            </a:ln>
            <a:effectLst>
              <a:outerShdw>
                <a:srgbClr val="000000">
                  <a:alpha val="0"/>
                </a:srgbClr>
              </a:outerShdw>
            </a:effec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80000"/>
                </a:lnSpc>
                <a:defRPr sz="1200" b="0" i="0">
                  <a:solidFill>
                    <a:srgbClr val="2E404D"/>
                  </a:solidFill>
                  <a:latin typeface="Arial"/>
                </a:defRPr>
              </a:pPr>
              <a:r>
                <a:rPr sz="1200" b="0" i="0" dirty="0">
                  <a:solidFill>
                    <a:srgbClr val="2E404D"/>
                  </a:solidFill>
                  <a:latin typeface="Arial"/>
                </a:rPr>
                <a:t>.NET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181350" y="3488773"/>
              <a:ext cx="2019300" cy="152400"/>
            </a:xfrm>
            <a:prstGeom prst="rect">
              <a:avLst/>
            </a:prstGeom>
            <a:noFill/>
            <a:ln>
              <a:noFill/>
            </a:ln>
            <a:effectLst>
              <a:outerShdw>
                <a:srgbClr val="000000">
                  <a:alpha val="0"/>
                </a:srgbClr>
              </a:outerShdw>
            </a:effec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80000"/>
                </a:lnSpc>
                <a:defRPr sz="1200" b="0" i="0">
                  <a:solidFill>
                    <a:srgbClr val="2E404D"/>
                  </a:solidFill>
                  <a:latin typeface="Arial"/>
                </a:defRPr>
              </a:pPr>
              <a:r>
                <a:rPr sz="1200" b="0" i="0">
                  <a:solidFill>
                    <a:srgbClr val="2E404D"/>
                  </a:solidFill>
                  <a:latin typeface="Arial"/>
                </a:rPr>
                <a:t>OpenAPI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181350" y="4193623"/>
              <a:ext cx="2019300" cy="152400"/>
            </a:xfrm>
            <a:prstGeom prst="rect">
              <a:avLst/>
            </a:prstGeom>
            <a:noFill/>
            <a:ln>
              <a:noFill/>
            </a:ln>
            <a:effectLst>
              <a:outerShdw>
                <a:srgbClr val="000000">
                  <a:alpha val="0"/>
                </a:srgbClr>
              </a:outerShdw>
            </a:effec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80000"/>
                </a:lnSpc>
                <a:defRPr sz="1200" b="0" i="0">
                  <a:solidFill>
                    <a:srgbClr val="2E404D"/>
                  </a:solidFill>
                  <a:latin typeface="Arial"/>
                </a:defRPr>
              </a:pPr>
              <a:r>
                <a:rPr sz="1200" b="0" i="0">
                  <a:solidFill>
                    <a:srgbClr val="2E404D"/>
                  </a:solidFill>
                  <a:latin typeface="Arial"/>
                </a:rPr>
                <a:t>Estándar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8420100" y="2264810"/>
              <a:ext cx="2705100" cy="101566"/>
            </a:xfrm>
            <a:prstGeom prst="rect">
              <a:avLst/>
            </a:prstGeom>
            <a:noFill/>
            <a:ln>
              <a:noFill/>
            </a:ln>
            <a:effectLst>
              <a:outerShdw>
                <a:srgbClr val="000000">
                  <a:alpha val="0"/>
                </a:srgbClr>
              </a:outerShdw>
            </a:effec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80000"/>
                </a:lnSpc>
                <a:defRPr sz="825" b="1" i="0" spc="300">
                  <a:solidFill>
                    <a:srgbClr val="FFFFFF"/>
                  </a:solidFill>
                  <a:latin typeface="Arial"/>
                </a:defRPr>
              </a:pPr>
              <a:r>
                <a:rPr sz="825" b="1" i="0">
                  <a:solidFill>
                    <a:srgbClr val="FFFFFF"/>
                  </a:solidFill>
                  <a:latin typeface="Arial"/>
                </a:rPr>
                <a:t>Ecosistema natural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85850" y="2264810"/>
              <a:ext cx="2114550" cy="104775"/>
            </a:xfrm>
            <a:prstGeom prst="rect">
              <a:avLst/>
            </a:prstGeom>
            <a:noFill/>
            <a:ln>
              <a:noFill/>
            </a:ln>
            <a:effectLst>
              <a:outerShdw>
                <a:srgbClr val="000000">
                  <a:alpha val="0"/>
                </a:srgbClr>
              </a:outerShdw>
            </a:effec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80000"/>
                </a:lnSpc>
                <a:defRPr sz="825" b="1" i="0" spc="300">
                  <a:solidFill>
                    <a:srgbClr val="FFFFFF"/>
                  </a:solidFill>
                  <a:latin typeface="Arial"/>
                </a:defRPr>
              </a:pPr>
              <a:r>
                <a:rPr sz="825" b="1" i="0">
                  <a:solidFill>
                    <a:srgbClr val="FFFFFF"/>
                  </a:solidFill>
                  <a:latin typeface="Arial"/>
                </a:rPr>
                <a:t>Herramienta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085850" y="2931560"/>
              <a:ext cx="2114550" cy="104775"/>
            </a:xfrm>
            <a:prstGeom prst="rect">
              <a:avLst/>
            </a:prstGeom>
            <a:noFill/>
            <a:ln>
              <a:noFill/>
            </a:ln>
            <a:effectLst>
              <a:outerShdw>
                <a:srgbClr val="000000">
                  <a:alpha val="0"/>
                </a:srgbClr>
              </a:outerShdw>
            </a:effec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80000"/>
                </a:lnSpc>
                <a:defRPr sz="825" b="0" i="0">
                  <a:solidFill>
                    <a:srgbClr val="8A8A8A"/>
                  </a:solidFill>
                  <a:latin typeface="Arial"/>
                </a:defRPr>
              </a:pPr>
              <a:r>
                <a:rPr sz="825" b="0" i="0" dirty="0" err="1">
                  <a:solidFill>
                    <a:srgbClr val="8A8A8A"/>
                  </a:solidFill>
                  <a:latin typeface="Arial"/>
                </a:rPr>
                <a:t>Cliente</a:t>
              </a:r>
              <a:r>
                <a:rPr sz="825" b="0" i="0" dirty="0">
                  <a:solidFill>
                    <a:srgbClr val="8A8A8A"/>
                  </a:solidFill>
                  <a:latin typeface="Arial"/>
                </a:rPr>
                <a:t> API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066800" y="3724518"/>
              <a:ext cx="2114550" cy="104775"/>
            </a:xfrm>
            <a:prstGeom prst="rect">
              <a:avLst/>
            </a:prstGeom>
            <a:noFill/>
            <a:ln>
              <a:noFill/>
            </a:ln>
            <a:effectLst>
              <a:outerShdw>
                <a:srgbClr val="000000">
                  <a:alpha val="0"/>
                </a:srgbClr>
              </a:outerShdw>
            </a:effec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80000"/>
                </a:lnSpc>
                <a:defRPr sz="825" b="0" i="0">
                  <a:solidFill>
                    <a:srgbClr val="8A8A8A"/>
                  </a:solidFill>
                  <a:latin typeface="Arial"/>
                </a:defRPr>
              </a:pPr>
              <a:r>
                <a:rPr sz="825" b="0" i="0" dirty="0" err="1">
                  <a:solidFill>
                    <a:srgbClr val="8A8A8A"/>
                  </a:solidFill>
                  <a:latin typeface="Arial"/>
                </a:rPr>
                <a:t>Multilenguaje</a:t>
              </a:r>
              <a:endParaRPr sz="825" b="0" i="0" dirty="0">
                <a:solidFill>
                  <a:srgbClr val="8A8A8A"/>
                </a:solidFill>
                <a:latin typeface="Arial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085850" y="4457544"/>
              <a:ext cx="2114550" cy="104775"/>
            </a:xfrm>
            <a:prstGeom prst="rect">
              <a:avLst/>
            </a:prstGeom>
            <a:noFill/>
            <a:ln>
              <a:noFill/>
            </a:ln>
            <a:effectLst>
              <a:outerShdw>
                <a:srgbClr val="000000">
                  <a:alpha val="0"/>
                </a:srgbClr>
              </a:outerShdw>
            </a:effec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80000"/>
                </a:lnSpc>
                <a:defRPr sz="825" b="0" i="0">
                  <a:solidFill>
                    <a:srgbClr val="8A8A8A"/>
                  </a:solidFill>
                  <a:latin typeface="Arial"/>
                </a:defRPr>
              </a:pPr>
              <a:r>
                <a:rPr sz="825" b="0" i="0" dirty="0" err="1">
                  <a:solidFill>
                    <a:srgbClr val="8A8A8A"/>
                  </a:solidFill>
                  <a:latin typeface="Arial"/>
                </a:rPr>
                <a:t>Contrato</a:t>
              </a:r>
              <a:r>
                <a:rPr sz="825" b="0" i="0" dirty="0">
                  <a:solidFill>
                    <a:srgbClr val="8A8A8A"/>
                  </a:solidFill>
                  <a:latin typeface="Arial"/>
                </a:rPr>
                <a:t> API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181350" y="2264810"/>
              <a:ext cx="2019300" cy="104775"/>
            </a:xfrm>
            <a:prstGeom prst="rect">
              <a:avLst/>
            </a:prstGeom>
            <a:noFill/>
            <a:ln>
              <a:noFill/>
            </a:ln>
            <a:effectLst>
              <a:outerShdw>
                <a:srgbClr val="000000">
                  <a:alpha val="0"/>
                </a:srgbClr>
              </a:outerShdw>
            </a:effec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80000"/>
                </a:lnSpc>
                <a:defRPr sz="825" b="1" i="0" spc="300">
                  <a:solidFill>
                    <a:srgbClr val="FFFFFF"/>
                  </a:solidFill>
                  <a:latin typeface="Arial"/>
                </a:defRPr>
              </a:pPr>
              <a:r>
                <a:rPr sz="825" b="1" i="0">
                  <a:solidFill>
                    <a:srgbClr val="FFFFFF"/>
                  </a:solidFill>
                  <a:latin typeface="Arial"/>
                </a:rPr>
                <a:t>Soporte</a:t>
              </a: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6032375" y="6515100"/>
            <a:ext cx="146298" cy="1905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none" lIns="0" tIns="0" rIns="0" bIns="0">
            <a:spAutoFit/>
          </a:bodyPr>
          <a:lstStyle/>
          <a:p>
            <a:pPr>
              <a:lnSpc>
                <a:spcPct val="133333"/>
              </a:lnSpc>
              <a:defRPr sz="900" b="0" i="0">
                <a:solidFill>
                  <a:srgbClr val="E8E8E8"/>
                </a:solidFill>
                <a:latin typeface="Arial"/>
              </a:defRPr>
            </a:pPr>
            <a:r>
              <a:rPr sz="900" b="0" i="0">
                <a:solidFill>
                  <a:srgbClr val="E8E8E8"/>
                </a:solidFill>
                <a:latin typeface="Arial"/>
              </a:rPr>
              <a:t>13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841E3163-D6BD-A795-0AC7-68F53C8956F1}"/>
              </a:ext>
            </a:extLst>
          </p:cNvPr>
          <p:cNvSpPr txBox="1"/>
          <p:nvPr/>
        </p:nvSpPr>
        <p:spPr>
          <a:xfrm>
            <a:off x="803698" y="4655393"/>
            <a:ext cx="807326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350" b="1" i="0" dirty="0" err="1">
                <a:solidFill>
                  <a:srgbClr val="19A3FC"/>
                </a:solidFill>
                <a:latin typeface="Arial"/>
              </a:rPr>
              <a:t>Kiota</a:t>
            </a:r>
            <a:endParaRPr lang="es-PE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CF894FD1-7E74-B9EA-F05F-87C2BAB7929E}"/>
              </a:ext>
            </a:extLst>
          </p:cNvPr>
          <p:cNvSpPr txBox="1"/>
          <p:nvPr/>
        </p:nvSpPr>
        <p:spPr>
          <a:xfrm>
            <a:off x="666005" y="4993604"/>
            <a:ext cx="5208322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PE" sz="1100" dirty="0" err="1">
                <a:solidFill>
                  <a:schemeClr val="bg1"/>
                </a:solidFill>
              </a:rPr>
              <a:t>dotnet</a:t>
            </a:r>
            <a:r>
              <a:rPr lang="es-PE" sz="1100" dirty="0">
                <a:solidFill>
                  <a:schemeClr val="bg1"/>
                </a:solidFill>
              </a:rPr>
              <a:t> </a:t>
            </a:r>
            <a:r>
              <a:rPr lang="es-PE" sz="1100" dirty="0" err="1">
                <a:solidFill>
                  <a:schemeClr val="bg1"/>
                </a:solidFill>
              </a:rPr>
              <a:t>tool</a:t>
            </a:r>
            <a:r>
              <a:rPr lang="es-PE" sz="1100" dirty="0">
                <a:solidFill>
                  <a:schemeClr val="bg1"/>
                </a:solidFill>
              </a:rPr>
              <a:t> </a:t>
            </a:r>
            <a:r>
              <a:rPr lang="es-PE" sz="1100" dirty="0" err="1">
                <a:solidFill>
                  <a:schemeClr val="bg1"/>
                </a:solidFill>
              </a:rPr>
              <a:t>install</a:t>
            </a:r>
            <a:r>
              <a:rPr lang="es-PE" sz="1100" dirty="0">
                <a:solidFill>
                  <a:schemeClr val="bg1"/>
                </a:solidFill>
              </a:rPr>
              <a:t> -g </a:t>
            </a:r>
            <a:r>
              <a:rPr lang="es-PE" sz="1100" dirty="0" err="1">
                <a:solidFill>
                  <a:schemeClr val="bg1"/>
                </a:solidFill>
              </a:rPr>
              <a:t>Microsoft.OpenApi.Kiota</a:t>
            </a:r>
            <a:endParaRPr lang="es-PE" sz="110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buNone/>
            </a:pPr>
            <a:endParaRPr lang="es-PE" sz="110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buNone/>
            </a:pPr>
            <a:r>
              <a:rPr lang="es-PE" sz="1100" dirty="0" err="1">
                <a:solidFill>
                  <a:schemeClr val="bg1"/>
                </a:solidFill>
              </a:rPr>
              <a:t>kiota</a:t>
            </a:r>
            <a:r>
              <a:rPr lang="es-PE" sz="1100" dirty="0">
                <a:solidFill>
                  <a:schemeClr val="bg1"/>
                </a:solidFill>
              </a:rPr>
              <a:t> </a:t>
            </a:r>
            <a:r>
              <a:rPr lang="es-PE" sz="1100" dirty="0" err="1">
                <a:solidFill>
                  <a:schemeClr val="bg1"/>
                </a:solidFill>
              </a:rPr>
              <a:t>generate</a:t>
            </a:r>
            <a:r>
              <a:rPr lang="es-PE" sz="1100" dirty="0">
                <a:solidFill>
                  <a:schemeClr val="bg1"/>
                </a:solidFill>
              </a:rPr>
              <a:t> -l </a:t>
            </a:r>
            <a:r>
              <a:rPr lang="es-PE" sz="1100" dirty="0" err="1">
                <a:solidFill>
                  <a:schemeClr val="bg1"/>
                </a:solidFill>
              </a:rPr>
              <a:t>CSharp</a:t>
            </a:r>
            <a:r>
              <a:rPr lang="es-PE" sz="1100" dirty="0">
                <a:solidFill>
                  <a:schemeClr val="bg1"/>
                </a:solidFill>
              </a:rPr>
              <a:t> -d http://localhost:5037/swagger/v1/swagger.json -c </a:t>
            </a:r>
            <a:r>
              <a:rPr lang="es-PE" sz="1100" dirty="0" err="1">
                <a:solidFill>
                  <a:schemeClr val="bg1"/>
                </a:solidFill>
              </a:rPr>
              <a:t>DemoApiClientKiota</a:t>
            </a:r>
            <a:r>
              <a:rPr lang="es-PE" sz="1100" dirty="0">
                <a:solidFill>
                  <a:schemeClr val="bg1"/>
                </a:solidFill>
              </a:rPr>
              <a:t> -n </a:t>
            </a:r>
            <a:r>
              <a:rPr lang="es-PE" sz="1100" dirty="0" err="1">
                <a:solidFill>
                  <a:schemeClr val="bg1"/>
                </a:solidFill>
              </a:rPr>
              <a:t>DemoApi.ClientKiota</a:t>
            </a:r>
            <a:r>
              <a:rPr lang="es-PE" sz="1100" dirty="0">
                <a:solidFill>
                  <a:schemeClr val="bg1"/>
                </a:solidFill>
              </a:rPr>
              <a:t> -o "D:\Proyecto </a:t>
            </a:r>
            <a:r>
              <a:rPr lang="es-PE" sz="1100" dirty="0" err="1">
                <a:solidFill>
                  <a:schemeClr val="bg1"/>
                </a:solidFill>
              </a:rPr>
              <a:t>code</a:t>
            </a:r>
            <a:r>
              <a:rPr lang="es-PE" sz="1100" dirty="0">
                <a:solidFill>
                  <a:schemeClr val="bg1"/>
                </a:solidFill>
              </a:rPr>
              <a:t>\</a:t>
            </a:r>
            <a:r>
              <a:rPr lang="es-PE" sz="1100" dirty="0" err="1">
                <a:solidFill>
                  <a:schemeClr val="bg1"/>
                </a:solidFill>
              </a:rPr>
              <a:t>Nttdata</a:t>
            </a:r>
            <a:r>
              <a:rPr lang="es-PE" sz="1100" dirty="0">
                <a:solidFill>
                  <a:schemeClr val="bg1"/>
                </a:solidFill>
              </a:rPr>
              <a:t>\Open Api\</a:t>
            </a:r>
            <a:r>
              <a:rPr lang="es-PE" sz="1100" dirty="0" err="1">
                <a:solidFill>
                  <a:schemeClr val="bg1"/>
                </a:solidFill>
              </a:rPr>
              <a:t>DemoApi.ClientKiota</a:t>
            </a:r>
            <a:r>
              <a:rPr lang="es-PE" sz="1100" dirty="0">
                <a:solidFill>
                  <a:schemeClr val="bg1"/>
                </a:solidFill>
              </a:rPr>
              <a:t>"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352FFA58-4986-8974-AD92-62D57B8FBAEA}"/>
              </a:ext>
            </a:extLst>
          </p:cNvPr>
          <p:cNvSpPr txBox="1"/>
          <p:nvPr/>
        </p:nvSpPr>
        <p:spPr>
          <a:xfrm>
            <a:off x="7307022" y="1696184"/>
            <a:ext cx="4654069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1"/>
                </a:solidFill>
              </a:rPr>
              <a:t>dotnet tool install -g </a:t>
            </a:r>
            <a:r>
              <a:rPr lang="en-US" sz="1100" dirty="0" err="1">
                <a:solidFill>
                  <a:schemeClr val="bg1"/>
                </a:solidFill>
              </a:rPr>
              <a:t>NSwag.ConsoleCore</a:t>
            </a:r>
            <a:endParaRPr lang="en-US" sz="110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buNone/>
            </a:pPr>
            <a:endParaRPr lang="en-US" sz="110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1"/>
                </a:solidFill>
              </a:rPr>
              <a:t>cd "D:\Proyecto code\</a:t>
            </a:r>
            <a:r>
              <a:rPr lang="en-US" sz="1100" dirty="0" err="1">
                <a:solidFill>
                  <a:schemeClr val="bg1"/>
                </a:solidFill>
              </a:rPr>
              <a:t>Nttdata</a:t>
            </a:r>
            <a:r>
              <a:rPr lang="en-US" sz="1100" dirty="0">
                <a:solidFill>
                  <a:schemeClr val="bg1"/>
                </a:solidFill>
              </a:rPr>
              <a:t>\Open Api"</a:t>
            </a:r>
          </a:p>
          <a:p>
            <a:pPr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1"/>
                </a:solidFill>
              </a:rPr>
              <a:t>dotnet new </a:t>
            </a:r>
            <a:r>
              <a:rPr lang="en-US" sz="1100" dirty="0" err="1">
                <a:solidFill>
                  <a:schemeClr val="bg1"/>
                </a:solidFill>
              </a:rPr>
              <a:t>classlib</a:t>
            </a:r>
            <a:r>
              <a:rPr lang="en-US" sz="1100" dirty="0">
                <a:solidFill>
                  <a:schemeClr val="bg1"/>
                </a:solidFill>
              </a:rPr>
              <a:t> -n </a:t>
            </a:r>
            <a:r>
              <a:rPr lang="en-US" sz="1100" dirty="0" err="1">
                <a:solidFill>
                  <a:schemeClr val="bg1"/>
                </a:solidFill>
              </a:rPr>
              <a:t>DemoApi.ClientNSwaq</a:t>
            </a:r>
            <a:r>
              <a:rPr lang="en-US" sz="1100" dirty="0">
                <a:solidFill>
                  <a:schemeClr val="bg1"/>
                </a:solidFill>
              </a:rPr>
              <a:t> -o </a:t>
            </a:r>
            <a:r>
              <a:rPr lang="en-US" sz="1100" dirty="0" err="1">
                <a:solidFill>
                  <a:schemeClr val="bg1"/>
                </a:solidFill>
              </a:rPr>
              <a:t>DemoApi.ClientNSwaq</a:t>
            </a:r>
            <a:endParaRPr lang="en-US" sz="110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buNone/>
            </a:pPr>
            <a:endParaRPr lang="en-US" sz="110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1"/>
                </a:solidFill>
              </a:rPr>
              <a:t>cd "D:\Proyecto code\</a:t>
            </a:r>
            <a:r>
              <a:rPr lang="en-US" sz="1100" dirty="0" err="1">
                <a:solidFill>
                  <a:schemeClr val="bg1"/>
                </a:solidFill>
              </a:rPr>
              <a:t>Nttdata</a:t>
            </a:r>
            <a:r>
              <a:rPr lang="en-US" sz="1100" dirty="0">
                <a:solidFill>
                  <a:schemeClr val="bg1"/>
                </a:solidFill>
              </a:rPr>
              <a:t>\Open Api\</a:t>
            </a:r>
            <a:r>
              <a:rPr lang="en-US" sz="1100" dirty="0" err="1">
                <a:solidFill>
                  <a:schemeClr val="bg1"/>
                </a:solidFill>
              </a:rPr>
              <a:t>DemoApi.Client</a:t>
            </a:r>
            <a:r>
              <a:rPr lang="en-US" sz="1100" dirty="0">
                <a:solidFill>
                  <a:schemeClr val="bg1"/>
                </a:solidFill>
              </a:rPr>
              <a:t>"</a:t>
            </a:r>
          </a:p>
          <a:p>
            <a:pPr>
              <a:lnSpc>
                <a:spcPct val="100000"/>
              </a:lnSpc>
              <a:buNone/>
            </a:pPr>
            <a:r>
              <a:rPr lang="en-US" sz="1100" dirty="0" err="1">
                <a:solidFill>
                  <a:schemeClr val="bg1"/>
                </a:solidFill>
              </a:rPr>
              <a:t>nswag</a:t>
            </a:r>
            <a:r>
              <a:rPr lang="en-US" sz="1100" dirty="0">
                <a:solidFill>
                  <a:schemeClr val="bg1"/>
                </a:solidFill>
              </a:rPr>
              <a:t> openapi2csclient /</a:t>
            </a:r>
            <a:r>
              <a:rPr lang="en-US" sz="1100" dirty="0" err="1">
                <a:solidFill>
                  <a:schemeClr val="bg1"/>
                </a:solidFill>
              </a:rPr>
              <a:t>input:http</a:t>
            </a:r>
            <a:r>
              <a:rPr lang="en-US" sz="1100" dirty="0">
                <a:solidFill>
                  <a:schemeClr val="bg1"/>
                </a:solidFill>
              </a:rPr>
              <a:t>://localhost:5037/swagger/v1/</a:t>
            </a:r>
            <a:r>
              <a:rPr lang="en-US" sz="1100" dirty="0" err="1">
                <a:solidFill>
                  <a:schemeClr val="bg1"/>
                </a:solidFill>
              </a:rPr>
              <a:t>swagger.json</a:t>
            </a:r>
            <a:r>
              <a:rPr lang="en-US" sz="1100" dirty="0">
                <a:solidFill>
                  <a:schemeClr val="bg1"/>
                </a:solidFill>
              </a:rPr>
              <a:t> /</a:t>
            </a:r>
            <a:r>
              <a:rPr lang="en-US" sz="1100" dirty="0" err="1">
                <a:solidFill>
                  <a:schemeClr val="bg1"/>
                </a:solidFill>
              </a:rPr>
              <a:t>classname:DemoApiClientClientNSwaq</a:t>
            </a:r>
            <a:r>
              <a:rPr lang="en-US" sz="1100" dirty="0">
                <a:solidFill>
                  <a:schemeClr val="bg1"/>
                </a:solidFill>
              </a:rPr>
              <a:t> /</a:t>
            </a:r>
            <a:r>
              <a:rPr lang="en-US" sz="1100" dirty="0" err="1">
                <a:solidFill>
                  <a:schemeClr val="bg1"/>
                </a:solidFill>
              </a:rPr>
              <a:t>namespace:DemoApi.ClientNSwaq</a:t>
            </a:r>
            <a:r>
              <a:rPr lang="en-US" sz="1100" dirty="0">
                <a:solidFill>
                  <a:schemeClr val="bg1"/>
                </a:solidFill>
              </a:rPr>
              <a:t> /</a:t>
            </a:r>
            <a:r>
              <a:rPr lang="en-US" sz="1100" dirty="0" err="1">
                <a:solidFill>
                  <a:schemeClr val="bg1"/>
                </a:solidFill>
              </a:rPr>
              <a:t>output:DemoApiClient.cs</a:t>
            </a:r>
            <a:endParaRPr lang="en-US" sz="110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buNone/>
            </a:pPr>
            <a:endParaRPr lang="en-US" sz="110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1"/>
                </a:solidFill>
              </a:rPr>
              <a:t>dotnet add package </a:t>
            </a:r>
            <a:r>
              <a:rPr lang="en-US" sz="1100" dirty="0" err="1">
                <a:solidFill>
                  <a:schemeClr val="bg1"/>
                </a:solidFill>
              </a:rPr>
              <a:t>Newtonsoft.Json</a:t>
            </a:r>
            <a:endParaRPr lang="en-US" sz="110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buNone/>
            </a:pPr>
            <a:endParaRPr lang="en-US" sz="110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1"/>
                </a:solidFill>
              </a:rPr>
              <a:t>dotnet build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4649F62B-3206-4C6E-CED9-522DAF03524B}"/>
              </a:ext>
            </a:extLst>
          </p:cNvPr>
          <p:cNvSpPr txBox="1"/>
          <p:nvPr/>
        </p:nvSpPr>
        <p:spPr>
          <a:xfrm>
            <a:off x="7307022" y="1389228"/>
            <a:ext cx="807326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350" b="1" dirty="0" err="1">
                <a:solidFill>
                  <a:srgbClr val="19A3FC"/>
                </a:solidFill>
                <a:latin typeface="Arial"/>
              </a:rPr>
              <a:t>NSwag</a:t>
            </a:r>
            <a:endParaRPr lang="es-PE" dirty="0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65F51754-888C-A729-AE07-2478CEB0DCEC}"/>
              </a:ext>
            </a:extLst>
          </p:cNvPr>
          <p:cNvSpPr txBox="1"/>
          <p:nvPr/>
        </p:nvSpPr>
        <p:spPr>
          <a:xfrm>
            <a:off x="7307021" y="4282626"/>
            <a:ext cx="2461587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350" b="1" dirty="0" err="1">
                <a:solidFill>
                  <a:srgbClr val="19A3FC"/>
                </a:solidFill>
                <a:latin typeface="Arial"/>
              </a:rPr>
              <a:t>OpenAPI</a:t>
            </a:r>
            <a:r>
              <a:rPr lang="es-PE" sz="1350" b="1" dirty="0">
                <a:solidFill>
                  <a:srgbClr val="19A3FC"/>
                </a:solidFill>
                <a:latin typeface="Arial"/>
              </a:rPr>
              <a:t> </a:t>
            </a:r>
            <a:r>
              <a:rPr lang="es-PE" sz="1350" b="1" dirty="0" err="1">
                <a:solidFill>
                  <a:srgbClr val="19A3FC"/>
                </a:solidFill>
                <a:latin typeface="Arial"/>
              </a:rPr>
              <a:t>Generator</a:t>
            </a:r>
            <a:endParaRPr lang="es-PE" dirty="0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BCA5659B-8232-2BB1-5D11-A298B3C6B71D}"/>
              </a:ext>
            </a:extLst>
          </p:cNvPr>
          <p:cNvSpPr txBox="1"/>
          <p:nvPr/>
        </p:nvSpPr>
        <p:spPr>
          <a:xfrm>
            <a:off x="6178673" y="4815417"/>
            <a:ext cx="601332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s-PE" sz="1100" dirty="0">
                <a:solidFill>
                  <a:schemeClr val="bg1"/>
                </a:solidFill>
              </a:rPr>
              <a:t>java -</a:t>
            </a:r>
            <a:r>
              <a:rPr lang="es-PE" sz="1100" dirty="0" err="1">
                <a:solidFill>
                  <a:schemeClr val="bg1"/>
                </a:solidFill>
              </a:rPr>
              <a:t>version</a:t>
            </a:r>
            <a:endParaRPr lang="es-PE" sz="110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buNone/>
            </a:pPr>
            <a:endParaRPr lang="es-PE" sz="110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buNone/>
            </a:pPr>
            <a:r>
              <a:rPr lang="es-PE" sz="1100" dirty="0" err="1">
                <a:solidFill>
                  <a:schemeClr val="bg1"/>
                </a:solidFill>
              </a:rPr>
              <a:t>npm</a:t>
            </a:r>
            <a:r>
              <a:rPr lang="es-PE" sz="1100" dirty="0">
                <a:solidFill>
                  <a:schemeClr val="bg1"/>
                </a:solidFill>
              </a:rPr>
              <a:t> </a:t>
            </a:r>
            <a:r>
              <a:rPr lang="es-PE" sz="1100" dirty="0" err="1">
                <a:solidFill>
                  <a:schemeClr val="bg1"/>
                </a:solidFill>
              </a:rPr>
              <a:t>install</a:t>
            </a:r>
            <a:r>
              <a:rPr lang="es-PE" sz="1100" dirty="0">
                <a:solidFill>
                  <a:schemeClr val="bg1"/>
                </a:solidFill>
              </a:rPr>
              <a:t> -g @openapitools/openapi-generator-cli</a:t>
            </a:r>
          </a:p>
          <a:p>
            <a:pPr>
              <a:lnSpc>
                <a:spcPct val="100000"/>
              </a:lnSpc>
              <a:buNone/>
            </a:pPr>
            <a:endParaRPr lang="es-PE" sz="110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buNone/>
            </a:pPr>
            <a:r>
              <a:rPr lang="en-US" sz="1100" dirty="0" err="1">
                <a:solidFill>
                  <a:schemeClr val="bg1"/>
                </a:solidFill>
              </a:rPr>
              <a:t>openapi</a:t>
            </a:r>
            <a:r>
              <a:rPr lang="en-US" sz="1100" dirty="0">
                <a:solidFill>
                  <a:schemeClr val="bg1"/>
                </a:solidFill>
              </a:rPr>
              <a:t>-generator-cli generate -</a:t>
            </a:r>
            <a:r>
              <a:rPr lang="en-US" sz="1100" dirty="0" err="1">
                <a:solidFill>
                  <a:schemeClr val="bg1"/>
                </a:solidFill>
              </a:rPr>
              <a:t>i</a:t>
            </a:r>
            <a:r>
              <a:rPr lang="en-US" sz="1100" dirty="0">
                <a:solidFill>
                  <a:schemeClr val="bg1"/>
                </a:solidFill>
              </a:rPr>
              <a:t> http://localhost:5037/swagger/v1/swagger.json -g </a:t>
            </a:r>
            <a:r>
              <a:rPr lang="en-US" sz="1100" dirty="0" err="1">
                <a:solidFill>
                  <a:schemeClr val="bg1"/>
                </a:solidFill>
              </a:rPr>
              <a:t>csharp</a:t>
            </a:r>
            <a:r>
              <a:rPr lang="en-US" sz="1100" dirty="0">
                <a:solidFill>
                  <a:schemeClr val="bg1"/>
                </a:solidFill>
              </a:rPr>
              <a:t> -o . --additional-properties=</a:t>
            </a:r>
            <a:r>
              <a:rPr lang="en-US" sz="1100" dirty="0" err="1">
                <a:solidFill>
                  <a:schemeClr val="bg1"/>
                </a:solidFill>
              </a:rPr>
              <a:t>packageName</a:t>
            </a:r>
            <a:r>
              <a:rPr lang="en-US" sz="1100" dirty="0">
                <a:solidFill>
                  <a:schemeClr val="bg1"/>
                </a:solidFill>
              </a:rPr>
              <a:t>=</a:t>
            </a:r>
            <a:r>
              <a:rPr lang="en-US" sz="1100" dirty="0" err="1">
                <a:solidFill>
                  <a:schemeClr val="bg1"/>
                </a:solidFill>
              </a:rPr>
              <a:t>DemoApi.ClientGenOpenApi,targetFramework</a:t>
            </a:r>
            <a:r>
              <a:rPr lang="en-US" sz="1100" dirty="0">
                <a:solidFill>
                  <a:schemeClr val="bg1"/>
                </a:solidFill>
              </a:rPr>
              <a:t>=net10.0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0100" y="3143547"/>
            <a:ext cx="2547937" cy="2724150"/>
          </a:xfrm>
          <a:prstGeom prst="rect">
            <a:avLst/>
          </a:prstGeom>
          <a:solidFill>
            <a:srgbClr val="070F26"/>
          </a:solidFill>
          <a:ln w="9525">
            <a:solidFill>
              <a:srgbClr val="2A3D63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47650" tIns="228600" rIns="247650" bIns="228600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81387" y="3143547"/>
            <a:ext cx="2547937" cy="2724150"/>
          </a:xfrm>
          <a:prstGeom prst="rect">
            <a:avLst/>
          </a:prstGeom>
          <a:solidFill>
            <a:srgbClr val="070F26"/>
          </a:solidFill>
          <a:ln w="9525">
            <a:solidFill>
              <a:srgbClr val="2A3D63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47650" tIns="228600" rIns="247650" bIns="228600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162675" y="3143547"/>
            <a:ext cx="2547937" cy="2724150"/>
          </a:xfrm>
          <a:prstGeom prst="rect">
            <a:avLst/>
          </a:prstGeom>
          <a:solidFill>
            <a:srgbClr val="070F26"/>
          </a:solidFill>
          <a:ln w="9525">
            <a:solidFill>
              <a:srgbClr val="2A3D63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47650" tIns="228600" rIns="247650" bIns="228600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843962" y="3143547"/>
            <a:ext cx="2547937" cy="2724150"/>
          </a:xfrm>
          <a:prstGeom prst="rect">
            <a:avLst/>
          </a:prstGeom>
          <a:solidFill>
            <a:srgbClr val="14213D"/>
          </a:solidFill>
          <a:ln w="9525">
            <a:solidFill>
              <a:srgbClr val="070F26"/>
            </a:solidFill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47650" tIns="228600" rIns="247650" bIns="22860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0100" y="1009650"/>
            <a:ext cx="10610850" cy="505122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1600"/>
              </a:lnSpc>
              <a:defRPr sz="3900" b="1" i="0">
                <a:solidFill>
                  <a:srgbClr val="E8E8E8"/>
                </a:solidFill>
                <a:latin typeface="Georgia"/>
              </a:defRPr>
            </a:pPr>
            <a:r>
              <a:rPr sz="3900" b="1" i="0" dirty="0" err="1">
                <a:solidFill>
                  <a:srgbClr val="E8E8E8"/>
                </a:solidFill>
                <a:latin typeface="Georgia"/>
              </a:rPr>
              <a:t>Ejercicio</a:t>
            </a:r>
            <a:r>
              <a:rPr sz="3900" b="1" i="0" dirty="0">
                <a:solidFill>
                  <a:srgbClr val="E8E8E8"/>
                </a:solidFill>
                <a:latin typeface="Georgia"/>
              </a:rPr>
              <a:t> </a:t>
            </a:r>
            <a:r>
              <a:rPr sz="3900" b="1" i="0" dirty="0" err="1">
                <a:solidFill>
                  <a:srgbClr val="E8E8E8"/>
                </a:solidFill>
                <a:latin typeface="Georgia"/>
              </a:rPr>
              <a:t>práctico</a:t>
            </a:r>
            <a:r>
              <a:rPr sz="3900" b="1" i="0" dirty="0">
                <a:solidFill>
                  <a:srgbClr val="E8E8E8"/>
                </a:solidFill>
                <a:latin typeface="Georgia"/>
              </a:rPr>
              <a:t> con API CRUD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2029122"/>
            <a:ext cx="10401300" cy="428625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defRPr sz="1350" b="0" i="0">
                <a:solidFill>
                  <a:srgbClr val="E8E8E8"/>
                </a:solidFill>
                <a:latin typeface="Arial"/>
              </a:defRPr>
            </a:pPr>
            <a:r>
              <a:rPr sz="1350" b="0" i="0" dirty="0">
                <a:solidFill>
                  <a:srgbClr val="E8E8E8"/>
                </a:solidFill>
                <a:latin typeface="Arial"/>
              </a:rPr>
              <a:t>La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práctica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usa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una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API simple de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productos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o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clientes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. Se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recorren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1350" b="1" i="0" dirty="0">
                <a:solidFill>
                  <a:srgbClr val="E8E8E8"/>
                </a:solidFill>
                <a:latin typeface="Arial"/>
              </a:rPr>
              <a:t>GET, POST, PUT y DELETE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,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desde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la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especificación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hasta la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validación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1350" b="0" i="0" dirty="0" err="1">
                <a:solidFill>
                  <a:srgbClr val="E8E8E8"/>
                </a:solidFill>
                <a:latin typeface="Arial"/>
              </a:rPr>
              <a:t>en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1350" b="1" i="0" dirty="0">
                <a:solidFill>
                  <a:srgbClr val="E8E8E8"/>
                </a:solidFill>
                <a:latin typeface="Arial"/>
              </a:rPr>
              <a:t>Swagger UI</a:t>
            </a:r>
            <a:r>
              <a:rPr sz="1350" b="0" i="0" dirty="0">
                <a:solidFill>
                  <a:srgbClr val="E8E8E8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704850"/>
            <a:ext cx="10610850" cy="13335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1050" b="1" i="0" spc="450">
                <a:solidFill>
                  <a:srgbClr val="19A3FC"/>
                </a:solidFill>
                <a:latin typeface="Arial"/>
              </a:defRPr>
            </a:pPr>
            <a:r>
              <a:rPr sz="1050" b="1" i="0">
                <a:solidFill>
                  <a:srgbClr val="19A3FC"/>
                </a:solidFill>
                <a:latin typeface="Arial"/>
              </a:rPr>
              <a:t>01 - Fundamentos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01137" y="4517677"/>
            <a:ext cx="2052637" cy="557212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97600"/>
              </a:lnSpc>
              <a:defRPr sz="900" b="0" i="0">
                <a:solidFill>
                  <a:srgbClr val="FFFFFF"/>
                </a:solidFill>
                <a:latin typeface="Arial"/>
              </a:defRPr>
            </a:pPr>
            <a:r>
              <a:rPr sz="900" b="0" i="0" dirty="0">
                <a:solidFill>
                  <a:srgbClr val="FFFFFF"/>
                </a:solidFill>
                <a:latin typeface="Arial"/>
              </a:rPr>
              <a:t>La </a:t>
            </a:r>
            <a:r>
              <a:rPr sz="900" b="0" i="0" dirty="0" err="1">
                <a:solidFill>
                  <a:srgbClr val="FFFFFF"/>
                </a:solidFill>
                <a:latin typeface="Arial"/>
              </a:rPr>
              <a:t>especificación</a:t>
            </a:r>
            <a:r>
              <a:rPr sz="900" b="0" i="0" dirty="0">
                <a:solidFill>
                  <a:srgbClr val="FFFFFF"/>
                </a:solidFill>
                <a:latin typeface="Arial"/>
              </a:rPr>
              <a:t> se </a:t>
            </a:r>
            <a:r>
              <a:rPr sz="900" b="0" i="0" dirty="0" err="1">
                <a:solidFill>
                  <a:srgbClr val="FFFFFF"/>
                </a:solidFill>
                <a:latin typeface="Arial"/>
              </a:rPr>
              <a:t>prueba</a:t>
            </a:r>
            <a:r>
              <a:rPr sz="900" b="0" i="0" dirty="0">
                <a:solidFill>
                  <a:srgbClr val="FFFFFF"/>
                </a:solidFill>
                <a:latin typeface="Arial"/>
              </a:rPr>
              <a:t> paso a paso </a:t>
            </a:r>
            <a:r>
              <a:rPr sz="900" b="0" i="0" dirty="0" err="1">
                <a:solidFill>
                  <a:srgbClr val="FFFFFF"/>
                </a:solidFill>
                <a:latin typeface="Arial"/>
              </a:rPr>
              <a:t>en</a:t>
            </a:r>
            <a:r>
              <a:rPr sz="9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900" b="1" i="0" dirty="0">
                <a:solidFill>
                  <a:srgbClr val="FFFFFF"/>
                </a:solidFill>
                <a:latin typeface="Arial"/>
              </a:rPr>
              <a:t>Swagger UI</a:t>
            </a:r>
            <a:r>
              <a:rPr sz="900" b="0" i="0" dirty="0">
                <a:solidFill>
                  <a:srgbClr val="FFFFFF"/>
                </a:solidFill>
                <a:latin typeface="Arial"/>
              </a:rPr>
              <a:t> para </a:t>
            </a:r>
            <a:r>
              <a:rPr sz="900" b="0" i="0" dirty="0" err="1">
                <a:solidFill>
                  <a:srgbClr val="FFFFFF"/>
                </a:solidFill>
                <a:latin typeface="Arial"/>
              </a:rPr>
              <a:t>verificar</a:t>
            </a:r>
            <a:r>
              <a:rPr sz="9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FFFFFF"/>
                </a:solidFill>
                <a:latin typeface="Arial"/>
              </a:rPr>
              <a:t>contratos</a:t>
            </a:r>
            <a:r>
              <a:rPr sz="900" b="0" i="0" dirty="0">
                <a:solidFill>
                  <a:srgbClr val="FFFFFF"/>
                </a:solidFill>
                <a:latin typeface="Arial"/>
              </a:rPr>
              <a:t>, </a:t>
            </a:r>
            <a:r>
              <a:rPr sz="900" b="0" i="0" dirty="0" err="1">
                <a:solidFill>
                  <a:srgbClr val="FFFFFF"/>
                </a:solidFill>
                <a:latin typeface="Arial"/>
              </a:rPr>
              <a:t>ejemplos</a:t>
            </a:r>
            <a:r>
              <a:rPr sz="900" b="0" i="0" dirty="0">
                <a:solidFill>
                  <a:srgbClr val="FFFFFF"/>
                </a:solidFill>
                <a:latin typeface="Arial"/>
              </a:rPr>
              <a:t> y </a:t>
            </a:r>
            <a:r>
              <a:rPr sz="900" b="0" i="0" dirty="0" err="1">
                <a:solidFill>
                  <a:srgbClr val="FFFFFF"/>
                </a:solidFill>
                <a:latin typeface="Arial"/>
              </a:rPr>
              <a:t>comportamiento</a:t>
            </a:r>
            <a:r>
              <a:rPr sz="9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FFFFFF"/>
                </a:solidFill>
                <a:latin typeface="Arial"/>
              </a:rPr>
              <a:t>esperado</a:t>
            </a:r>
            <a:r>
              <a:rPr sz="900" b="0" i="0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3381672"/>
            <a:ext cx="2052637" cy="4191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3300" b="1" i="0">
                <a:solidFill>
                  <a:srgbClr val="19A3FC"/>
                </a:solidFill>
                <a:latin typeface="Georgia"/>
              </a:defRPr>
            </a:pPr>
            <a:r>
              <a:rPr sz="3300" b="1" i="0">
                <a:solidFill>
                  <a:srgbClr val="19A3FC"/>
                </a:solidFill>
                <a:latin typeface="Georgia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8562" y="3381672"/>
            <a:ext cx="2052637" cy="4191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3300" b="1" i="0">
                <a:solidFill>
                  <a:srgbClr val="19A3FC"/>
                </a:solidFill>
                <a:latin typeface="Georgia"/>
              </a:defRPr>
            </a:pPr>
            <a:r>
              <a:rPr sz="3300" b="1" i="0">
                <a:solidFill>
                  <a:srgbClr val="19A3FC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850" y="3381672"/>
            <a:ext cx="2052637" cy="4191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3300" b="1" i="0">
                <a:solidFill>
                  <a:srgbClr val="19A3FC"/>
                </a:solidFill>
                <a:latin typeface="Georgia"/>
              </a:defRPr>
            </a:pPr>
            <a:r>
              <a:rPr sz="3300" b="1" i="0">
                <a:solidFill>
                  <a:srgbClr val="19A3FC"/>
                </a:solidFill>
                <a:latin typeface="Georgia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1137" y="3381672"/>
            <a:ext cx="2052637" cy="4191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3300" b="1" i="0">
                <a:solidFill>
                  <a:srgbClr val="19A3FC"/>
                </a:solidFill>
                <a:latin typeface="Georgia"/>
              </a:defRPr>
            </a:pPr>
            <a:r>
              <a:rPr sz="3300" b="1" i="0">
                <a:solidFill>
                  <a:srgbClr val="19A3FC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7275" y="4517677"/>
            <a:ext cx="2052637" cy="417909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97600"/>
              </a:lnSpc>
              <a:defRPr sz="900" b="0" i="0">
                <a:solidFill>
                  <a:srgbClr val="E8E8E8"/>
                </a:solidFill>
                <a:latin typeface="Arial"/>
              </a:defRPr>
            </a:pPr>
            <a:r>
              <a:rPr sz="900" b="0" i="0" dirty="0">
                <a:solidFill>
                  <a:srgbClr val="E8E8E8"/>
                </a:solidFill>
                <a:latin typeface="Arial"/>
              </a:rPr>
              <a:t>Se </a:t>
            </a:r>
            <a:r>
              <a:rPr sz="900" b="0" i="0" dirty="0" err="1">
                <a:solidFill>
                  <a:srgbClr val="E8E8E8"/>
                </a:solidFill>
                <a:latin typeface="Arial"/>
              </a:rPr>
              <a:t>elige</a:t>
            </a:r>
            <a:r>
              <a:rPr sz="90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E8E8E8"/>
                </a:solidFill>
                <a:latin typeface="Arial"/>
              </a:rPr>
              <a:t>una</a:t>
            </a:r>
            <a:r>
              <a:rPr sz="90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E8E8E8"/>
                </a:solidFill>
                <a:latin typeface="Arial"/>
              </a:rPr>
              <a:t>entidad</a:t>
            </a:r>
            <a:r>
              <a:rPr sz="900" b="0" i="0" dirty="0">
                <a:solidFill>
                  <a:srgbClr val="E8E8E8"/>
                </a:solidFill>
                <a:latin typeface="Arial"/>
              </a:rPr>
              <a:t> simple, </a:t>
            </a:r>
            <a:r>
              <a:rPr sz="900" b="0" i="0" dirty="0" err="1">
                <a:solidFill>
                  <a:srgbClr val="E8E8E8"/>
                </a:solidFill>
                <a:latin typeface="Arial"/>
              </a:rPr>
              <a:t>como</a:t>
            </a:r>
            <a:r>
              <a:rPr sz="90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E8E8E8"/>
                </a:solidFill>
                <a:latin typeface="Arial"/>
              </a:rPr>
              <a:t>productos</a:t>
            </a:r>
            <a:r>
              <a:rPr sz="900" b="0" i="0" dirty="0">
                <a:solidFill>
                  <a:srgbClr val="E8E8E8"/>
                </a:solidFill>
                <a:latin typeface="Arial"/>
              </a:rPr>
              <a:t> o </a:t>
            </a:r>
            <a:r>
              <a:rPr sz="900" b="0" i="0" dirty="0" err="1">
                <a:solidFill>
                  <a:srgbClr val="E8E8E8"/>
                </a:solidFill>
                <a:latin typeface="Arial"/>
              </a:rPr>
              <a:t>clientes</a:t>
            </a:r>
            <a:r>
              <a:rPr sz="900" b="0" i="0" dirty="0">
                <a:solidFill>
                  <a:srgbClr val="E8E8E8"/>
                </a:solidFill>
                <a:latin typeface="Arial"/>
              </a:rPr>
              <a:t>, y se describe </a:t>
            </a:r>
            <a:r>
              <a:rPr sz="900" b="0" i="0" dirty="0" err="1">
                <a:solidFill>
                  <a:srgbClr val="E8E8E8"/>
                </a:solidFill>
                <a:latin typeface="Arial"/>
              </a:rPr>
              <a:t>su</a:t>
            </a:r>
            <a:r>
              <a:rPr sz="900" b="0" i="0" dirty="0">
                <a:solidFill>
                  <a:srgbClr val="E8E8E8"/>
                </a:solidFill>
                <a:latin typeface="Arial"/>
              </a:rPr>
              <a:t> </a:t>
            </a:r>
            <a:r>
              <a:rPr sz="900" b="0" i="0" dirty="0" err="1">
                <a:solidFill>
                  <a:srgbClr val="E8E8E8"/>
                </a:solidFill>
                <a:latin typeface="Arial"/>
              </a:rPr>
              <a:t>estructura</a:t>
            </a:r>
            <a:r>
              <a:rPr sz="900" b="0" i="0" dirty="0">
                <a:solidFill>
                  <a:srgbClr val="E8E8E8"/>
                </a:solidFill>
                <a:latin typeface="Arial"/>
              </a:rPr>
              <a:t> base </a:t>
            </a:r>
            <a:r>
              <a:rPr sz="900" b="0" i="0" dirty="0" err="1">
                <a:solidFill>
                  <a:srgbClr val="E8E8E8"/>
                </a:solidFill>
                <a:latin typeface="Arial"/>
              </a:rPr>
              <a:t>en</a:t>
            </a:r>
            <a:r>
              <a:rPr sz="900" b="0" i="0" dirty="0">
                <a:solidFill>
                  <a:srgbClr val="E8E8E8"/>
                </a:solidFill>
                <a:latin typeface="Arial"/>
              </a:rPr>
              <a:t> la </a:t>
            </a:r>
            <a:r>
              <a:rPr sz="900" b="0" i="0" dirty="0" err="1">
                <a:solidFill>
                  <a:srgbClr val="E8E8E8"/>
                </a:solidFill>
                <a:latin typeface="Arial"/>
              </a:rPr>
              <a:t>especificación</a:t>
            </a:r>
            <a:r>
              <a:rPr sz="900" b="0" i="0" dirty="0">
                <a:solidFill>
                  <a:srgbClr val="E8E8E8"/>
                </a:solidFill>
                <a:latin typeface="Arial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8562" y="4720232"/>
            <a:ext cx="2052637" cy="417909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97600"/>
              </a:lnSpc>
              <a:defRPr sz="900" b="0" i="0">
                <a:solidFill>
                  <a:srgbClr val="E8E8E8"/>
                </a:solidFill>
                <a:latin typeface="Arial"/>
              </a:defRPr>
            </a:pPr>
            <a:r>
              <a:rPr sz="900" b="0" i="0">
                <a:solidFill>
                  <a:srgbClr val="E8E8E8"/>
                </a:solidFill>
                <a:latin typeface="Arial"/>
              </a:rPr>
              <a:t>Se crean endpoints para </a:t>
            </a:r>
            <a:r>
              <a:rPr sz="900" b="1" i="0">
                <a:solidFill>
                  <a:srgbClr val="E8E8E8"/>
                </a:solidFill>
                <a:latin typeface="Arial"/>
              </a:rPr>
              <a:t>GET, POST, PUT y DELETE</a:t>
            </a:r>
            <a:r>
              <a:rPr sz="900" b="0" i="0">
                <a:solidFill>
                  <a:srgbClr val="E8E8E8"/>
                </a:solidFill>
                <a:latin typeface="Arial"/>
              </a:rPr>
              <a:t>, indicando parámetros, cuerpo de solicitud y códigos de estado.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850" y="4517677"/>
            <a:ext cx="2052637" cy="417909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97600"/>
              </a:lnSpc>
              <a:defRPr sz="900" b="0" i="0">
                <a:solidFill>
                  <a:srgbClr val="E8E8E8"/>
                </a:solidFill>
                <a:latin typeface="Arial"/>
              </a:defRPr>
            </a:pPr>
            <a:r>
              <a:rPr sz="900" b="0" i="0">
                <a:solidFill>
                  <a:srgbClr val="E8E8E8"/>
                </a:solidFill>
                <a:latin typeface="Arial"/>
              </a:rPr>
              <a:t>Se detallan respuestas correctas y errores, con ejemplos de payload para facilitar pruebas y consumo de la API.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8562" y="4010322"/>
            <a:ext cx="2052637" cy="40511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9600"/>
              </a:lnSpc>
              <a:defRPr sz="1425" b="1" i="0">
                <a:solidFill>
                  <a:srgbClr val="E8E8E8"/>
                </a:solidFill>
                <a:latin typeface="Georgia"/>
              </a:defRPr>
            </a:pPr>
            <a:r>
              <a:rPr sz="1425" b="1" i="0">
                <a:solidFill>
                  <a:srgbClr val="E8E8E8"/>
                </a:solidFill>
                <a:latin typeface="Georgia"/>
              </a:rPr>
              <a:t>Modelar operaciones CRUD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8562" y="5378350"/>
            <a:ext cx="2052637" cy="251221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96000"/>
              </a:lnSpc>
              <a:defRPr sz="825" b="0" i="1">
                <a:solidFill>
                  <a:srgbClr val="6F7482"/>
                </a:solidFill>
                <a:latin typeface="Arial"/>
              </a:defRPr>
            </a:pPr>
            <a:r>
              <a:rPr sz="825" b="0" i="1">
                <a:solidFill>
                  <a:srgbClr val="6F7482"/>
                </a:solidFill>
                <a:latin typeface="Arial"/>
              </a:rPr>
              <a:t>Ejemplo: PUT /productos/{id} actualiza un producto.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850" y="5378350"/>
            <a:ext cx="2052637" cy="251221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96000"/>
              </a:lnSpc>
              <a:defRPr sz="825" b="0" i="1">
                <a:solidFill>
                  <a:srgbClr val="6F7482"/>
                </a:solidFill>
                <a:latin typeface="Arial"/>
              </a:defRPr>
            </a:pPr>
            <a:r>
              <a:rPr sz="825" b="0" i="1">
                <a:solidFill>
                  <a:srgbClr val="6F7482"/>
                </a:solidFill>
                <a:latin typeface="Arial"/>
              </a:rPr>
              <a:t>Ejemplo: 200 OK con el producto actualizado.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01137" y="5378350"/>
            <a:ext cx="2052637" cy="251221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96000"/>
              </a:lnSpc>
              <a:defRPr sz="825" b="0" i="1">
                <a:solidFill>
                  <a:srgbClr val="19A3FC"/>
                </a:solidFill>
                <a:latin typeface="Arial"/>
              </a:defRPr>
            </a:pPr>
            <a:r>
              <a:rPr sz="825" b="0" i="1">
                <a:solidFill>
                  <a:srgbClr val="19A3FC"/>
                </a:solidFill>
                <a:latin typeface="Arial"/>
              </a:rPr>
              <a:t>Ejemplo: prueba GET /productos/1 y revisa la respuesta.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7275" y="4010322"/>
            <a:ext cx="2052637" cy="202555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9600"/>
              </a:lnSpc>
              <a:defRPr sz="1425" b="1" i="0">
                <a:solidFill>
                  <a:srgbClr val="E8E8E8"/>
                </a:solidFill>
                <a:latin typeface="Georgia"/>
              </a:defRPr>
            </a:pPr>
            <a:r>
              <a:rPr sz="1425" b="1" i="0">
                <a:solidFill>
                  <a:srgbClr val="E8E8E8"/>
                </a:solidFill>
                <a:latin typeface="Georgia"/>
              </a:rPr>
              <a:t>Definir el recurso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850" y="4010322"/>
            <a:ext cx="2052637" cy="202555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9600"/>
              </a:lnSpc>
              <a:defRPr sz="1425" b="1" i="0">
                <a:solidFill>
                  <a:srgbClr val="E8E8E8"/>
                </a:solidFill>
                <a:latin typeface="Georgia"/>
              </a:defRPr>
            </a:pPr>
            <a:r>
              <a:rPr sz="1425" b="1" i="0">
                <a:solidFill>
                  <a:srgbClr val="E8E8E8"/>
                </a:solidFill>
                <a:latin typeface="Georgia"/>
              </a:rPr>
              <a:t>Documentar respuestas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1137" y="4010322"/>
            <a:ext cx="2052637" cy="202555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9600"/>
              </a:lnSpc>
              <a:defRPr sz="1425" b="1" i="0">
                <a:solidFill>
                  <a:srgbClr val="FFFFFF"/>
                </a:solidFill>
                <a:latin typeface="Georgia"/>
              </a:defRPr>
            </a:pPr>
            <a:r>
              <a:rPr sz="1425" b="1" i="0">
                <a:solidFill>
                  <a:srgbClr val="FFFFFF"/>
                </a:solidFill>
                <a:latin typeface="Georgia"/>
              </a:rPr>
              <a:t>Validar en Swagger 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7275" y="5503961"/>
            <a:ext cx="2052637" cy="12561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96000"/>
              </a:lnSpc>
              <a:defRPr sz="825" b="0" i="0">
                <a:solidFill>
                  <a:srgbClr val="6F7482"/>
                </a:solidFill>
                <a:latin typeface="Arial"/>
              </a:defRPr>
            </a:pPr>
            <a:r>
              <a:rPr sz="825" b="0" i="0">
                <a:solidFill>
                  <a:srgbClr val="6F7482"/>
                </a:solidFill>
                <a:latin typeface="Arial"/>
              </a:rPr>
              <a:t>Ejemplo: id, nombre, precio o correo.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2375" y="6515100"/>
            <a:ext cx="146298" cy="1905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none" lIns="0" tIns="0" rIns="0" bIns="0">
            <a:spAutoFit/>
          </a:bodyPr>
          <a:lstStyle/>
          <a:p>
            <a:pPr>
              <a:lnSpc>
                <a:spcPct val="133333"/>
              </a:lnSpc>
              <a:defRPr sz="900" b="0" i="0">
                <a:solidFill>
                  <a:srgbClr val="E8E8E8"/>
                </a:solidFill>
                <a:latin typeface="Arial"/>
              </a:defRPr>
            </a:pPr>
            <a:r>
              <a:rPr sz="900" b="0" i="0">
                <a:solidFill>
                  <a:srgbClr val="E8E8E8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72500" y="1809750"/>
            <a:ext cx="2781300" cy="4305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66700" tIns="361950" rIns="266700" bIns="36195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19150" y="2819400"/>
            <a:ext cx="7448550" cy="23991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4000"/>
              </a:lnSpc>
              <a:defRPr sz="1800" b="1" i="0">
                <a:solidFill>
                  <a:srgbClr val="E8E8E8"/>
                </a:solidFill>
                <a:latin typeface="Georgia"/>
              </a:defRPr>
            </a:pPr>
            <a:r>
              <a:rPr sz="1800" b="1" i="0">
                <a:solidFill>
                  <a:srgbClr val="E8E8E8"/>
                </a:solidFill>
                <a:latin typeface="Georgia"/>
              </a:rPr>
              <a:t>Documenta endpoints, parámetros, respuestas y códigos HTTP esperados.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50" y="3735585"/>
            <a:ext cx="7448550" cy="23991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4000"/>
              </a:lnSpc>
              <a:defRPr sz="1800" b="1" i="0">
                <a:solidFill>
                  <a:srgbClr val="E8E8E8"/>
                </a:solidFill>
                <a:latin typeface="Georgia"/>
              </a:defRPr>
            </a:pPr>
            <a:r>
              <a:rPr sz="1800" b="1" i="0">
                <a:solidFill>
                  <a:srgbClr val="E8E8E8"/>
                </a:solidFill>
                <a:latin typeface="Georgia"/>
              </a:rPr>
              <a:t>Usa DTOs claros y nombres consistentes en toda la API.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9150" y="4651771"/>
            <a:ext cx="7448550" cy="23991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4000"/>
              </a:lnSpc>
              <a:defRPr sz="1800" b="1" i="0">
                <a:solidFill>
                  <a:srgbClr val="E8E8E8"/>
                </a:solidFill>
                <a:latin typeface="Georgia"/>
              </a:defRPr>
            </a:pPr>
            <a:r>
              <a:rPr sz="1800" b="1" i="0">
                <a:solidFill>
                  <a:srgbClr val="E8E8E8"/>
                </a:solidFill>
                <a:latin typeface="Georgia"/>
              </a:rPr>
              <a:t>Evita datos sensibles y sincroniza OpenAPI con la implementación.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" y="1981200"/>
            <a:ext cx="10572750" cy="142875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1125" b="1" i="0" spc="450">
                <a:solidFill>
                  <a:srgbClr val="20A8FF"/>
                </a:solidFill>
                <a:latin typeface="Arial"/>
              </a:defRPr>
            </a:pPr>
            <a:r>
              <a:rPr sz="1125" b="1" i="0">
                <a:solidFill>
                  <a:srgbClr val="20A8FF"/>
                </a:solidFill>
                <a:latin typeface="Arial"/>
              </a:rPr>
              <a:t>Tres ideas clave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39200" y="3440013"/>
            <a:ext cx="2266950" cy="555426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6400"/>
              </a:lnSpc>
              <a:defRPr sz="1350" b="0" i="0">
                <a:solidFill>
                  <a:srgbClr val="2E404D"/>
                </a:solidFill>
                <a:latin typeface="Arial"/>
              </a:defRPr>
            </a:pPr>
            <a:r>
              <a:rPr sz="1350" b="0" i="0">
                <a:solidFill>
                  <a:srgbClr val="2E404D"/>
                </a:solidFill>
                <a:latin typeface="Arial"/>
              </a:rPr>
              <a:t>Abramos preguntas y revisemos cómo aplicar estas prácticas en tu API.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2543175"/>
            <a:ext cx="7448550" cy="142875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1125" b="1" i="0" spc="300">
                <a:solidFill>
                  <a:srgbClr val="20A8FF"/>
                </a:solidFill>
                <a:latin typeface="Arial"/>
              </a:defRPr>
            </a:pPr>
            <a:r>
              <a:rPr sz="1125" b="1" i="0">
                <a:solidFill>
                  <a:srgbClr val="20A8FF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3459360"/>
            <a:ext cx="7448550" cy="142875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1125" b="1" i="0" spc="300">
                <a:solidFill>
                  <a:srgbClr val="20A8FF"/>
                </a:solidFill>
                <a:latin typeface="Arial"/>
              </a:defRPr>
            </a:pPr>
            <a:r>
              <a:rPr sz="1125" b="1" i="0">
                <a:solidFill>
                  <a:srgbClr val="20A8FF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4375546"/>
            <a:ext cx="7448550" cy="142875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1125" b="1" i="0" spc="300">
                <a:solidFill>
                  <a:srgbClr val="20A8FF"/>
                </a:solidFill>
                <a:latin typeface="Arial"/>
              </a:defRPr>
            </a:pPr>
            <a:r>
              <a:rPr sz="1125" b="1" i="0">
                <a:solidFill>
                  <a:srgbClr val="20A8FF"/>
                </a:solidFill>
                <a:latin typeface="Arial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39200" y="2600325"/>
            <a:ext cx="2266950" cy="420588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73600"/>
              </a:lnSpc>
              <a:defRPr sz="3600" b="1" i="0">
                <a:solidFill>
                  <a:srgbClr val="070F26"/>
                </a:solidFill>
                <a:latin typeface="Georgia"/>
              </a:defRPr>
            </a:pPr>
            <a:r>
              <a:rPr sz="3600" b="1" i="0">
                <a:solidFill>
                  <a:srgbClr val="070F26"/>
                </a:solidFill>
                <a:latin typeface="Georgia"/>
              </a:rPr>
              <a:t>Gracias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9200" y="5047654"/>
            <a:ext cx="2266950" cy="370284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6400"/>
              </a:lnSpc>
              <a:defRPr sz="1350" b="1" i="0">
                <a:solidFill>
                  <a:srgbClr val="19A3FC"/>
                </a:solidFill>
                <a:latin typeface="Arial"/>
              </a:defRPr>
            </a:pPr>
            <a:r>
              <a:rPr sz="1350" b="1" i="0">
                <a:solidFill>
                  <a:srgbClr val="19A3FC"/>
                </a:solidFill>
                <a:latin typeface="Arial"/>
              </a:rPr>
              <a:t>Audita un contrato OpenAPI esta semana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39200" y="5646539"/>
            <a:ext cx="2266950" cy="12561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96000"/>
              </a:lnSpc>
              <a:defRPr sz="825" b="0" i="0">
                <a:solidFill>
                  <a:srgbClr val="6F7482"/>
                </a:solidFill>
                <a:latin typeface="Arial"/>
              </a:defRPr>
            </a:pPr>
            <a:r>
              <a:rPr sz="825" b="0" i="0">
                <a:solidFill>
                  <a:srgbClr val="6F7482"/>
                </a:solidFill>
                <a:latin typeface="Arial"/>
              </a:rPr>
              <a:t>Paso práctico para los próximos 30 días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39200" y="2171700"/>
            <a:ext cx="2266950" cy="104775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  <a:defRPr sz="825" b="1" i="0" spc="300">
                <a:solidFill>
                  <a:srgbClr val="19A3FC"/>
                </a:solidFill>
                <a:latin typeface="Arial"/>
              </a:defRPr>
            </a:pPr>
            <a:r>
              <a:rPr sz="825" b="1" i="0">
                <a:solidFill>
                  <a:srgbClr val="19A3FC"/>
                </a:solidFill>
                <a:latin typeface="Arial"/>
              </a:rPr>
              <a:t>Siguiente paso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2375" y="6515100"/>
            <a:ext cx="146298" cy="190500"/>
          </a:xfrm>
          <a:prstGeom prst="rect">
            <a:avLst/>
          </a:prstGeom>
          <a:noFill/>
          <a:ln>
            <a:noFill/>
          </a:ln>
          <a:effectLst>
            <a:outerShdw>
              <a:srgbClr val="000000">
                <a:alpha val="0"/>
              </a:srgbClr>
            </a:outerShdw>
          </a:effectLst>
        </p:spPr>
        <p:txBody>
          <a:bodyPr wrap="none" lIns="0" tIns="0" rIns="0" bIns="0">
            <a:spAutoFit/>
          </a:bodyPr>
          <a:lstStyle/>
          <a:p>
            <a:pPr>
              <a:lnSpc>
                <a:spcPct val="133333"/>
              </a:lnSpc>
              <a:defRPr sz="900" b="0" i="0">
                <a:solidFill>
                  <a:srgbClr val="E8E8E8"/>
                </a:solidFill>
                <a:latin typeface="Arial"/>
              </a:defRPr>
            </a:pPr>
            <a:r>
              <a:rPr sz="900" b="0" i="0">
                <a:solidFill>
                  <a:srgbClr val="E8E8E8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2515</Words>
  <Application>Microsoft Office PowerPoint</Application>
  <PresentationFormat>Panorámica</PresentationFormat>
  <Paragraphs>283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Calibri</vt:lpstr>
      <vt:lpstr>Courier New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ALUMNO - CESAR AUGUSTO HUAMANI CASTRO</cp:lastModifiedBy>
  <cp:revision>13</cp:revision>
  <dcterms:created xsi:type="dcterms:W3CDTF">2013-01-27T09:14:16Z</dcterms:created>
  <dcterms:modified xsi:type="dcterms:W3CDTF">2026-09-21T21:05:27Z</dcterms:modified>
  <cp:category/>
</cp:coreProperties>
</file>